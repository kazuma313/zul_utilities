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9DC85E-7EF4-6C48-DB7B-FC92CE99F6C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10">
            <a:extLst>
              <a:ext uri="{FF2B5EF4-FFF2-40B4-BE49-F238E27FC236}">
                <a16:creationId xmlns:a16="http://schemas.microsoft.com/office/drawing/2014/main" id="{652A66B8-1AA5-95B3-13C7-15B126F3055F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5AEC6-09DE-A339-0919-2E7A053F04FE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8199E-CD1C-DECA-AB49-BA9FC4DBD68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B25D49-CC5D-AC43-A779-D3FD2A6A629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92AA79B4-9745-363B-DA76-17C2F160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67D5D-9938-480D-8CA4-94B7F9D5B402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16BAAC00-4BF2-3384-0652-6A6AE5F5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94BC312-51E0-4163-EA6C-70BD0177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426C3-450D-4B7B-98DF-16B09B8FED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601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F01063A-D929-0BDC-4AB1-BD9389F8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CC8FF-6D77-4111-97B4-93FB6228D990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812AFF9-24B0-4646-1895-7CFF26A2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2C1450E-696D-1BFA-3E21-0B05E648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07EEF-494E-479E-BAE1-64EBD42D5E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464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3DA803-851C-0987-6286-62B06CDC00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43DFA302-CABC-4431-1598-C3AA69D18832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22FD17-31FC-2B9C-D5C6-BB6C7503B82E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2B6FD4-A223-60A9-B5F1-E2FD0911229C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65AB1-9A24-CD72-781B-A0331AAD96EE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1280EB3-E393-1B7A-EF7E-57CE6DC3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83E55-65EE-4139-9EC8-F732F4D1B807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354BB80-71FF-45EE-F7E2-E66B4C0B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7F799DC-F234-3810-8BBF-8AC83FCB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F69F1F29-E17F-42E7-85A8-EBCE5A7E33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634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BABA268-72E8-8DA8-D6F3-19566CDF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9D0FA-AB54-4EA7-B530-F29BE267944A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2AB9759-D2DE-419F-7C53-7B955F51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44D4329-FC50-1AFB-936D-79F9FD41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C3E3AA-76A2-4F4D-BF6D-C266CCAA49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14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D0AAD42D-850A-D7A2-040C-A5A08ABD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34892-E45A-4DBE-A659-3EB9B928BBA3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4E6293B-E2DE-A8C4-9907-15FD96EB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0F83FD21-51CF-77E9-2E5A-9BF52CE4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AA48A-2612-4C94-830F-AE9205556D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42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250A314-ADC3-0052-E0FE-64083123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59852-CEC8-4069-9932-3A419AD1700D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D3A1A0D-1606-5640-105D-DD1D389C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345C824-E8CB-B12E-0FA0-11C3A06B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87BB84-E543-4B45-93A3-1399FC0E88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588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DE6EC5CC-327C-536A-A8E2-D5EBC34F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B4752-F0A8-40DB-848C-9FA1EE176C91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72379-2756-FF3E-D895-E93973FF3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C0C7D216-4C33-8209-585F-412BE36A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894D8-04B9-4CAB-9CB1-4E9945D8FA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13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622B03-BBFA-44B1-C2AD-15D639C1A8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38C9EE52-BFEE-F243-6130-281592783D54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95A347-D0E3-BDD2-0FB1-D6F39ADE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FF1DB-2575-4F72-98BF-482307BB0C2D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5DF11BF-CCB4-E3C8-E889-AB33F53C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472007E-4E43-5D54-BFEC-19AA0441B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208861-A057-4FF6-8D55-C757D22CB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09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46EEBE-A9C4-2B4C-4678-4DDB70644E2C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AC8D5F-72BD-0289-52AB-E64D383E0244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6A40A-CC30-A53C-E81F-A3C7F2BCA9C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5B720BB-17F4-92E2-7A65-F9E370BE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D8CBB-1772-4203-BDB9-1A79C5B92771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92E2CF7-FAEB-4FC9-A0FA-EF9AC052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1324732-F715-79DC-D42C-4C0CD774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F547A010-5878-4CAD-AFE8-E1142844AF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51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8D227577-912D-A43A-7974-96093DCB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B8B85-DF23-4B16-8A7A-23696E37F103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C336841-A2E7-E08A-BCC7-83F5AC21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06A00C2-0577-E2EE-29BB-DDB6B673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E0598-4E05-4B9D-AF93-64CA182228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15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6B11C27D-DFD2-D698-C18B-236E540F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5462A-E8C0-4B8A-BF8D-D71CBD089EB7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987CEE2-E21D-82E0-0219-5A4B9DC4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69A4EA97-E702-1C88-3266-C5834450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AFF2A-7877-4E2B-9F8A-E77A45CA2F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32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24B27-3D7A-E617-F98C-40651D925EC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6495AEB8-D464-A2B5-4869-208D395948B9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ED79B9D3-99B0-89F6-41C4-B2D5C2B2691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24C3EB2D-419E-EC2E-A9C4-0C6DD7AE95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36FFC4A-80B9-2EE7-F3F2-B660FC83E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7B7320E-B5DB-4542-A2D3-3B6643F5ED08}" type="datetimeFigureOut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59B03-A222-91FE-63EE-B469E7AAE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C50755E-4642-F1DF-1681-1BA000C96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5CE6A9F9-4C81-4C74-A5BD-BDFFEA00743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66" r:id="rId2"/>
    <p:sldLayoutId id="2147483774" r:id="rId3"/>
    <p:sldLayoutId id="2147483767" r:id="rId4"/>
    <p:sldLayoutId id="2147483768" r:id="rId5"/>
    <p:sldLayoutId id="2147483769" r:id="rId6"/>
    <p:sldLayoutId id="2147483770" r:id="rId7"/>
    <p:sldLayoutId id="2147483775" r:id="rId8"/>
    <p:sldLayoutId id="2147483776" r:id="rId9"/>
    <p:sldLayoutId id="2147483771" r:id="rId10"/>
    <p:sldLayoutId id="214748377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ubtitle 2">
            <a:extLst>
              <a:ext uri="{FF2B5EF4-FFF2-40B4-BE49-F238E27FC236}">
                <a16:creationId xmlns:a16="http://schemas.microsoft.com/office/drawing/2014/main" id="{F6A5EFA4-9A63-CED8-6E38-D3D70B56BA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Pertemuan 2-3</a:t>
            </a:r>
          </a:p>
          <a:p>
            <a:pPr eaLnBrk="1" hangingPunct="1"/>
            <a:r>
              <a:rPr lang="en-US" altLang="en-US"/>
              <a:t>Bandung Create by Hery Dwi Y.</a:t>
            </a:r>
          </a:p>
        </p:txBody>
      </p:sp>
      <p:sp>
        <p:nvSpPr>
          <p:cNvPr id="6147" name="Title 1">
            <a:extLst>
              <a:ext uri="{FF2B5EF4-FFF2-40B4-BE49-F238E27FC236}">
                <a16:creationId xmlns:a16="http://schemas.microsoft.com/office/drawing/2014/main" id="{4107915C-87BE-EF4C-5BF0-61B559BBE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/>
              <a:t>FLOWCHART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4C8C65B9-CC7A-CAF1-4744-AB8979B7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Pengertian </a:t>
            </a:r>
            <a:r>
              <a:rPr lang="en-US" altLang="en-US" i="1"/>
              <a:t>Flowchart</a:t>
            </a:r>
            <a:r>
              <a:rPr lang="en-US" altLang="en-US"/>
              <a:t> Program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5B86B834-DF4B-C3AB-5289-9152199599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endParaRPr lang="en-US" altLang="en-US" sz="2800" i="1"/>
          </a:p>
          <a:p>
            <a:pPr algn="just" eaLnBrk="1" hangingPunct="1"/>
            <a:r>
              <a:rPr lang="en-US" altLang="en-US" sz="2800" i="1"/>
              <a:t>Flowchart</a:t>
            </a:r>
            <a:r>
              <a:rPr lang="en-US" altLang="en-US" sz="2800"/>
              <a:t> adalah bagan-bagan yang mempunyai arus dan menggambarkan langkah-langkah penyelesaian suatu masalah.</a:t>
            </a:r>
          </a:p>
          <a:p>
            <a:pPr algn="just" eaLnBrk="1" hangingPunct="1"/>
            <a:endParaRPr lang="en-US" altLang="en-US" sz="2800"/>
          </a:p>
          <a:p>
            <a:pPr algn="just" eaLnBrk="1" hangingPunct="1"/>
            <a:r>
              <a:rPr lang="en-US" altLang="en-US" i="1"/>
              <a:t>Flowchart</a:t>
            </a:r>
            <a:r>
              <a:rPr lang="en-US" altLang="en-US"/>
              <a:t> program merupakan langkah-langkah (instruksi-instruksi) program yang menceritakan kejadian suatu proses satu dengan proses lainya dalam suatu program secara mendetail yang di wakilkan dalam bentuk simbol atau bagan.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FD94EF4-9884-4921-54E6-FE16BCBD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Simbol-Simbol </a:t>
            </a:r>
            <a:r>
              <a:rPr lang="en-US" altLang="en-US" i="1"/>
              <a:t>Flowchart</a:t>
            </a:r>
            <a:r>
              <a:rPr lang="en-US" altLang="en-US"/>
              <a:t> Program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4DC9E823-075B-9A59-D727-6625370EA1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pic>
        <p:nvPicPr>
          <p:cNvPr id="8196" name="Picture 4" descr="asd">
            <a:extLst>
              <a:ext uri="{FF2B5EF4-FFF2-40B4-BE49-F238E27FC236}">
                <a16:creationId xmlns:a16="http://schemas.microsoft.com/office/drawing/2014/main" id="{0EEE6D9C-042F-3BD2-8E55-10BFDE1D1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7135813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A09DB4B1-3DB4-47BF-B21E-38355217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Simbol-Simbol </a:t>
            </a:r>
            <a:r>
              <a:rPr lang="en-US" altLang="en-US" i="1"/>
              <a:t>Flowchart</a:t>
            </a:r>
            <a:r>
              <a:rPr lang="en-US" altLang="en-US"/>
              <a:t> Program</a:t>
            </a:r>
          </a:p>
        </p:txBody>
      </p:sp>
      <p:pic>
        <p:nvPicPr>
          <p:cNvPr id="9219" name="Picture 5" descr="asd">
            <a:extLst>
              <a:ext uri="{FF2B5EF4-FFF2-40B4-BE49-F238E27FC236}">
                <a16:creationId xmlns:a16="http://schemas.microsoft.com/office/drawing/2014/main" id="{C37F93C8-23D3-70E6-3E26-CE57B1D1006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2200" y="1676400"/>
            <a:ext cx="7142163" cy="3962400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D2C68E9-C419-36EC-8B04-3949815D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/>
          <a:lstStyle/>
          <a:p>
            <a:pPr eaLnBrk="1" hangingPunct="1"/>
            <a:r>
              <a:rPr lang="en-US" altLang="en-US"/>
              <a:t>Pembuatan Flowchart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71EDDAF-9591-2532-DA4F-EF6E3B3E5E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77724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Tidak ada kaidah yang baku.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Flowchart = gambaran hasil analisa suatu masalah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/>
              <a:t>Flowchart dapat bervariasi antara satu pemrogram dengan pemrogram	lainnya.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Secara garis besar ada 3 bagian utama:</a:t>
            </a:r>
          </a:p>
          <a:p>
            <a:pPr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400"/>
              <a:t>		– Input</a:t>
            </a:r>
          </a:p>
          <a:p>
            <a:pPr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400"/>
              <a:t>		– Proses</a:t>
            </a:r>
          </a:p>
          <a:p>
            <a:pPr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400"/>
              <a:t>		– Output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/>
              <a:t>Hindari pengulangan proses yang tidak	perlu dan logika yang berbelit sehingga jalannya proses menjadi singkat.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/>
              <a:t>Jalannya proses digambarkan dari atas ke bawah dan diberikan tanda panah	untuk memperjelas.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93D6B535-5A9C-5AD0-4BA0-BC8A1D2D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Contoh Penggunaan </a:t>
            </a:r>
            <a:r>
              <a:rPr lang="en-US" altLang="en-US" i="1"/>
              <a:t>Flowchart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85AB3DB4-DAFE-A68E-C70B-361C8FC211E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Simbol </a:t>
            </a:r>
            <a:r>
              <a:rPr lang="en-US" altLang="en-US" i="1"/>
              <a:t>Terminator</a:t>
            </a:r>
            <a:r>
              <a:rPr lang="en-US" altLang="en-US"/>
              <a:t>  simbol yang digunakan untuk mengawali dan mengakhiri. Untuk di awal biasanya ditulis dengan kata </a:t>
            </a:r>
            <a:r>
              <a:rPr lang="en-US" altLang="en-US" b="1"/>
              <a:t>“Start/Begin/Mulai”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Untuk di akhir biasanya di tulis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	dengan kata </a:t>
            </a:r>
            <a:r>
              <a:rPr lang="en-US" altLang="en-US" b="1"/>
              <a:t>“Stop/End/Selesai”</a:t>
            </a:r>
          </a:p>
        </p:txBody>
      </p:sp>
      <p:grpSp>
        <p:nvGrpSpPr>
          <p:cNvPr id="11268" name="Group 32">
            <a:extLst>
              <a:ext uri="{FF2B5EF4-FFF2-40B4-BE49-F238E27FC236}">
                <a16:creationId xmlns:a16="http://schemas.microsoft.com/office/drawing/2014/main" id="{CB0A80A5-0011-EB0A-DF73-DCFC46DC1A1E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514600"/>
            <a:ext cx="1485900" cy="2932113"/>
            <a:chOff x="3314163" y="2133600"/>
            <a:chExt cx="1753674" cy="3541689"/>
          </a:xfrm>
        </p:grpSpPr>
        <p:sp>
          <p:nvSpPr>
            <p:cNvPr id="4" name="Flowchart: Terminator 3">
              <a:extLst>
                <a:ext uri="{FF2B5EF4-FFF2-40B4-BE49-F238E27FC236}">
                  <a16:creationId xmlns:a16="http://schemas.microsoft.com/office/drawing/2014/main" id="{3B0BE7C7-6124-F48F-57C6-FD643C80373C}"/>
                </a:ext>
              </a:extLst>
            </p:cNvPr>
            <p:cNvSpPr/>
            <p:nvPr/>
          </p:nvSpPr>
          <p:spPr>
            <a:xfrm>
              <a:off x="3314163" y="2133600"/>
              <a:ext cx="1751801" cy="686478"/>
            </a:xfrm>
            <a:prstGeom prst="flowChartTermina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3B79728-876D-3EB8-169E-7CEF0507EAA4}"/>
                </a:ext>
              </a:extLst>
            </p:cNvPr>
            <p:cNvCxnSpPr>
              <a:endCxn id="12" idx="0"/>
            </p:cNvCxnSpPr>
            <p:nvPr/>
          </p:nvCxnSpPr>
          <p:spPr>
            <a:xfrm rot="16200000" flipH="1">
              <a:off x="3867895" y="4665706"/>
              <a:ext cx="6462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lowchart: Terminator 11">
              <a:extLst>
                <a:ext uri="{FF2B5EF4-FFF2-40B4-BE49-F238E27FC236}">
                  <a16:creationId xmlns:a16="http://schemas.microsoft.com/office/drawing/2014/main" id="{66510A90-E588-A096-FD8F-30BD63ADED28}"/>
                </a:ext>
              </a:extLst>
            </p:cNvPr>
            <p:cNvSpPr/>
            <p:nvPr/>
          </p:nvSpPr>
          <p:spPr>
            <a:xfrm>
              <a:off x="3316037" y="4988811"/>
              <a:ext cx="1751800" cy="686478"/>
            </a:xfrm>
            <a:prstGeom prst="flowChartTermina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0D1279A-27BF-A3E2-9CAD-5A2B086B2E59}"/>
                </a:ext>
              </a:extLst>
            </p:cNvPr>
            <p:cNvCxnSpPr/>
            <p:nvPr/>
          </p:nvCxnSpPr>
          <p:spPr>
            <a:xfrm rot="5400000">
              <a:off x="3733667" y="3810485"/>
              <a:ext cx="914665" cy="0"/>
            </a:xfrm>
            <a:prstGeom prst="straightConnector1">
              <a:avLst/>
            </a:prstGeom>
            <a:ln>
              <a:prstDash val="dash"/>
              <a:tailEnd type="non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A3ED6B9-97F3-5AAE-4795-E6DEA9336D09}"/>
                </a:ext>
              </a:extLst>
            </p:cNvPr>
            <p:cNvCxnSpPr>
              <a:stCxn id="4" idx="2"/>
            </p:cNvCxnSpPr>
            <p:nvPr/>
          </p:nvCxnSpPr>
          <p:spPr>
            <a:xfrm rot="16200000" flipH="1">
              <a:off x="3962813" y="3048265"/>
              <a:ext cx="456373" cy="0"/>
            </a:xfrm>
            <a:prstGeom prst="straightConnector1">
              <a:avLst/>
            </a:prstGeom>
            <a:ln>
              <a:prstDash val="solid"/>
              <a:tailEnd type="non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C5A31CD-7E2F-6F8F-DEDB-D19E12242337}"/>
              </a:ext>
            </a:extLst>
          </p:cNvPr>
          <p:cNvCxnSpPr/>
          <p:nvPr/>
        </p:nvCxnSpPr>
        <p:spPr>
          <a:xfrm>
            <a:off x="4343400" y="2514600"/>
            <a:ext cx="6858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D55B9B-C8E6-1AE7-8815-A7A472D6F734}"/>
              </a:ext>
            </a:extLst>
          </p:cNvPr>
          <p:cNvCxnSpPr/>
          <p:nvPr/>
        </p:nvCxnSpPr>
        <p:spPr>
          <a:xfrm>
            <a:off x="3886200" y="4114800"/>
            <a:ext cx="11430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718D93E-04C2-56A9-B867-3660F564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Contoh Penggunaan </a:t>
            </a:r>
            <a:r>
              <a:rPr lang="en-US" altLang="en-US" i="1"/>
              <a:t>Flowchart</a:t>
            </a:r>
            <a:endParaRPr lang="en-US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40D36256-AAE2-87F4-586C-81A3986288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Simbol Input/Output digunakan memasukan suatu nilai untuk proses atau menampilkan nilai dari hasil suatu proses.</a:t>
            </a:r>
          </a:p>
        </p:txBody>
      </p:sp>
      <p:grpSp>
        <p:nvGrpSpPr>
          <p:cNvPr id="12292" name="Group 19">
            <a:extLst>
              <a:ext uri="{FF2B5EF4-FFF2-40B4-BE49-F238E27FC236}">
                <a16:creationId xmlns:a16="http://schemas.microsoft.com/office/drawing/2014/main" id="{ABD5015C-E28E-6BD1-3F93-88726AEFC14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438400"/>
            <a:ext cx="5943600" cy="2209800"/>
            <a:chOff x="1219200" y="2514600"/>
            <a:chExt cx="5943600" cy="2209800"/>
          </a:xfrm>
        </p:grpSpPr>
        <p:sp>
          <p:nvSpPr>
            <p:cNvPr id="4" name="Flowchart: Data 3">
              <a:extLst>
                <a:ext uri="{FF2B5EF4-FFF2-40B4-BE49-F238E27FC236}">
                  <a16:creationId xmlns:a16="http://schemas.microsoft.com/office/drawing/2014/main" id="{6858715D-347F-D38C-3225-3F9D4FBEBD13}"/>
                </a:ext>
              </a:extLst>
            </p:cNvPr>
            <p:cNvSpPr/>
            <p:nvPr/>
          </p:nvSpPr>
          <p:spPr>
            <a:xfrm>
              <a:off x="1219200" y="3198813"/>
              <a:ext cx="1981200" cy="609600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Input(a)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22EACE-E71B-6C6E-79F2-68FAAB1DC51E}"/>
                </a:ext>
              </a:extLst>
            </p:cNvPr>
            <p:cNvCxnSpPr>
              <a:stCxn id="4" idx="4"/>
            </p:cNvCxnSpPr>
            <p:nvPr/>
          </p:nvCxnSpPr>
          <p:spPr>
            <a:xfrm rot="5400000">
              <a:off x="1751013" y="4265613"/>
              <a:ext cx="91598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owchart: Data 16">
              <a:extLst>
                <a:ext uri="{FF2B5EF4-FFF2-40B4-BE49-F238E27FC236}">
                  <a16:creationId xmlns:a16="http://schemas.microsoft.com/office/drawing/2014/main" id="{DB512565-6311-2A77-E158-F9BB1AAFB456}"/>
                </a:ext>
              </a:extLst>
            </p:cNvPr>
            <p:cNvSpPr/>
            <p:nvPr/>
          </p:nvSpPr>
          <p:spPr>
            <a:xfrm>
              <a:off x="5257800" y="3198813"/>
              <a:ext cx="1905000" cy="609600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Output(a)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6A24E15-845E-4966-DD4D-FD293A58AD35}"/>
                </a:ext>
              </a:extLst>
            </p:cNvPr>
            <p:cNvCxnSpPr>
              <a:endCxn id="17" idx="0"/>
            </p:cNvCxnSpPr>
            <p:nvPr/>
          </p:nvCxnSpPr>
          <p:spPr>
            <a:xfrm rot="5400000">
              <a:off x="6059487" y="2855913"/>
              <a:ext cx="68421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D273BBF-628D-0505-CB25-2C2C9E9B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Contoh Penggunaan </a:t>
            </a:r>
            <a:r>
              <a:rPr lang="en-US" altLang="en-US" i="1"/>
              <a:t>Flowchart</a:t>
            </a:r>
            <a:endParaRPr lang="en-US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7013933F-22AA-D1EA-50F1-59CBBB1FD3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Simbol Proses digunakan untuk memproses suatu data atau untuk perhitungan dan biasanya berisi suatu rumus.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38B2C92-62E8-71F6-A912-F70EBBE764FA}"/>
              </a:ext>
            </a:extLst>
          </p:cNvPr>
          <p:cNvSpPr/>
          <p:nvPr/>
        </p:nvSpPr>
        <p:spPr>
          <a:xfrm>
            <a:off x="3352800" y="3352800"/>
            <a:ext cx="2133600" cy="9906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I </a:t>
            </a:r>
            <a:r>
              <a:rPr lang="en-US" b="1" dirty="0">
                <a:sym typeface="Wingdings" pitchFamily="2" charset="2"/>
              </a:rPr>
              <a:t> I + 1</a:t>
            </a:r>
            <a:endParaRPr lang="en-US" b="1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Fak</a:t>
            </a:r>
            <a:r>
              <a:rPr lang="en-US" b="1" dirty="0"/>
              <a:t> </a:t>
            </a:r>
            <a:r>
              <a:rPr lang="en-US" b="1" dirty="0">
                <a:sym typeface="Wingdings" pitchFamily="2" charset="2"/>
              </a:rPr>
              <a:t> </a:t>
            </a:r>
            <a:r>
              <a:rPr lang="en-US" b="1" dirty="0" err="1">
                <a:sym typeface="Wingdings" pitchFamily="2" charset="2"/>
              </a:rPr>
              <a:t>Fak</a:t>
            </a:r>
            <a:r>
              <a:rPr lang="en-US" b="1" dirty="0">
                <a:sym typeface="Wingdings" pitchFamily="2" charset="2"/>
              </a:rPr>
              <a:t> * I</a:t>
            </a:r>
            <a:endParaRPr lang="en-US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2F3E98-2DFB-CCB1-ACA6-F78C7F5A1D71}"/>
              </a:ext>
            </a:extLst>
          </p:cNvPr>
          <p:cNvCxnSpPr>
            <a:endCxn id="4" idx="0"/>
          </p:cNvCxnSpPr>
          <p:nvPr/>
        </p:nvCxnSpPr>
        <p:spPr>
          <a:xfrm rot="5400000">
            <a:off x="4116388" y="3048000"/>
            <a:ext cx="60801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CD75CD-3E54-899F-4184-D1ADF804E656}"/>
              </a:ext>
            </a:extLst>
          </p:cNvPr>
          <p:cNvCxnSpPr>
            <a:stCxn id="4" idx="2"/>
          </p:cNvCxnSpPr>
          <p:nvPr/>
        </p:nvCxnSpPr>
        <p:spPr>
          <a:xfrm rot="5400000">
            <a:off x="4114801" y="4648200"/>
            <a:ext cx="609600" cy="31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5E45E45-D5B5-1B4F-23D7-F6E37B06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Contoh Penggunaan </a:t>
            </a:r>
            <a:r>
              <a:rPr lang="en-US" altLang="en-US" i="1"/>
              <a:t>Flowchart</a:t>
            </a:r>
            <a:endParaRPr lang="en-US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A1EF6C94-88A6-8DD8-47C5-E01AADB2F2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Simbol </a:t>
            </a:r>
            <a:r>
              <a:rPr lang="en-US" altLang="en-US" i="1"/>
              <a:t>Decision </a:t>
            </a:r>
            <a:r>
              <a:rPr lang="en-US" altLang="en-US"/>
              <a:t>digunakan untuk membandingkan suatu data dan memiliki 2 keluaran yaitu  “</a:t>
            </a:r>
            <a:r>
              <a:rPr lang="en-US" altLang="en-US" b="1"/>
              <a:t>True / False</a:t>
            </a:r>
            <a:r>
              <a:rPr lang="en-US" altLang="en-US"/>
              <a:t>” atau “</a:t>
            </a:r>
            <a:r>
              <a:rPr lang="en-US" altLang="en-US" b="1"/>
              <a:t>Benar / Salah</a:t>
            </a:r>
            <a:r>
              <a:rPr lang="en-US" altLang="en-US"/>
              <a:t>” atau “</a:t>
            </a:r>
            <a:r>
              <a:rPr lang="en-US" altLang="en-US" b="1"/>
              <a:t>Ya/Tidak</a:t>
            </a:r>
            <a:r>
              <a:rPr lang="en-US" altLang="en-US"/>
              <a:t>”</a:t>
            </a:r>
          </a:p>
          <a:p>
            <a:pPr eaLnBrk="1" hangingPunct="1"/>
            <a:r>
              <a:rPr lang="en-US" altLang="en-US"/>
              <a:t>Dari gambar di samping berikut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	menjelaskan jika I nilainya lebih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	kecil dari 5 maka akan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	mengalir ke arah kanan.</a:t>
            </a:r>
          </a:p>
          <a:p>
            <a:pPr eaLnBrk="1" hangingPunct="1"/>
            <a:r>
              <a:rPr lang="en-US" altLang="en-US"/>
              <a:t>Jika tidak maka akan mengalir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	ke arah bawah.</a:t>
            </a:r>
          </a:p>
          <a:p>
            <a:pPr eaLnBrk="1" hangingPunct="1"/>
            <a:endParaRPr lang="en-US" altLang="en-US"/>
          </a:p>
        </p:txBody>
      </p:sp>
      <p:grpSp>
        <p:nvGrpSpPr>
          <p:cNvPr id="14340" name="Group 15">
            <a:extLst>
              <a:ext uri="{FF2B5EF4-FFF2-40B4-BE49-F238E27FC236}">
                <a16:creationId xmlns:a16="http://schemas.microsoft.com/office/drawing/2014/main" id="{C3524248-E994-E19C-4F85-4F00A4D3485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743200"/>
            <a:ext cx="3733800" cy="2590800"/>
            <a:chOff x="3276600" y="2743994"/>
            <a:chExt cx="3733800" cy="2590800"/>
          </a:xfrm>
        </p:grpSpPr>
        <p:sp>
          <p:nvSpPr>
            <p:cNvPr id="4" name="Flowchart: Decision 3">
              <a:extLst>
                <a:ext uri="{FF2B5EF4-FFF2-40B4-BE49-F238E27FC236}">
                  <a16:creationId xmlns:a16="http://schemas.microsoft.com/office/drawing/2014/main" id="{BE72CB70-D76E-2927-2898-A5661C269BA5}"/>
                </a:ext>
              </a:extLst>
            </p:cNvPr>
            <p:cNvSpPr/>
            <p:nvPr/>
          </p:nvSpPr>
          <p:spPr>
            <a:xfrm>
              <a:off x="3276600" y="3352007"/>
              <a:ext cx="2743200" cy="12192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I &gt; 5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311CB80-C4A0-44F4-6212-93CC2478D0EA}"/>
                </a:ext>
              </a:extLst>
            </p:cNvPr>
            <p:cNvCxnSpPr>
              <a:endCxn id="4" idx="0"/>
            </p:cNvCxnSpPr>
            <p:nvPr/>
          </p:nvCxnSpPr>
          <p:spPr>
            <a:xfrm rot="5400000">
              <a:off x="4344987" y="3047207"/>
              <a:ext cx="60801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9A3D237-9440-7DE2-29D5-107155959660}"/>
                </a:ext>
              </a:extLst>
            </p:cNvPr>
            <p:cNvCxnSpPr>
              <a:stCxn id="4" idx="2"/>
            </p:cNvCxnSpPr>
            <p:nvPr/>
          </p:nvCxnSpPr>
          <p:spPr>
            <a:xfrm rot="5400000">
              <a:off x="4267201" y="4952206"/>
              <a:ext cx="762000" cy="317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5659D4-336B-06F7-2C53-24A438D5F950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6019800" y="3961607"/>
              <a:ext cx="990600" cy="317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345" name="TextBox 13">
              <a:extLst>
                <a:ext uri="{FF2B5EF4-FFF2-40B4-BE49-F238E27FC236}">
                  <a16:creationId xmlns:a16="http://schemas.microsoft.com/office/drawing/2014/main" id="{5DB0453B-7158-4669-3D85-9991FDE0E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35052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Ya</a:t>
              </a:r>
            </a:p>
          </p:txBody>
        </p:sp>
        <p:sp>
          <p:nvSpPr>
            <p:cNvPr id="14346" name="TextBox 14">
              <a:extLst>
                <a:ext uri="{FF2B5EF4-FFF2-40B4-BE49-F238E27FC236}">
                  <a16:creationId xmlns:a16="http://schemas.microsoft.com/office/drawing/2014/main" id="{9B61966C-AEFB-8948-EF4F-260CEE922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47244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Tidak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D3153AC-D566-9000-15DC-98545E69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Contoh </a:t>
            </a:r>
            <a:r>
              <a:rPr lang="en-US" altLang="en-US" i="1"/>
              <a:t>Flowchart</a:t>
            </a:r>
            <a:r>
              <a:rPr lang="en-US" altLang="en-US"/>
              <a:t> Program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42D58B16-221A-140A-9352-B2F0A92EE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0200"/>
            <a:ext cx="2133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3">
            <a:extLst>
              <a:ext uri="{FF2B5EF4-FFF2-40B4-BE49-F238E27FC236}">
                <a16:creationId xmlns:a16="http://schemas.microsoft.com/office/drawing/2014/main" id="{D1E717B6-3F97-6C35-4725-D7F24F6BB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00200"/>
            <a:ext cx="3832225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C21D404-5B62-D897-9600-B2107FD8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Latihan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DFD54BC-CBA2-E834-5B7E-3DD0386F83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Buat Flowchart Program untuk menghitung luas lingkaran !</a:t>
            </a:r>
          </a:p>
          <a:p>
            <a:r>
              <a:rPr lang="en-US" altLang="en-US"/>
              <a:t>Buat Flowchart Program untuk menghitung volume dan luas penampang balok!</a:t>
            </a:r>
          </a:p>
          <a:p>
            <a:r>
              <a:rPr lang="en-US" altLang="en-US"/>
              <a:t>Buat Flowchart Program untuk menghitung  luas trapesium !</a:t>
            </a:r>
          </a:p>
          <a:p>
            <a:r>
              <a:rPr lang="en-US" altLang="en-US"/>
              <a:t>Buat Flowchart Program untuk pajang sisi miring segitiga siku-siku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A915721-3E11-7320-43F3-CBB0A535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A52F3638-0314-C6D0-13F1-485570E18A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E7256F-BE01-EBB6-DB99-BE7B8D9F79B0}"/>
              </a:ext>
            </a:extLst>
          </p:cNvPr>
          <p:cNvSpPr/>
          <p:nvPr/>
        </p:nvSpPr>
        <p:spPr>
          <a:xfrm>
            <a:off x="2532791" y="2967335"/>
            <a:ext cx="417280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5400" b="1" dirty="0" err="1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</a:rPr>
              <a:t>Terimakasih</a:t>
            </a:r>
            <a:endParaRPr lang="en-US" sz="54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367</TotalTime>
  <Words>355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Franklin Gothic Book</vt:lpstr>
      <vt:lpstr>Perpetua</vt:lpstr>
      <vt:lpstr>Wingdings 2</vt:lpstr>
      <vt:lpstr>Calibri</vt:lpstr>
      <vt:lpstr>Wingdings</vt:lpstr>
      <vt:lpstr>Equity</vt:lpstr>
      <vt:lpstr>FLOWCHART PROGRAM</vt:lpstr>
      <vt:lpstr>Pengertian Flowchart Program</vt:lpstr>
      <vt:lpstr>Simbol-Simbol Flowchart Program</vt:lpstr>
      <vt:lpstr>Simbol-Simbol Flowchart Program</vt:lpstr>
      <vt:lpstr>Pembuatan Flowchart</vt:lpstr>
      <vt:lpstr>Contoh Penggunaan Flowchart</vt:lpstr>
      <vt:lpstr>Contoh Penggunaan Flowchart</vt:lpstr>
      <vt:lpstr>Contoh Penggunaan Flowchart</vt:lpstr>
      <vt:lpstr>Contoh Penggunaan Flowchart</vt:lpstr>
      <vt:lpstr>Contoh Flowchart Program</vt:lpstr>
      <vt:lpstr>Latihan</vt:lpstr>
      <vt:lpstr>PowerPoint Presentation</vt:lpstr>
    </vt:vector>
  </TitlesOfParts>
  <Company>bOardMaker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PROGRAM</dc:title>
  <dc:creator>ZBKPT</dc:creator>
  <cp:lastModifiedBy>Kurnia Zulda</cp:lastModifiedBy>
  <cp:revision>38</cp:revision>
  <dcterms:created xsi:type="dcterms:W3CDTF">2010-01-16T18:29:12Z</dcterms:created>
  <dcterms:modified xsi:type="dcterms:W3CDTF">2026-01-26T13:51:15Z</dcterms:modified>
</cp:coreProperties>
</file>