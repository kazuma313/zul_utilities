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8"/>
    <p:sldId id="272" r:id="rId29"/>
    <p:sldId id="273" r:id="rId30"/>
    <p:sldId id="274" r:id="rId31"/>
    <p:sldId id="275" r:id="rId32"/>
    <p:sldId id="276" r:id="rId33"/>
    <p:sldId id="277" r:id="rId34"/>
    <p:sldId id="278" r:id="rId35"/>
    <p:sldId id="279" r:id="rId36"/>
    <p:sldId id="280" r:id="rId37"/>
    <p:sldId id="281" r:id="rId38"/>
    <p:sldId id="282" r:id="rId39"/>
  </p:sldIdLst>
  <p:sldSz cx="18288000" cy="10287000"/>
  <p:notesSz cx="6858000" cy="9144000"/>
  <p:embeddedFontLst>
    <p:embeddedFont>
      <p:font typeface="Open Sauce Bold" charset="1" panose="00000800000000000000"/>
      <p:regular r:id="rId21"/>
    </p:embeddedFont>
    <p:embeddedFont>
      <p:font typeface="Open Sauce" charset="1" panose="00000500000000000000"/>
      <p:regular r:id="rId22"/>
    </p:embeddedFont>
    <p:embeddedFont>
      <p:font typeface="HK Grotesk" charset="1" panose="00000500000000000000"/>
      <p:regular r:id="rId23"/>
    </p:embeddedFont>
    <p:embeddedFont>
      <p:font typeface="HK Grotesk Italics" charset="1" panose="00000500000000000000"/>
      <p:regular r:id="rId24"/>
    </p:embeddedFont>
    <p:embeddedFont>
      <p:font typeface="HK Grotesk Bold" charset="1" panose="00000800000000000000"/>
      <p:regular r:id="rId25"/>
    </p:embeddedFont>
    <p:embeddedFont>
      <p:font typeface="Open Sans" charset="1" panose="020B0606030504020204"/>
      <p:regular r:id="rId26"/>
    </p:embeddedFont>
    <p:embeddedFont>
      <p:font typeface="Open Sans Italics" charset="1" panose="020B06060305040202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font" Target="fonts/font25.fntdata"/><Relationship Id="rId26" Type="http://schemas.openxmlformats.org/officeDocument/2006/relationships/font" Target="fonts/font26.fntdata"/><Relationship Id="rId27" Type="http://schemas.openxmlformats.org/officeDocument/2006/relationships/font" Target="fonts/font27.fntdata"/><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Paper-based</c:v>
                </c:pt>
              </c:strCache>
            </c:strRef>
          </c:tx>
          <c:spPr>
            <a:solidFill>
              <a:srgbClr val="5B5B5B"/>
            </a:solidFill>
          </c:spPr>
          <c:cat>
            <c:strRef>
              <c:f>Sheet1!$A$2:$A$4</c:f>
              <c:strCache>
                <c:ptCount val="3"/>
                <c:pt idx="0">
                  <c:v>Loan in 2 days</c:v>
                </c:pt>
                <c:pt idx="1">
                  <c:v>Monthly saving</c:v>
                </c:pt>
                <c:pt idx="2">
                  <c:v>Uses app weekly</c:v>
                </c:pt>
              </c:strCache>
            </c:strRef>
          </c:cat>
          <c:val>
            <c:numRef>
              <c:f>Sheet1!$B$2:$B$4</c:f>
              <c:numCache>
                <c:formatCode>General</c:formatCode>
                <c:ptCount val="3"/>
                <c:pt idx="0">
                  <c:v>18.0</c:v>
                </c:pt>
                <c:pt idx="1">
                  <c:v>41.0</c:v>
                </c:pt>
                <c:pt idx="2">
                  <c:v>5.0</c:v>
                </c:pt>
              </c:numCache>
            </c:numRef>
          </c:val>
        </c:ser>
        <c:ser>
          <c:idx val="1"/>
          <c:order val="1"/>
          <c:tx>
            <c:strRef>
              <c:f>Sheet1!$C$1</c:f>
              <c:strCache>
                <c:ptCount val="1"/>
                <c:pt idx="0">
                  <c:v>Mobile</c:v>
                </c:pt>
              </c:strCache>
            </c:strRef>
          </c:tx>
          <c:spPr>
            <a:solidFill>
              <a:srgbClr val="FFFFFF"/>
            </a:solidFill>
          </c:spPr>
          <c:cat>
            <c:strRef>
              <c:f>Sheet1!$A$2:$A$4</c:f>
              <c:strCache>
                <c:ptCount val="3"/>
                <c:pt idx="0">
                  <c:v>Loan in 2 days</c:v>
                </c:pt>
                <c:pt idx="1">
                  <c:v>Monthly saving</c:v>
                </c:pt>
                <c:pt idx="2">
                  <c:v>Uses app weekly</c:v>
                </c:pt>
              </c:strCache>
            </c:strRef>
          </c:cat>
          <c:val>
            <c:numRef>
              <c:f>Sheet1!$C$2:$C$4</c:f>
              <c:numCache>
                <c:formatCode>General</c:formatCode>
                <c:ptCount val="3"/>
                <c:pt idx="0">
                  <c:v>63.0</c:v>
                </c:pt>
                <c:pt idx="1">
                  <c:v>58.0</c:v>
                </c:pt>
                <c:pt idx="2">
                  <c:v>47.0</c:v>
                </c:pt>
              </c:numCache>
            </c:numRef>
          </c:val>
        </c:ser>
        <c:gapWidth val="60"/>
        <c:overlap val="-10"/>
        <c:axId val="-2068027336"/>
        <c:axId val="-2113994440"/>
      </c:barChart>
      <c:catAx>
        <c:axId val="-2068027336"/>
        <c:scaling>
          <c:orientation val="minMax"/>
        </c:scaling>
        <c:delete val="0"/>
        <c:axPos val="b"/>
        <c:majorTickMark val="out"/>
        <c:minorTickMark val="none"/>
        <c:tickLblPos val="nextTo"/>
        <c:spPr>
          <a:ln>
            <a:solidFill>
              <a:srgbClr val="3A3A3A"/>
            </a:solidFill>
          </a:ln>
        </c:spPr>
        <c:txPr>
          <a:bodyPr/>
          <a:lstStyle/>
          <a:p>
            <a:pPr>
              <a:defRPr sz="1600">
                <a:solidFill>
                  <a:srgbClr val="FFFFFF"/>
                </a:solidFill>
              </a:defRPr>
            </a:pPr>
          </a:p>
        </c:txPr>
        <c:crossAx val="-2113994440"/>
        <c:crosses val="autoZero"/>
        <c:auto val="1"/>
        <c:lblAlgn val="ctr"/>
        <c:lblOffset val="100"/>
        <c:noMultiLvlLbl val="0"/>
      </c:catAx>
      <c:valAx>
        <c:axId val="-2113994440"/>
        <c:scaling/>
        <c:delete val="0"/>
        <c:axPos val="l"/>
        <c:majorGridlines>
          <c:spPr>
            <a:ln>
              <a:solidFill>
                <a:srgbClr val="3A3A3A"/>
              </a:solidFill>
            </a:ln>
          </c:spPr>
        </c:majorGridlines>
        <c:majorTickMark val="out"/>
        <c:minorTickMark val="none"/>
        <c:tickLblPos val="nextTo"/>
        <c:spPr>
          <a:ln>
            <a:solidFill>
              <a:srgbClr val="3A3A3A"/>
            </a:solidFill>
          </a:ln>
        </c:spPr>
        <c:txPr>
          <a:bodyPr/>
          <a:lstStyle/>
          <a:p>
            <a:pPr>
              <a:defRPr sz="1600">
                <a:solidFill>
                  <a:srgbClr val="FFFFFF"/>
                </a:solidFill>
              </a:defRPr>
            </a:pPr>
          </a:p>
        </c:txPr>
        <c:crossAx val="-2068027336"/>
        <c:crosses val="autoZero"/>
      </c:valAx>
    </c:plotArea>
    <c:legend>
      <c:legendPos val="t"/>
      <c:overlay val="0"/>
      <c:txPr>
        <a:bodyPr/>
        <a:lstStyle/>
        <a:p>
          <a:pPr>
            <a:defRPr sz="1800">
              <a:solidFill>
                <a:srgbClr val="FFFFFF"/>
              </a:solidFill>
            </a:defRPr>
          </a:pPr>
        </a:p>
      </c:txPr>
    </c:legend>
    <c:dispBlanksAs val="gap"/>
  </c:chart>
  <c:txPr>
    <a:bodyPr/>
    <a:lstStyle/>
    <a:p>
      <a:pPr>
        <a:defRPr sz="1800">
          <a:solidFill>
            <a:srgbClr val="FFFFFF"/>
          </a:solidFill>
          <a:latin typeface="HK Grotesk"/>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radarChart>
        <c:radarStyle val="filled"/>
        <c:varyColors val="0"/>
        <c:ser>
          <c:idx val="0"/>
          <c:order val="0"/>
          <c:tx>
            <c:strRef>
              <c:f>Sheet1!$B$1</c:f>
              <c:strCache>
                <c:ptCount val="1"/>
                <c:pt idx="0">
                  <c:v>Members</c:v>
                </c:pt>
              </c:strCache>
            </c:strRef>
          </c:tx>
          <c:spPr>
            <a:solidFill>
              <a:srgbClr val="5B5B5B">
                <a:alpha val="60000"/>
              </a:srgbClr>
            </a:solidFill>
            <a:ln>
              <a:solidFill>
                <a:srgbClr val="5B5B5B"/>
              </a:solidFill>
            </a:ln>
          </c:spPr>
          <c:cat>
            <c:strRef>
              <c:f>Sheet1!$A$2:$A$6</c:f>
              <c:strCache>
                <c:ptCount val="5"/>
                <c:pt idx="0">
                  <c:v>Trust</c:v>
                </c:pt>
                <c:pt idx="1">
                  <c:v>Cost</c:v>
                </c:pt>
                <c:pt idx="2">
                  <c:v>Skills</c:v>
                </c:pt>
                <c:pt idx="3">
                  <c:v>Signal</c:v>
                </c:pt>
                <c:pt idx="4">
                  <c:v>Habit</c:v>
                </c:pt>
              </c:strCache>
            </c:strRef>
          </c:cat>
          <c:val>
            <c:numRef>
              <c:f>Sheet1!$B$2:$B$6</c:f>
              <c:numCache>
                <c:formatCode>General</c:formatCode>
                <c:ptCount val="5"/>
                <c:pt idx="0">
                  <c:v>9.0</c:v>
                </c:pt>
                <c:pt idx="1">
                  <c:v>5.0</c:v>
                </c:pt>
                <c:pt idx="2">
                  <c:v>6.0</c:v>
                </c:pt>
                <c:pt idx="3">
                  <c:v>4.0</c:v>
                </c:pt>
                <c:pt idx="4">
                  <c:v>7.0</c:v>
                </c:pt>
              </c:numCache>
            </c:numRef>
          </c:val>
          <c:smooth val="0"/>
        </c:ser>
        <c:ser>
          <c:idx val="1"/>
          <c:order val="1"/>
          <c:tx>
            <c:strRef>
              <c:f>Sheet1!$C$1</c:f>
              <c:strCache>
                <c:ptCount val="1"/>
                <c:pt idx="0">
                  <c:v>Managers</c:v>
                </c:pt>
              </c:strCache>
            </c:strRef>
          </c:tx>
          <c:spPr>
            <a:solidFill>
              <a:srgbClr val="000000">
                <a:alpha val="60000"/>
              </a:srgbClr>
            </a:solidFill>
            <a:ln>
              <a:solidFill>
                <a:srgbClr val="000000"/>
              </a:solidFill>
            </a:ln>
          </c:spPr>
          <c:cat>
            <c:strRef>
              <c:f>Sheet1!$A$2:$A$6</c:f>
              <c:strCache>
                <c:ptCount val="5"/>
                <c:pt idx="0">
                  <c:v>Trust</c:v>
                </c:pt>
                <c:pt idx="1">
                  <c:v>Cost</c:v>
                </c:pt>
                <c:pt idx="2">
                  <c:v>Skills</c:v>
                </c:pt>
                <c:pt idx="3">
                  <c:v>Signal</c:v>
                </c:pt>
                <c:pt idx="4">
                  <c:v>Habit</c:v>
                </c:pt>
              </c:strCache>
            </c:strRef>
          </c:cat>
          <c:val>
            <c:numRef>
              <c:f>Sheet1!$C$2:$C$6</c:f>
              <c:numCache>
                <c:formatCode>General</c:formatCode>
                <c:ptCount val="5"/>
                <c:pt idx="0">
                  <c:v>6.0</c:v>
                </c:pt>
                <c:pt idx="1">
                  <c:v>8.0</c:v>
                </c:pt>
                <c:pt idx="2">
                  <c:v>5.0</c:v>
                </c:pt>
                <c:pt idx="3">
                  <c:v>5.0</c:v>
                </c:pt>
                <c:pt idx="4">
                  <c:v>4.0</c:v>
                </c:pt>
              </c:numCache>
            </c:numRef>
          </c:val>
          <c:smooth val="0"/>
        </c:ser>
        <c:axId val="2073612648"/>
        <c:axId val="-2112772216"/>
      </c:radarChart>
      <c:catAx>
        <c:axId val="2073612648"/>
        <c:scaling>
          <c:orientation val="minMax"/>
        </c:scaling>
        <c:delete val="0"/>
        <c:axPos val="b"/>
        <c:majorGridlines/>
        <c:numFmt formatCode="m/d/yy" sourceLinked="1"/>
        <c:majorTickMark val="out"/>
        <c:minorTickMark val="none"/>
        <c:tickLblPos val="nextTo"/>
        <c:crossAx val="-2112772216"/>
        <c:crosses val="autoZero"/>
        <c:auto val="1"/>
        <c:lblAlgn val="ctr"/>
        <c:lblOffset val="100"/>
        <c:noMultiLvlLbl val="0"/>
      </c:catAx>
      <c:valAx>
        <c:axId val="-2112772216"/>
        <c:scaling>
          <c:orientation val="minMax"/>
        </c:scaling>
        <c:delete val="0"/>
        <c:axPos val="l"/>
        <c:majorGridlines/>
        <c:numFmt formatCode="General" sourceLinked="1"/>
        <c:majorTickMark val="cross"/>
        <c:minorTickMark val="none"/>
        <c:tickLblPos val="nextTo"/>
        <c:crossAx val="2073612648"/>
        <c:crosses val="autoZero"/>
        <c:crossBetween val="between"/>
      </c:valAx>
    </c:plotArea>
    <c:legend>
      <c:legendPos val="t"/>
      <c:overlay val="0"/>
      <c:txPr>
        <a:bodyPr/>
        <a:lstStyle/>
        <a:p>
          <a:pPr>
            <a:defRPr sz="1800">
              <a:solidFill>
                <a:srgbClr val="000000"/>
              </a:solidFill>
            </a:defRPr>
          </a:pPr>
        </a:p>
      </c:txPr>
    </c:legend>
    <c:plotVisOnly val="1"/>
    <c:dispBlanksAs val="gap"/>
    <c:showDLblsOverMax val="0"/>
  </c:chart>
  <c:txPr>
    <a:bodyPr/>
    <a:lstStyle/>
    <a:p>
      <a:pPr>
        <a:defRPr sz="1800">
          <a:solidFill>
            <a:srgbClr val="000000"/>
          </a:solidFill>
          <a:latin typeface="HK Grotesk"/>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6" Type="http://schemas.openxmlformats.org/officeDocument/2006/relationships/image" Target="../media/image1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6" Type="http://schemas.openxmlformats.org/officeDocument/2006/relationships/image" Target="../media/image1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6.xml><?xml version="1.0" encoding="utf-8"?>
<p:sld xmlns:a="http://schemas.openxmlformats.org/drawingml/2006/main" xmlns:p="http://schemas.openxmlformats.org/presentation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284196" y="829468"/>
            <a:ext cx="18856392" cy="988179"/>
            <a:chOff x="0" y="0"/>
            <a:chExt cx="4966293" cy="260261"/>
          </a:xfrm>
        </p:grpSpPr>
        <p:sp>
          <p:nvSpPr>
            <p:cNvPr name="Freeform 3" id="3"/>
            <p:cNvSpPr/>
            <p:nvPr/>
          </p:nvSpPr>
          <p:spPr>
            <a:xfrm flipH="false" flipV="false" rot="0">
              <a:off x="0" y="0"/>
              <a:ext cx="4966293" cy="260261"/>
            </a:xfrm>
            <a:custGeom>
              <a:avLst/>
              <a:gdLst/>
              <a:ahLst/>
              <a:cxnLst/>
              <a:rect r="r" b="b" t="t" l="l"/>
              <a:pathLst>
                <a:path h="260261" w="4966293">
                  <a:moveTo>
                    <a:pt x="0" y="0"/>
                  </a:moveTo>
                  <a:lnTo>
                    <a:pt x="4966293" y="0"/>
                  </a:lnTo>
                  <a:lnTo>
                    <a:pt x="4966293" y="260261"/>
                  </a:lnTo>
                  <a:lnTo>
                    <a:pt x="0" y="260261"/>
                  </a:lnTo>
                  <a:close/>
                </a:path>
              </a:pathLst>
            </a:custGeom>
            <a:solidFill>
              <a:srgbClr val="FFFFFF"/>
            </a:solidFill>
          </p:spPr>
        </p:sp>
        <p:sp>
          <p:nvSpPr>
            <p:cNvPr name="TextBox 4" id="4"/>
            <p:cNvSpPr txBox="true"/>
            <p:nvPr/>
          </p:nvSpPr>
          <p:spPr>
            <a:xfrm>
              <a:off x="0" y="-38100"/>
              <a:ext cx="4966293" cy="298361"/>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636338" y="6726162"/>
            <a:ext cx="16959343" cy="1583048"/>
          </a:xfrm>
          <a:prstGeom prst="rect">
            <a:avLst/>
          </a:prstGeom>
        </p:spPr>
        <p:txBody>
          <a:bodyPr anchor="t" rtlCol="false" tIns="0" lIns="0" bIns="0" rIns="0">
            <a:spAutoFit/>
          </a:bodyPr>
          <a:lstStyle/>
          <a:p>
            <a:pPr algn="ctr" marL="0" indent="0" lvl="0">
              <a:lnSpc>
                <a:spcPts val="12464"/>
              </a:lnSpc>
            </a:pPr>
            <a:r>
              <a:rPr lang="en-US" b="true" sz="13850" spc="-553">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Digital Cooperatives</a:t>
            </a:r>
          </a:p>
        </p:txBody>
      </p:sp>
      <p:sp>
        <p:nvSpPr>
          <p:cNvPr name="TextBox 6" id="6"/>
          <p:cNvSpPr txBox="true"/>
          <p:nvPr/>
        </p:nvSpPr>
        <p:spPr>
          <a:xfrm rot="0">
            <a:off x="973833" y="8398138"/>
            <a:ext cx="6492240" cy="1095579"/>
          </a:xfrm>
          <a:prstGeom prst="rect">
            <a:avLst/>
          </a:prstGeom>
        </p:spPr>
        <p:txBody>
          <a:bodyPr anchor="t" rtlCol="false" tIns="0" lIns="0" bIns="0" rIns="0">
            <a:spAutoFit/>
          </a:bodyPr>
          <a:lstStyle/>
          <a:p>
            <a:pPr algn="l" marL="0" indent="0" lvl="0">
              <a:lnSpc>
                <a:spcPts val="5243"/>
              </a:lnSpc>
            </a:pPr>
            <a:r>
              <a:rPr lang="en-US" sz="5826" spc="-233">
                <a:gradFill>
                  <a:gsLst>
                    <a:gs pos="0">
                      <a:srgbClr val="FFFFFF">
                        <a:alpha val="100000"/>
                      </a:srgbClr>
                    </a:gs>
                    <a:gs pos="50000">
                      <a:srgbClr val="FFFFFF">
                        <a:alpha val="100000"/>
                      </a:srgbClr>
                    </a:gs>
                    <a:gs pos="100000">
                      <a:srgbClr val="FFFFFF">
                        <a:alpha val="44500"/>
                      </a:srgbClr>
                    </a:gs>
                  </a:gsLst>
                  <a:lin ang="5400000"/>
                </a:gradFill>
                <a:latin typeface="Open Sauce"/>
                <a:ea typeface="Open Sauce"/>
                <a:cs typeface="Open Sauce"/>
                <a:sym typeface="Open Sauce"/>
              </a:rPr>
              <a:t>Research Proposal</a:t>
            </a:r>
          </a:p>
        </p:txBody>
      </p:sp>
      <p:grpSp>
        <p:nvGrpSpPr>
          <p:cNvPr name="Group 7" id="7"/>
          <p:cNvGrpSpPr/>
          <p:nvPr/>
        </p:nvGrpSpPr>
        <p:grpSpPr>
          <a:xfrm rot="0">
            <a:off x="7720219" y="8377948"/>
            <a:ext cx="9539081" cy="880352"/>
            <a:chOff x="0" y="0"/>
            <a:chExt cx="2512351" cy="231862"/>
          </a:xfrm>
        </p:grpSpPr>
        <p:sp>
          <p:nvSpPr>
            <p:cNvPr name="Freeform 8" id="8"/>
            <p:cNvSpPr/>
            <p:nvPr/>
          </p:nvSpPr>
          <p:spPr>
            <a:xfrm flipH="false" flipV="false" rot="0">
              <a:off x="0" y="0"/>
              <a:ext cx="2512351" cy="231862"/>
            </a:xfrm>
            <a:custGeom>
              <a:avLst/>
              <a:gdLst/>
              <a:ahLst/>
              <a:cxnLst/>
              <a:rect r="r" b="b" t="t" l="l"/>
              <a:pathLst>
                <a:path h="231862" w="2512351">
                  <a:moveTo>
                    <a:pt x="81160" y="0"/>
                  </a:moveTo>
                  <a:lnTo>
                    <a:pt x="2431191" y="0"/>
                  </a:lnTo>
                  <a:cubicBezTo>
                    <a:pt x="2452716" y="0"/>
                    <a:pt x="2473359" y="8551"/>
                    <a:pt x="2488579" y="23771"/>
                  </a:cubicBezTo>
                  <a:cubicBezTo>
                    <a:pt x="2503800" y="38992"/>
                    <a:pt x="2512351" y="59635"/>
                    <a:pt x="2512351" y="81160"/>
                  </a:cubicBezTo>
                  <a:lnTo>
                    <a:pt x="2512351" y="150702"/>
                  </a:lnTo>
                  <a:cubicBezTo>
                    <a:pt x="2512351" y="195526"/>
                    <a:pt x="2476014" y="231862"/>
                    <a:pt x="2431191" y="231862"/>
                  </a:cubicBezTo>
                  <a:lnTo>
                    <a:pt x="81160" y="231862"/>
                  </a:lnTo>
                  <a:cubicBezTo>
                    <a:pt x="59635" y="231862"/>
                    <a:pt x="38992" y="223311"/>
                    <a:pt x="23771" y="208091"/>
                  </a:cubicBezTo>
                  <a:cubicBezTo>
                    <a:pt x="8551" y="192870"/>
                    <a:pt x="0" y="172227"/>
                    <a:pt x="0" y="150702"/>
                  </a:cubicBezTo>
                  <a:lnTo>
                    <a:pt x="0" y="81160"/>
                  </a:lnTo>
                  <a:cubicBezTo>
                    <a:pt x="0" y="36337"/>
                    <a:pt x="36337" y="0"/>
                    <a:pt x="81160"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9" id="9"/>
            <p:cNvSpPr txBox="true"/>
            <p:nvPr/>
          </p:nvSpPr>
          <p:spPr>
            <a:xfrm>
              <a:off x="0" y="0"/>
              <a:ext cx="2512351" cy="231862"/>
            </a:xfrm>
            <a:prstGeom prst="rect">
              <a:avLst/>
            </a:prstGeom>
          </p:spPr>
          <p:txBody>
            <a:bodyPr anchor="ctr" rtlCol="false" tIns="50800" lIns="50800" bIns="50800" rIns="50800"/>
            <a:lstStyle/>
            <a:p>
              <a:pPr algn="ctr">
                <a:lnSpc>
                  <a:spcPts val="3119"/>
                </a:lnSpc>
              </a:pPr>
            </a:p>
          </p:txBody>
        </p:sp>
      </p:grpSp>
      <p:sp>
        <p:nvSpPr>
          <p:cNvPr name="TextBox 10" id="10"/>
          <p:cNvSpPr txBox="true"/>
          <p:nvPr/>
        </p:nvSpPr>
        <p:spPr>
          <a:xfrm rot="0">
            <a:off x="7876892" y="8622077"/>
            <a:ext cx="9225735" cy="390525"/>
          </a:xfrm>
          <a:prstGeom prst="rect">
            <a:avLst/>
          </a:prstGeom>
        </p:spPr>
        <p:txBody>
          <a:bodyPr anchor="t" rtlCol="false" tIns="0" lIns="0" bIns="0" rIns="0">
            <a:spAutoFit/>
          </a:bodyPr>
          <a:lstStyle/>
          <a:p>
            <a:pPr algn="ctr" marL="0" indent="0" lvl="0">
              <a:lnSpc>
                <a:spcPts val="3119"/>
              </a:lnSpc>
            </a:pPr>
            <a:r>
              <a:rPr lang="en-US" sz="2599" spc="-67">
                <a:solidFill>
                  <a:srgbClr val="FFFFFF"/>
                </a:solidFill>
                <a:latin typeface="Open Sauce"/>
                <a:ea typeface="Open Sauce"/>
                <a:cs typeface="Open Sauce"/>
                <a:sym typeface="Open Sauce"/>
              </a:rPr>
              <a:t>Research Proposal - Faculty of Economics 2026</a:t>
            </a:r>
          </a:p>
        </p:txBody>
      </p:sp>
      <p:sp>
        <p:nvSpPr>
          <p:cNvPr name="TextBox 11" id="11"/>
          <p:cNvSpPr txBox="true"/>
          <p:nvPr/>
        </p:nvSpPr>
        <p:spPr>
          <a:xfrm rot="0">
            <a:off x="1028700" y="1176238"/>
            <a:ext cx="3525349" cy="313690"/>
          </a:xfrm>
          <a:prstGeom prst="rect">
            <a:avLst/>
          </a:prstGeom>
        </p:spPr>
        <p:txBody>
          <a:bodyPr anchor="t" rtlCol="false" tIns="0" lIns="0" bIns="0" rIns="0">
            <a:spAutoFit/>
          </a:bodyPr>
          <a:lstStyle/>
          <a:p>
            <a:pPr algn="l">
              <a:lnSpc>
                <a:spcPts val="2419"/>
              </a:lnSpc>
              <a:spcBef>
                <a:spcPct val="0"/>
              </a:spcBef>
            </a:pPr>
            <a:r>
              <a:rPr lang="en-US" b="true" sz="2199" spc="-35">
                <a:solidFill>
                  <a:srgbClr val="000000"/>
                </a:solidFill>
                <a:latin typeface="Open Sauce Bold"/>
                <a:ea typeface="Open Sauce Bold"/>
                <a:cs typeface="Open Sauce Bold"/>
                <a:sym typeface="Open Sauce Bold"/>
              </a:rPr>
              <a:t>Universitas Nusantara</a:t>
            </a:r>
          </a:p>
        </p:txBody>
      </p:sp>
      <p:sp>
        <p:nvSpPr>
          <p:cNvPr name="TextBox 12" id="12"/>
          <p:cNvSpPr txBox="true"/>
          <p:nvPr/>
        </p:nvSpPr>
        <p:spPr>
          <a:xfrm rot="0">
            <a:off x="1028700" y="5018543"/>
            <a:ext cx="5618225" cy="313690"/>
          </a:xfrm>
          <a:prstGeom prst="rect">
            <a:avLst/>
          </a:prstGeom>
        </p:spPr>
        <p:txBody>
          <a:bodyPr anchor="t" rtlCol="false" tIns="0" lIns="0" bIns="0" rIns="0">
            <a:spAutoFit/>
          </a:bodyPr>
          <a:lstStyle/>
          <a:p>
            <a:pPr algn="l">
              <a:lnSpc>
                <a:spcPts val="2419"/>
              </a:lnSpc>
              <a:spcBef>
                <a:spcPct val="0"/>
              </a:spcBef>
            </a:pPr>
            <a:r>
              <a:rPr lang="en-US" sz="2199" spc="-35">
                <a:solidFill>
                  <a:srgbClr val="FFFFFF"/>
                </a:solidFill>
                <a:latin typeface="Open Sauce"/>
                <a:ea typeface="Open Sauce"/>
                <a:cs typeface="Open Sauce"/>
                <a:sym typeface="Open Sauce"/>
              </a:rPr>
              <a:t>Presented By:</a:t>
            </a:r>
          </a:p>
        </p:txBody>
      </p:sp>
      <p:sp>
        <p:nvSpPr>
          <p:cNvPr name="TextBox 13" id="13"/>
          <p:cNvSpPr txBox="true"/>
          <p:nvPr/>
        </p:nvSpPr>
        <p:spPr>
          <a:xfrm rot="0">
            <a:off x="1028700" y="5351283"/>
            <a:ext cx="5618225" cy="313690"/>
          </a:xfrm>
          <a:prstGeom prst="rect">
            <a:avLst/>
          </a:prstGeom>
        </p:spPr>
        <p:txBody>
          <a:bodyPr anchor="t" rtlCol="false" tIns="0" lIns="0" bIns="0" rIns="0">
            <a:spAutoFit/>
          </a:bodyPr>
          <a:lstStyle/>
          <a:p>
            <a:pPr algn="l">
              <a:lnSpc>
                <a:spcPts val="2419"/>
              </a:lnSpc>
              <a:spcBef>
                <a:spcPct val="0"/>
              </a:spcBef>
            </a:pPr>
            <a:r>
              <a:rPr lang="en-US" b="true" sz="2199" spc="-35">
                <a:solidFill>
                  <a:srgbClr val="FFFFFF"/>
                </a:solidFill>
                <a:latin typeface="Open Sauce Bold"/>
                <a:ea typeface="Open Sauce Bold"/>
                <a:cs typeface="Open Sauce Bold"/>
                <a:sym typeface="Open Sauce Bold"/>
              </a:rPr>
              <a:t>Kurnia Matondang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279200" y="387555"/>
            <a:ext cx="2155619" cy="215561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5" id="5"/>
          <p:cNvSpPr txBox="true"/>
          <p:nvPr/>
        </p:nvSpPr>
        <p:spPr>
          <a:xfrm rot="0">
            <a:off x="1028700" y="1314450"/>
            <a:ext cx="4572000" cy="1142873"/>
          </a:xfrm>
          <a:prstGeom prst="rect">
            <a:avLst/>
          </a:prstGeom>
        </p:spPr>
        <p:txBody>
          <a:bodyPr anchor="t" rtlCol="false" tIns="0" lIns="0" bIns="0" rIns="0">
            <a:spAutoFit/>
          </a:bodyPr>
          <a:lstStyle/>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Hello !</a:t>
            </a:r>
          </a:p>
        </p:txBody>
      </p:sp>
      <p:grpSp>
        <p:nvGrpSpPr>
          <p:cNvPr name="Group 6" id="6"/>
          <p:cNvGrpSpPr/>
          <p:nvPr/>
        </p:nvGrpSpPr>
        <p:grpSpPr>
          <a:xfrm rot="0">
            <a:off x="1028700" y="3401448"/>
            <a:ext cx="16230600" cy="5856852"/>
            <a:chOff x="0" y="0"/>
            <a:chExt cx="4274726" cy="1542545"/>
          </a:xfrm>
        </p:grpSpPr>
        <p:sp>
          <p:nvSpPr>
            <p:cNvPr name="Freeform 7" id="7"/>
            <p:cNvSpPr/>
            <p:nvPr/>
          </p:nvSpPr>
          <p:spPr>
            <a:xfrm flipH="false" flipV="false" rot="0">
              <a:off x="0" y="0"/>
              <a:ext cx="4274726" cy="1542545"/>
            </a:xfrm>
            <a:custGeom>
              <a:avLst/>
              <a:gdLst/>
              <a:ahLst/>
              <a:cxnLst/>
              <a:rect r="r" b="b" t="t" l="l"/>
              <a:pathLst>
                <a:path h="1542545" w="4274726">
                  <a:moveTo>
                    <a:pt x="47700" y="0"/>
                  </a:moveTo>
                  <a:lnTo>
                    <a:pt x="4227026" y="0"/>
                  </a:lnTo>
                  <a:cubicBezTo>
                    <a:pt x="4239677" y="0"/>
                    <a:pt x="4251809" y="5025"/>
                    <a:pt x="4260755" y="13971"/>
                  </a:cubicBezTo>
                  <a:cubicBezTo>
                    <a:pt x="4269700" y="22916"/>
                    <a:pt x="4274726" y="35049"/>
                    <a:pt x="4274726" y="47700"/>
                  </a:cubicBezTo>
                  <a:lnTo>
                    <a:pt x="4274726" y="1494846"/>
                  </a:lnTo>
                  <a:cubicBezTo>
                    <a:pt x="4274726" y="1507496"/>
                    <a:pt x="4269700" y="1519629"/>
                    <a:pt x="4260755" y="1528574"/>
                  </a:cubicBezTo>
                  <a:cubicBezTo>
                    <a:pt x="4251809" y="1537520"/>
                    <a:pt x="4239677" y="1542545"/>
                    <a:pt x="4227026" y="1542545"/>
                  </a:cubicBezTo>
                  <a:lnTo>
                    <a:pt x="47700" y="1542545"/>
                  </a:lnTo>
                  <a:cubicBezTo>
                    <a:pt x="35049" y="1542545"/>
                    <a:pt x="22916" y="1537520"/>
                    <a:pt x="13971" y="1528574"/>
                  </a:cubicBezTo>
                  <a:cubicBezTo>
                    <a:pt x="5025" y="1519629"/>
                    <a:pt x="0" y="1507496"/>
                    <a:pt x="0" y="1494846"/>
                  </a:cubicBezTo>
                  <a:lnTo>
                    <a:pt x="0" y="47700"/>
                  </a:lnTo>
                  <a:cubicBezTo>
                    <a:pt x="0" y="35049"/>
                    <a:pt x="5025" y="22916"/>
                    <a:pt x="13971" y="13971"/>
                  </a:cubicBezTo>
                  <a:cubicBezTo>
                    <a:pt x="22916" y="5025"/>
                    <a:pt x="35049" y="0"/>
                    <a:pt x="47700"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8" id="8"/>
            <p:cNvSpPr txBox="true"/>
            <p:nvPr/>
          </p:nvSpPr>
          <p:spPr>
            <a:xfrm>
              <a:off x="0" y="0"/>
              <a:ext cx="4274726" cy="1542545"/>
            </a:xfrm>
            <a:prstGeom prst="rect">
              <a:avLst/>
            </a:prstGeom>
          </p:spPr>
          <p:txBody>
            <a:bodyPr anchor="ctr" rtlCol="false" tIns="50800" lIns="50800" bIns="50800" rIns="50800"/>
            <a:lstStyle/>
            <a:p>
              <a:pPr algn="ctr">
                <a:lnSpc>
                  <a:spcPts val="3119"/>
                </a:lnSpc>
              </a:pPr>
            </a:p>
            <a:p>
              <a:pPr algn="ctr">
                <a:lnSpc>
                  <a:spcPts val="3119"/>
                </a:lnSpc>
              </a:pPr>
            </a:p>
          </p:txBody>
        </p:sp>
      </p:grpSp>
      <p:sp>
        <p:nvSpPr>
          <p:cNvPr name="TextBox 9" id="9"/>
          <p:cNvSpPr txBox="true"/>
          <p:nvPr/>
        </p:nvSpPr>
        <p:spPr>
          <a:xfrm rot="0">
            <a:off x="1774048" y="4295725"/>
            <a:ext cx="8843436" cy="1820799"/>
          </a:xfrm>
          <a:prstGeom prst="rect">
            <a:avLst/>
          </a:prstGeom>
        </p:spPr>
        <p:txBody>
          <a:bodyPr anchor="t" rtlCol="false" tIns="0" lIns="0" bIns="0" rIns="0">
            <a:spAutoFit/>
          </a:bodyPr>
          <a:lstStyle/>
          <a:p>
            <a:pPr algn="l">
              <a:lnSpc>
                <a:spcPts val="3182"/>
              </a:lnSpc>
            </a:pPr>
            <a:r>
              <a:rPr lang="en-US" sz="2340" spc="-57">
                <a:solidFill>
                  <a:srgbClr val="FFFFFF"/>
                </a:solidFill>
                <a:latin typeface="HK Grotesk"/>
                <a:ea typeface="HK Grotesk"/>
                <a:cs typeface="HK Grotesk"/>
                <a:sym typeface="HK Grotesk"/>
              </a:rPr>
              <a:t>Cooperatives serve more than 20 million members in Indonesia, yet most transactions still happen on paper. Mobile services promise lower costs and faster loans, but adoption is uneven.</a:t>
            </a:r>
          </a:p>
        </p:txBody>
      </p:sp>
      <p:sp>
        <p:nvSpPr>
          <p:cNvPr name="TextBox 10" id="10"/>
          <p:cNvSpPr txBox="true"/>
          <p:nvPr/>
        </p:nvSpPr>
        <p:spPr>
          <a:xfrm rot="0">
            <a:off x="5804756" y="1318450"/>
            <a:ext cx="11454544" cy="906399"/>
          </a:xfrm>
          <a:prstGeom prst="rect">
            <a:avLst/>
          </a:prstGeom>
        </p:spPr>
        <p:txBody>
          <a:bodyPr anchor="t" rtlCol="false" tIns="0" lIns="0" bIns="0" rIns="0">
            <a:spAutoFit/>
          </a:bodyPr>
          <a:lstStyle/>
          <a:p>
            <a:pPr algn="l">
              <a:lnSpc>
                <a:spcPts val="3182"/>
              </a:lnSpc>
            </a:pPr>
            <a:r>
              <a:rPr lang="en-US" sz="2340" i="true" spc="-57">
                <a:solidFill>
                  <a:srgbClr val="FFFFFF"/>
                </a:solidFill>
                <a:latin typeface="HK Grotesk Italics"/>
                <a:ea typeface="HK Grotesk Italics"/>
                <a:cs typeface="HK Grotesk Italics"/>
                <a:sym typeface="HK Grotesk Italics"/>
              </a:rPr>
              <a:t>This study asks why some village cooperatives adopt mobile services quickly while others do not, and what that means for member welfare.</a:t>
            </a:r>
          </a:p>
        </p:txBody>
      </p:sp>
      <p:sp>
        <p:nvSpPr>
          <p:cNvPr name="TextBox 11" id="11"/>
          <p:cNvSpPr txBox="true"/>
          <p:nvPr/>
        </p:nvSpPr>
        <p:spPr>
          <a:xfrm rot="0">
            <a:off x="1774048" y="6514650"/>
            <a:ext cx="8843436" cy="1820799"/>
          </a:xfrm>
          <a:prstGeom prst="rect">
            <a:avLst/>
          </a:prstGeom>
        </p:spPr>
        <p:txBody>
          <a:bodyPr anchor="t" rtlCol="false" tIns="0" lIns="0" bIns="0" rIns="0">
            <a:spAutoFit/>
          </a:bodyPr>
          <a:lstStyle/>
          <a:p>
            <a:pPr algn="l">
              <a:lnSpc>
                <a:spcPts val="3182"/>
              </a:lnSpc>
            </a:pPr>
            <a:r>
              <a:rPr lang="en-US" sz="2340" spc="-57">
                <a:solidFill>
                  <a:srgbClr val="FFFFFF"/>
                </a:solidFill>
                <a:latin typeface="HK Grotesk"/>
                <a:ea typeface="HK Grotesk"/>
                <a:cs typeface="HK Grotesk"/>
                <a:sym typeface="HK Grotesk"/>
              </a:rPr>
              <a:t>We propose a twelve-month mixed-methods study in North Sumatra that combines member interviews with a survey of 400 households.</a:t>
            </a:r>
          </a:p>
        </p:txBody>
      </p:sp>
      <p:grpSp>
        <p:nvGrpSpPr>
          <p:cNvPr name="Group 12" id="12"/>
          <p:cNvGrpSpPr/>
          <p:nvPr/>
        </p:nvGrpSpPr>
        <p:grpSpPr>
          <a:xfrm rot="0">
            <a:off x="11492840" y="3971141"/>
            <a:ext cx="4992890" cy="4717467"/>
            <a:chOff x="0" y="0"/>
            <a:chExt cx="798830" cy="754764"/>
          </a:xfrm>
        </p:grpSpPr>
        <p:sp>
          <p:nvSpPr>
            <p:cNvPr name="Freeform 13" id="13"/>
            <p:cNvSpPr/>
            <p:nvPr/>
          </p:nvSpPr>
          <p:spPr>
            <a:xfrm flipH="false" flipV="false" rot="0">
              <a:off x="0" y="0"/>
              <a:ext cx="798830" cy="754764"/>
            </a:xfrm>
            <a:custGeom>
              <a:avLst/>
              <a:gdLst/>
              <a:ahLst/>
              <a:cxnLst/>
              <a:rect r="r" b="b" t="t" l="l"/>
              <a:pathLst>
                <a:path h="754764" w="798830">
                  <a:moveTo>
                    <a:pt x="122497" y="0"/>
                  </a:moveTo>
                  <a:lnTo>
                    <a:pt x="676334" y="0"/>
                  </a:lnTo>
                  <a:cubicBezTo>
                    <a:pt x="708822" y="0"/>
                    <a:pt x="739979" y="12906"/>
                    <a:pt x="762952" y="35878"/>
                  </a:cubicBezTo>
                  <a:cubicBezTo>
                    <a:pt x="785924" y="58851"/>
                    <a:pt x="798830" y="90008"/>
                    <a:pt x="798830" y="122497"/>
                  </a:cubicBezTo>
                  <a:lnTo>
                    <a:pt x="798830" y="632268"/>
                  </a:lnTo>
                  <a:cubicBezTo>
                    <a:pt x="798830" y="699921"/>
                    <a:pt x="743987" y="754764"/>
                    <a:pt x="676334" y="754764"/>
                  </a:cubicBezTo>
                  <a:lnTo>
                    <a:pt x="122497" y="754764"/>
                  </a:lnTo>
                  <a:cubicBezTo>
                    <a:pt x="54844" y="754764"/>
                    <a:pt x="0" y="699921"/>
                    <a:pt x="0" y="632268"/>
                  </a:cubicBezTo>
                  <a:lnTo>
                    <a:pt x="0" y="122497"/>
                  </a:lnTo>
                  <a:cubicBezTo>
                    <a:pt x="0" y="54844"/>
                    <a:pt x="54844" y="0"/>
                    <a:pt x="122497" y="0"/>
                  </a:cubicBezTo>
                  <a:close/>
                </a:path>
              </a:pathLst>
            </a:custGeom>
            <a:blipFill>
              <a:blip r:embed="rId2"/>
              <a:stretch>
                <a:fillRect l="-20862" t="0" r="-20862" b="0"/>
              </a:stretch>
            </a:blipFill>
          </p:spPr>
        </p:sp>
      </p:gr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828681" y="873766"/>
            <a:ext cx="838118" cy="83811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grpSp>
        <p:nvGrpSpPr>
          <p:cNvPr name="Group 5" id="5"/>
          <p:cNvGrpSpPr/>
          <p:nvPr/>
        </p:nvGrpSpPr>
        <p:grpSpPr>
          <a:xfrm rot="0">
            <a:off x="9417046" y="4405324"/>
            <a:ext cx="838118" cy="83811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7" id="7"/>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grpSp>
        <p:nvGrpSpPr>
          <p:cNvPr name="Group 8" id="8"/>
          <p:cNvGrpSpPr/>
          <p:nvPr/>
        </p:nvGrpSpPr>
        <p:grpSpPr>
          <a:xfrm rot="0">
            <a:off x="828681" y="2123387"/>
            <a:ext cx="838118" cy="83811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10" id="10"/>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grpSp>
        <p:nvGrpSpPr>
          <p:cNvPr name="Group 11" id="11"/>
          <p:cNvGrpSpPr/>
          <p:nvPr/>
        </p:nvGrpSpPr>
        <p:grpSpPr>
          <a:xfrm rot="0">
            <a:off x="9417046" y="5654944"/>
            <a:ext cx="838118" cy="838118"/>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13" id="13"/>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grpSp>
        <p:nvGrpSpPr>
          <p:cNvPr name="Group 14" id="14"/>
          <p:cNvGrpSpPr/>
          <p:nvPr/>
        </p:nvGrpSpPr>
        <p:grpSpPr>
          <a:xfrm rot="0">
            <a:off x="1028700" y="1028700"/>
            <a:ext cx="7597481" cy="983513"/>
            <a:chOff x="0" y="0"/>
            <a:chExt cx="2000983" cy="259032"/>
          </a:xfrm>
        </p:grpSpPr>
        <p:sp>
          <p:nvSpPr>
            <p:cNvPr name="Freeform 15" id="15"/>
            <p:cNvSpPr/>
            <p:nvPr/>
          </p:nvSpPr>
          <p:spPr>
            <a:xfrm flipH="false" flipV="false" rot="0">
              <a:off x="0" y="0"/>
              <a:ext cx="2000983" cy="259032"/>
            </a:xfrm>
            <a:custGeom>
              <a:avLst/>
              <a:gdLst/>
              <a:ahLst/>
              <a:cxnLst/>
              <a:rect r="r" b="b" t="t" l="l"/>
              <a:pathLst>
                <a:path h="259032" w="2000983">
                  <a:moveTo>
                    <a:pt x="101901" y="0"/>
                  </a:moveTo>
                  <a:lnTo>
                    <a:pt x="1899081" y="0"/>
                  </a:lnTo>
                  <a:cubicBezTo>
                    <a:pt x="1955360" y="0"/>
                    <a:pt x="2000983" y="45623"/>
                    <a:pt x="2000983" y="101901"/>
                  </a:cubicBezTo>
                  <a:lnTo>
                    <a:pt x="2000983" y="157131"/>
                  </a:lnTo>
                  <a:cubicBezTo>
                    <a:pt x="2000983" y="213410"/>
                    <a:pt x="1955360" y="259032"/>
                    <a:pt x="1899081" y="259032"/>
                  </a:cubicBezTo>
                  <a:lnTo>
                    <a:pt x="101901" y="259032"/>
                  </a:lnTo>
                  <a:cubicBezTo>
                    <a:pt x="45623" y="259032"/>
                    <a:pt x="0" y="213410"/>
                    <a:pt x="0" y="157131"/>
                  </a:cubicBezTo>
                  <a:lnTo>
                    <a:pt x="0" y="101901"/>
                  </a:lnTo>
                  <a:cubicBezTo>
                    <a:pt x="0" y="45623"/>
                    <a:pt x="45623" y="0"/>
                    <a:pt x="101901"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16" id="16"/>
            <p:cNvSpPr txBox="true"/>
            <p:nvPr/>
          </p:nvSpPr>
          <p:spPr>
            <a:xfrm>
              <a:off x="0" y="0"/>
              <a:ext cx="2000983" cy="259032"/>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17" id="17"/>
          <p:cNvGrpSpPr/>
          <p:nvPr/>
        </p:nvGrpSpPr>
        <p:grpSpPr>
          <a:xfrm rot="0">
            <a:off x="9661819" y="4525926"/>
            <a:ext cx="7597481" cy="983513"/>
            <a:chOff x="0" y="0"/>
            <a:chExt cx="2000983" cy="259032"/>
          </a:xfrm>
        </p:grpSpPr>
        <p:sp>
          <p:nvSpPr>
            <p:cNvPr name="Freeform 18" id="18"/>
            <p:cNvSpPr/>
            <p:nvPr/>
          </p:nvSpPr>
          <p:spPr>
            <a:xfrm flipH="false" flipV="false" rot="0">
              <a:off x="0" y="0"/>
              <a:ext cx="2000983" cy="259032"/>
            </a:xfrm>
            <a:custGeom>
              <a:avLst/>
              <a:gdLst/>
              <a:ahLst/>
              <a:cxnLst/>
              <a:rect r="r" b="b" t="t" l="l"/>
              <a:pathLst>
                <a:path h="259032" w="2000983">
                  <a:moveTo>
                    <a:pt x="101901" y="0"/>
                  </a:moveTo>
                  <a:lnTo>
                    <a:pt x="1899081" y="0"/>
                  </a:lnTo>
                  <a:cubicBezTo>
                    <a:pt x="1955360" y="0"/>
                    <a:pt x="2000983" y="45623"/>
                    <a:pt x="2000983" y="101901"/>
                  </a:cubicBezTo>
                  <a:lnTo>
                    <a:pt x="2000983" y="157131"/>
                  </a:lnTo>
                  <a:cubicBezTo>
                    <a:pt x="2000983" y="213410"/>
                    <a:pt x="1955360" y="259032"/>
                    <a:pt x="1899081" y="259032"/>
                  </a:cubicBezTo>
                  <a:lnTo>
                    <a:pt x="101901" y="259032"/>
                  </a:lnTo>
                  <a:cubicBezTo>
                    <a:pt x="45623" y="259032"/>
                    <a:pt x="0" y="213410"/>
                    <a:pt x="0" y="157131"/>
                  </a:cubicBezTo>
                  <a:lnTo>
                    <a:pt x="0" y="101901"/>
                  </a:lnTo>
                  <a:cubicBezTo>
                    <a:pt x="0" y="45623"/>
                    <a:pt x="45623" y="0"/>
                    <a:pt x="101901"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19" id="19"/>
            <p:cNvSpPr txBox="true"/>
            <p:nvPr/>
          </p:nvSpPr>
          <p:spPr>
            <a:xfrm>
              <a:off x="0" y="0"/>
              <a:ext cx="2000983" cy="259032"/>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20" id="20"/>
          <p:cNvGrpSpPr/>
          <p:nvPr/>
        </p:nvGrpSpPr>
        <p:grpSpPr>
          <a:xfrm rot="0">
            <a:off x="1028700" y="2278320"/>
            <a:ext cx="7597481" cy="983513"/>
            <a:chOff x="0" y="0"/>
            <a:chExt cx="2000983" cy="259032"/>
          </a:xfrm>
        </p:grpSpPr>
        <p:sp>
          <p:nvSpPr>
            <p:cNvPr name="Freeform 21" id="21"/>
            <p:cNvSpPr/>
            <p:nvPr/>
          </p:nvSpPr>
          <p:spPr>
            <a:xfrm flipH="false" flipV="false" rot="0">
              <a:off x="0" y="0"/>
              <a:ext cx="2000983" cy="259032"/>
            </a:xfrm>
            <a:custGeom>
              <a:avLst/>
              <a:gdLst/>
              <a:ahLst/>
              <a:cxnLst/>
              <a:rect r="r" b="b" t="t" l="l"/>
              <a:pathLst>
                <a:path h="259032" w="2000983">
                  <a:moveTo>
                    <a:pt x="101901" y="0"/>
                  </a:moveTo>
                  <a:lnTo>
                    <a:pt x="1899081" y="0"/>
                  </a:lnTo>
                  <a:cubicBezTo>
                    <a:pt x="1955360" y="0"/>
                    <a:pt x="2000983" y="45623"/>
                    <a:pt x="2000983" y="101901"/>
                  </a:cubicBezTo>
                  <a:lnTo>
                    <a:pt x="2000983" y="157131"/>
                  </a:lnTo>
                  <a:cubicBezTo>
                    <a:pt x="2000983" y="213410"/>
                    <a:pt x="1955360" y="259032"/>
                    <a:pt x="1899081" y="259032"/>
                  </a:cubicBezTo>
                  <a:lnTo>
                    <a:pt x="101901" y="259032"/>
                  </a:lnTo>
                  <a:cubicBezTo>
                    <a:pt x="45623" y="259032"/>
                    <a:pt x="0" y="213410"/>
                    <a:pt x="0" y="157131"/>
                  </a:cubicBezTo>
                  <a:lnTo>
                    <a:pt x="0" y="101901"/>
                  </a:lnTo>
                  <a:cubicBezTo>
                    <a:pt x="0" y="45623"/>
                    <a:pt x="45623" y="0"/>
                    <a:pt x="101901" y="0"/>
                  </a:cubicBezTo>
                  <a:close/>
                </a:path>
              </a:pathLst>
            </a:custGeom>
            <a:solidFill>
              <a:srgbClr val="FFFFFF"/>
            </a:soli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22" id="22"/>
            <p:cNvSpPr txBox="true"/>
            <p:nvPr/>
          </p:nvSpPr>
          <p:spPr>
            <a:xfrm>
              <a:off x="0" y="0"/>
              <a:ext cx="2000983" cy="259032"/>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23" id="23"/>
          <p:cNvGrpSpPr/>
          <p:nvPr/>
        </p:nvGrpSpPr>
        <p:grpSpPr>
          <a:xfrm rot="0">
            <a:off x="9661819" y="5775546"/>
            <a:ext cx="7597481" cy="983513"/>
            <a:chOff x="0" y="0"/>
            <a:chExt cx="2000983" cy="259032"/>
          </a:xfrm>
        </p:grpSpPr>
        <p:sp>
          <p:nvSpPr>
            <p:cNvPr name="Freeform 24" id="24"/>
            <p:cNvSpPr/>
            <p:nvPr/>
          </p:nvSpPr>
          <p:spPr>
            <a:xfrm flipH="false" flipV="false" rot="0">
              <a:off x="0" y="0"/>
              <a:ext cx="2000983" cy="259032"/>
            </a:xfrm>
            <a:custGeom>
              <a:avLst/>
              <a:gdLst/>
              <a:ahLst/>
              <a:cxnLst/>
              <a:rect r="r" b="b" t="t" l="l"/>
              <a:pathLst>
                <a:path h="259032" w="2000983">
                  <a:moveTo>
                    <a:pt x="101901" y="0"/>
                  </a:moveTo>
                  <a:lnTo>
                    <a:pt x="1899081" y="0"/>
                  </a:lnTo>
                  <a:cubicBezTo>
                    <a:pt x="1955360" y="0"/>
                    <a:pt x="2000983" y="45623"/>
                    <a:pt x="2000983" y="101901"/>
                  </a:cubicBezTo>
                  <a:lnTo>
                    <a:pt x="2000983" y="157131"/>
                  </a:lnTo>
                  <a:cubicBezTo>
                    <a:pt x="2000983" y="213410"/>
                    <a:pt x="1955360" y="259032"/>
                    <a:pt x="1899081" y="259032"/>
                  </a:cubicBezTo>
                  <a:lnTo>
                    <a:pt x="101901" y="259032"/>
                  </a:lnTo>
                  <a:cubicBezTo>
                    <a:pt x="45623" y="259032"/>
                    <a:pt x="0" y="213410"/>
                    <a:pt x="0" y="157131"/>
                  </a:cubicBezTo>
                  <a:lnTo>
                    <a:pt x="0" y="101901"/>
                  </a:lnTo>
                  <a:cubicBezTo>
                    <a:pt x="0" y="45623"/>
                    <a:pt x="45623" y="0"/>
                    <a:pt x="101901"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25" id="25"/>
            <p:cNvSpPr txBox="true"/>
            <p:nvPr/>
          </p:nvSpPr>
          <p:spPr>
            <a:xfrm>
              <a:off x="0" y="0"/>
              <a:ext cx="2000983" cy="259032"/>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26" id="26"/>
          <p:cNvGrpSpPr/>
          <p:nvPr/>
        </p:nvGrpSpPr>
        <p:grpSpPr>
          <a:xfrm rot="0">
            <a:off x="828681" y="3373007"/>
            <a:ext cx="838118" cy="838118"/>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28" id="28"/>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grpSp>
        <p:nvGrpSpPr>
          <p:cNvPr name="Group 29" id="29"/>
          <p:cNvGrpSpPr/>
          <p:nvPr/>
        </p:nvGrpSpPr>
        <p:grpSpPr>
          <a:xfrm rot="0">
            <a:off x="9417046" y="6904564"/>
            <a:ext cx="838118" cy="838118"/>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31" id="31"/>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grpSp>
        <p:nvGrpSpPr>
          <p:cNvPr name="Group 32" id="32"/>
          <p:cNvGrpSpPr/>
          <p:nvPr/>
        </p:nvGrpSpPr>
        <p:grpSpPr>
          <a:xfrm rot="0">
            <a:off x="1028700" y="3527941"/>
            <a:ext cx="7597481" cy="983513"/>
            <a:chOff x="0" y="0"/>
            <a:chExt cx="2000983" cy="259032"/>
          </a:xfrm>
        </p:grpSpPr>
        <p:sp>
          <p:nvSpPr>
            <p:cNvPr name="Freeform 33" id="33"/>
            <p:cNvSpPr/>
            <p:nvPr/>
          </p:nvSpPr>
          <p:spPr>
            <a:xfrm flipH="false" flipV="false" rot="0">
              <a:off x="0" y="0"/>
              <a:ext cx="2000983" cy="259032"/>
            </a:xfrm>
            <a:custGeom>
              <a:avLst/>
              <a:gdLst/>
              <a:ahLst/>
              <a:cxnLst/>
              <a:rect r="r" b="b" t="t" l="l"/>
              <a:pathLst>
                <a:path h="259032" w="2000983">
                  <a:moveTo>
                    <a:pt x="101901" y="0"/>
                  </a:moveTo>
                  <a:lnTo>
                    <a:pt x="1899081" y="0"/>
                  </a:lnTo>
                  <a:cubicBezTo>
                    <a:pt x="1955360" y="0"/>
                    <a:pt x="2000983" y="45623"/>
                    <a:pt x="2000983" y="101901"/>
                  </a:cubicBezTo>
                  <a:lnTo>
                    <a:pt x="2000983" y="157131"/>
                  </a:lnTo>
                  <a:cubicBezTo>
                    <a:pt x="2000983" y="213410"/>
                    <a:pt x="1955360" y="259032"/>
                    <a:pt x="1899081" y="259032"/>
                  </a:cubicBezTo>
                  <a:lnTo>
                    <a:pt x="101901" y="259032"/>
                  </a:lnTo>
                  <a:cubicBezTo>
                    <a:pt x="45623" y="259032"/>
                    <a:pt x="0" y="213410"/>
                    <a:pt x="0" y="157131"/>
                  </a:cubicBezTo>
                  <a:lnTo>
                    <a:pt x="0" y="101901"/>
                  </a:lnTo>
                  <a:cubicBezTo>
                    <a:pt x="0" y="45623"/>
                    <a:pt x="45623" y="0"/>
                    <a:pt x="101901"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34" id="34"/>
            <p:cNvSpPr txBox="true"/>
            <p:nvPr/>
          </p:nvSpPr>
          <p:spPr>
            <a:xfrm>
              <a:off x="0" y="0"/>
              <a:ext cx="2000983" cy="259032"/>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35" id="35"/>
          <p:cNvGrpSpPr/>
          <p:nvPr/>
        </p:nvGrpSpPr>
        <p:grpSpPr>
          <a:xfrm rot="0">
            <a:off x="9661819" y="7025167"/>
            <a:ext cx="7597481" cy="983513"/>
            <a:chOff x="0" y="0"/>
            <a:chExt cx="2000983" cy="259032"/>
          </a:xfrm>
        </p:grpSpPr>
        <p:sp>
          <p:nvSpPr>
            <p:cNvPr name="Freeform 36" id="36"/>
            <p:cNvSpPr/>
            <p:nvPr/>
          </p:nvSpPr>
          <p:spPr>
            <a:xfrm flipH="false" flipV="false" rot="0">
              <a:off x="0" y="0"/>
              <a:ext cx="2000983" cy="259032"/>
            </a:xfrm>
            <a:custGeom>
              <a:avLst/>
              <a:gdLst/>
              <a:ahLst/>
              <a:cxnLst/>
              <a:rect r="r" b="b" t="t" l="l"/>
              <a:pathLst>
                <a:path h="259032" w="2000983">
                  <a:moveTo>
                    <a:pt x="101901" y="0"/>
                  </a:moveTo>
                  <a:lnTo>
                    <a:pt x="1899081" y="0"/>
                  </a:lnTo>
                  <a:cubicBezTo>
                    <a:pt x="1955360" y="0"/>
                    <a:pt x="2000983" y="45623"/>
                    <a:pt x="2000983" y="101901"/>
                  </a:cubicBezTo>
                  <a:lnTo>
                    <a:pt x="2000983" y="157131"/>
                  </a:lnTo>
                  <a:cubicBezTo>
                    <a:pt x="2000983" y="213410"/>
                    <a:pt x="1955360" y="259032"/>
                    <a:pt x="1899081" y="259032"/>
                  </a:cubicBezTo>
                  <a:lnTo>
                    <a:pt x="101901" y="259032"/>
                  </a:lnTo>
                  <a:cubicBezTo>
                    <a:pt x="45623" y="259032"/>
                    <a:pt x="0" y="213410"/>
                    <a:pt x="0" y="157131"/>
                  </a:cubicBezTo>
                  <a:lnTo>
                    <a:pt x="0" y="101901"/>
                  </a:lnTo>
                  <a:cubicBezTo>
                    <a:pt x="0" y="45623"/>
                    <a:pt x="45623" y="0"/>
                    <a:pt x="101901"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37" id="37"/>
            <p:cNvSpPr txBox="true"/>
            <p:nvPr/>
          </p:nvSpPr>
          <p:spPr>
            <a:xfrm>
              <a:off x="0" y="0"/>
              <a:ext cx="2000983" cy="259032"/>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38" id="38"/>
          <p:cNvGrpSpPr/>
          <p:nvPr/>
        </p:nvGrpSpPr>
        <p:grpSpPr>
          <a:xfrm rot="0">
            <a:off x="828681" y="4622627"/>
            <a:ext cx="838118" cy="838118"/>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40" id="40"/>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grpSp>
        <p:nvGrpSpPr>
          <p:cNvPr name="Group 41" id="41"/>
          <p:cNvGrpSpPr/>
          <p:nvPr/>
        </p:nvGrpSpPr>
        <p:grpSpPr>
          <a:xfrm rot="0">
            <a:off x="9417046" y="8154184"/>
            <a:ext cx="838118" cy="838118"/>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43" id="43"/>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grpSp>
        <p:nvGrpSpPr>
          <p:cNvPr name="Group 44" id="44"/>
          <p:cNvGrpSpPr/>
          <p:nvPr/>
        </p:nvGrpSpPr>
        <p:grpSpPr>
          <a:xfrm rot="0">
            <a:off x="1028700" y="4777561"/>
            <a:ext cx="7597481" cy="983513"/>
            <a:chOff x="0" y="0"/>
            <a:chExt cx="2000983" cy="259032"/>
          </a:xfrm>
        </p:grpSpPr>
        <p:sp>
          <p:nvSpPr>
            <p:cNvPr name="Freeform 45" id="45"/>
            <p:cNvSpPr/>
            <p:nvPr/>
          </p:nvSpPr>
          <p:spPr>
            <a:xfrm flipH="false" flipV="false" rot="0">
              <a:off x="0" y="0"/>
              <a:ext cx="2000983" cy="259032"/>
            </a:xfrm>
            <a:custGeom>
              <a:avLst/>
              <a:gdLst/>
              <a:ahLst/>
              <a:cxnLst/>
              <a:rect r="r" b="b" t="t" l="l"/>
              <a:pathLst>
                <a:path h="259032" w="2000983">
                  <a:moveTo>
                    <a:pt x="101901" y="0"/>
                  </a:moveTo>
                  <a:lnTo>
                    <a:pt x="1899081" y="0"/>
                  </a:lnTo>
                  <a:cubicBezTo>
                    <a:pt x="1955360" y="0"/>
                    <a:pt x="2000983" y="45623"/>
                    <a:pt x="2000983" y="101901"/>
                  </a:cubicBezTo>
                  <a:lnTo>
                    <a:pt x="2000983" y="157131"/>
                  </a:lnTo>
                  <a:cubicBezTo>
                    <a:pt x="2000983" y="213410"/>
                    <a:pt x="1955360" y="259032"/>
                    <a:pt x="1899081" y="259032"/>
                  </a:cubicBezTo>
                  <a:lnTo>
                    <a:pt x="101901" y="259032"/>
                  </a:lnTo>
                  <a:cubicBezTo>
                    <a:pt x="45623" y="259032"/>
                    <a:pt x="0" y="213410"/>
                    <a:pt x="0" y="157131"/>
                  </a:cubicBezTo>
                  <a:lnTo>
                    <a:pt x="0" y="101901"/>
                  </a:lnTo>
                  <a:cubicBezTo>
                    <a:pt x="0" y="45623"/>
                    <a:pt x="45623" y="0"/>
                    <a:pt x="101901"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46" id="46"/>
            <p:cNvSpPr txBox="true"/>
            <p:nvPr/>
          </p:nvSpPr>
          <p:spPr>
            <a:xfrm>
              <a:off x="0" y="0"/>
              <a:ext cx="2000983" cy="259032"/>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47" id="47"/>
          <p:cNvGrpSpPr/>
          <p:nvPr/>
        </p:nvGrpSpPr>
        <p:grpSpPr>
          <a:xfrm rot="0">
            <a:off x="9661819" y="8274787"/>
            <a:ext cx="7597481" cy="983513"/>
            <a:chOff x="0" y="0"/>
            <a:chExt cx="2000983" cy="259032"/>
          </a:xfrm>
        </p:grpSpPr>
        <p:sp>
          <p:nvSpPr>
            <p:cNvPr name="Freeform 48" id="48"/>
            <p:cNvSpPr/>
            <p:nvPr/>
          </p:nvSpPr>
          <p:spPr>
            <a:xfrm flipH="false" flipV="false" rot="0">
              <a:off x="0" y="0"/>
              <a:ext cx="2000983" cy="259032"/>
            </a:xfrm>
            <a:custGeom>
              <a:avLst/>
              <a:gdLst/>
              <a:ahLst/>
              <a:cxnLst/>
              <a:rect r="r" b="b" t="t" l="l"/>
              <a:pathLst>
                <a:path h="259032" w="2000983">
                  <a:moveTo>
                    <a:pt x="101901" y="0"/>
                  </a:moveTo>
                  <a:lnTo>
                    <a:pt x="1899081" y="0"/>
                  </a:lnTo>
                  <a:cubicBezTo>
                    <a:pt x="1955360" y="0"/>
                    <a:pt x="2000983" y="45623"/>
                    <a:pt x="2000983" y="101901"/>
                  </a:cubicBezTo>
                  <a:lnTo>
                    <a:pt x="2000983" y="157131"/>
                  </a:lnTo>
                  <a:cubicBezTo>
                    <a:pt x="2000983" y="213410"/>
                    <a:pt x="1955360" y="259032"/>
                    <a:pt x="1899081" y="259032"/>
                  </a:cubicBezTo>
                  <a:lnTo>
                    <a:pt x="101901" y="259032"/>
                  </a:lnTo>
                  <a:cubicBezTo>
                    <a:pt x="45623" y="259032"/>
                    <a:pt x="0" y="213410"/>
                    <a:pt x="0" y="157131"/>
                  </a:cubicBezTo>
                  <a:lnTo>
                    <a:pt x="0" y="101901"/>
                  </a:lnTo>
                  <a:cubicBezTo>
                    <a:pt x="0" y="45623"/>
                    <a:pt x="45623" y="0"/>
                    <a:pt x="101901" y="0"/>
                  </a:cubicBezTo>
                  <a:close/>
                </a:path>
              </a:pathLst>
            </a:custGeom>
            <a:solidFill>
              <a:srgbClr val="FFFFFF"/>
            </a:soli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49" id="49"/>
            <p:cNvSpPr txBox="true"/>
            <p:nvPr/>
          </p:nvSpPr>
          <p:spPr>
            <a:xfrm>
              <a:off x="0" y="0"/>
              <a:ext cx="2000983" cy="259032"/>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50" id="50"/>
          <p:cNvGrpSpPr/>
          <p:nvPr/>
        </p:nvGrpSpPr>
        <p:grpSpPr>
          <a:xfrm rot="0">
            <a:off x="279200" y="6561282"/>
            <a:ext cx="2155619" cy="2155619"/>
            <a:chOff x="0" y="0"/>
            <a:chExt cx="812800" cy="812800"/>
          </a:xfrm>
        </p:grpSpPr>
        <p:sp>
          <p:nvSpPr>
            <p:cNvPr name="Freeform 51" id="5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52" id="52"/>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53" id="53"/>
          <p:cNvSpPr txBox="true"/>
          <p:nvPr/>
        </p:nvSpPr>
        <p:spPr>
          <a:xfrm rot="0">
            <a:off x="1028700" y="7095869"/>
            <a:ext cx="7597481" cy="1142873"/>
          </a:xfrm>
          <a:prstGeom prst="rect">
            <a:avLst/>
          </a:prstGeom>
        </p:spPr>
        <p:txBody>
          <a:bodyPr anchor="t" rtlCol="false" tIns="0" lIns="0" bIns="0" rIns="0">
            <a:spAutoFit/>
          </a:bodyPr>
          <a:lstStyle/>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Agenda</a:t>
            </a:r>
          </a:p>
        </p:txBody>
      </p:sp>
      <p:sp>
        <p:nvSpPr>
          <p:cNvPr name="TextBox 54" id="54"/>
          <p:cNvSpPr txBox="true"/>
          <p:nvPr/>
        </p:nvSpPr>
        <p:spPr>
          <a:xfrm rot="0">
            <a:off x="1622044" y="1274103"/>
            <a:ext cx="1110568" cy="540333"/>
          </a:xfrm>
          <a:prstGeom prst="rect">
            <a:avLst/>
          </a:prstGeom>
        </p:spPr>
        <p:txBody>
          <a:bodyPr anchor="t" rtlCol="false" tIns="0" lIns="0" bIns="0" rIns="0">
            <a:spAutoFit/>
          </a:bodyPr>
          <a:lstStyle/>
          <a:p>
            <a:pPr algn="ctr">
              <a:lnSpc>
                <a:spcPts val="4057"/>
              </a:lnSpc>
            </a:pPr>
            <a:r>
              <a:rPr lang="en-US" b="true" sz="3863" spc="-204">
                <a:solidFill>
                  <a:srgbClr val="FFFFFF"/>
                </a:solidFill>
                <a:latin typeface="HK Grotesk Bold"/>
                <a:ea typeface="HK Grotesk Bold"/>
                <a:cs typeface="HK Grotesk Bold"/>
                <a:sym typeface="HK Grotesk Bold"/>
              </a:rPr>
              <a:t>01</a:t>
            </a:r>
          </a:p>
        </p:txBody>
      </p:sp>
      <p:sp>
        <p:nvSpPr>
          <p:cNvPr name="TextBox 55" id="55"/>
          <p:cNvSpPr txBox="true"/>
          <p:nvPr/>
        </p:nvSpPr>
        <p:spPr>
          <a:xfrm rot="0">
            <a:off x="10255164" y="4771329"/>
            <a:ext cx="1110568" cy="540333"/>
          </a:xfrm>
          <a:prstGeom prst="rect">
            <a:avLst/>
          </a:prstGeom>
        </p:spPr>
        <p:txBody>
          <a:bodyPr anchor="t" rtlCol="false" tIns="0" lIns="0" bIns="0" rIns="0">
            <a:spAutoFit/>
          </a:bodyPr>
          <a:lstStyle/>
          <a:p>
            <a:pPr algn="ctr">
              <a:lnSpc>
                <a:spcPts val="4057"/>
              </a:lnSpc>
            </a:pPr>
            <a:r>
              <a:rPr lang="en-US" b="true" sz="3863" spc="-204">
                <a:solidFill>
                  <a:srgbClr val="FFFFFF"/>
                </a:solidFill>
                <a:latin typeface="HK Grotesk Bold"/>
                <a:ea typeface="HK Grotesk Bold"/>
                <a:cs typeface="HK Grotesk Bold"/>
                <a:sym typeface="HK Grotesk Bold"/>
              </a:rPr>
              <a:t>05</a:t>
            </a:r>
          </a:p>
        </p:txBody>
      </p:sp>
      <p:sp>
        <p:nvSpPr>
          <p:cNvPr name="TextBox 56" id="56"/>
          <p:cNvSpPr txBox="true"/>
          <p:nvPr/>
        </p:nvSpPr>
        <p:spPr>
          <a:xfrm rot="0">
            <a:off x="1622044" y="2523723"/>
            <a:ext cx="1110568" cy="540333"/>
          </a:xfrm>
          <a:prstGeom prst="rect">
            <a:avLst/>
          </a:prstGeom>
        </p:spPr>
        <p:txBody>
          <a:bodyPr anchor="t" rtlCol="false" tIns="0" lIns="0" bIns="0" rIns="0">
            <a:spAutoFit/>
          </a:bodyPr>
          <a:lstStyle/>
          <a:p>
            <a:pPr algn="ctr">
              <a:lnSpc>
                <a:spcPts val="4057"/>
              </a:lnSpc>
            </a:pPr>
            <a:r>
              <a:rPr lang="en-US" b="true" sz="3863" spc="-204">
                <a:solidFill>
                  <a:srgbClr val="000000"/>
                </a:solidFill>
                <a:latin typeface="HK Grotesk Bold"/>
                <a:ea typeface="HK Grotesk Bold"/>
                <a:cs typeface="HK Grotesk Bold"/>
                <a:sym typeface="HK Grotesk Bold"/>
              </a:rPr>
              <a:t>02</a:t>
            </a:r>
          </a:p>
        </p:txBody>
      </p:sp>
      <p:sp>
        <p:nvSpPr>
          <p:cNvPr name="TextBox 57" id="57"/>
          <p:cNvSpPr txBox="true"/>
          <p:nvPr/>
        </p:nvSpPr>
        <p:spPr>
          <a:xfrm rot="0">
            <a:off x="10255164" y="6020949"/>
            <a:ext cx="1110568" cy="540333"/>
          </a:xfrm>
          <a:prstGeom prst="rect">
            <a:avLst/>
          </a:prstGeom>
        </p:spPr>
        <p:txBody>
          <a:bodyPr anchor="t" rtlCol="false" tIns="0" lIns="0" bIns="0" rIns="0">
            <a:spAutoFit/>
          </a:bodyPr>
          <a:lstStyle/>
          <a:p>
            <a:pPr algn="ctr">
              <a:lnSpc>
                <a:spcPts val="4057"/>
              </a:lnSpc>
            </a:pPr>
            <a:r>
              <a:rPr lang="en-US" b="true" sz="3863" spc="-204">
                <a:solidFill>
                  <a:srgbClr val="FFFFFF"/>
                </a:solidFill>
                <a:latin typeface="HK Grotesk Bold"/>
                <a:ea typeface="HK Grotesk Bold"/>
                <a:cs typeface="HK Grotesk Bold"/>
                <a:sym typeface="HK Grotesk Bold"/>
              </a:rPr>
              <a:t>06</a:t>
            </a:r>
          </a:p>
        </p:txBody>
      </p:sp>
      <p:sp>
        <p:nvSpPr>
          <p:cNvPr name="TextBox 58" id="58"/>
          <p:cNvSpPr txBox="true"/>
          <p:nvPr/>
        </p:nvSpPr>
        <p:spPr>
          <a:xfrm rot="0">
            <a:off x="2926561" y="1273775"/>
            <a:ext cx="4742252" cy="472440"/>
          </a:xfrm>
          <a:prstGeom prst="rect">
            <a:avLst/>
          </a:prstGeom>
        </p:spPr>
        <p:txBody>
          <a:bodyPr anchor="t" rtlCol="false" tIns="0" lIns="0" bIns="0" rIns="0">
            <a:spAutoFit/>
          </a:bodyPr>
          <a:lstStyle/>
          <a:p>
            <a:pPr algn="l">
              <a:lnSpc>
                <a:spcPts val="3779"/>
              </a:lnSpc>
            </a:pPr>
            <a:r>
              <a:rPr lang="en-US" sz="3000" spc="-3">
                <a:solidFill>
                  <a:srgbClr val="FFFFFF"/>
                </a:solidFill>
                <a:latin typeface="HK Grotesk"/>
                <a:ea typeface="HK Grotesk"/>
                <a:cs typeface="HK Grotesk"/>
                <a:sym typeface="HK Grotesk"/>
              </a:rPr>
              <a:t>Background of the Study</a:t>
            </a:r>
          </a:p>
        </p:txBody>
      </p:sp>
      <p:sp>
        <p:nvSpPr>
          <p:cNvPr name="TextBox 59" id="59"/>
          <p:cNvSpPr txBox="true"/>
          <p:nvPr/>
        </p:nvSpPr>
        <p:spPr>
          <a:xfrm rot="0">
            <a:off x="11559681" y="4771001"/>
            <a:ext cx="4742252" cy="472440"/>
          </a:xfrm>
          <a:prstGeom prst="rect">
            <a:avLst/>
          </a:prstGeom>
        </p:spPr>
        <p:txBody>
          <a:bodyPr anchor="t" rtlCol="false" tIns="0" lIns="0" bIns="0" rIns="0">
            <a:spAutoFit/>
          </a:bodyPr>
          <a:lstStyle/>
          <a:p>
            <a:pPr algn="l">
              <a:lnSpc>
                <a:spcPts val="3779"/>
              </a:lnSpc>
            </a:pPr>
            <a:r>
              <a:rPr lang="en-US" sz="3000" spc="-3">
                <a:solidFill>
                  <a:srgbClr val="FFFFFF"/>
                </a:solidFill>
                <a:latin typeface="HK Grotesk"/>
                <a:ea typeface="HK Grotesk"/>
                <a:cs typeface="HK Grotesk"/>
                <a:sym typeface="HK Grotesk"/>
              </a:rPr>
              <a:t>Qualitative Data</a:t>
            </a:r>
          </a:p>
        </p:txBody>
      </p:sp>
      <p:sp>
        <p:nvSpPr>
          <p:cNvPr name="TextBox 60" id="60"/>
          <p:cNvSpPr txBox="true"/>
          <p:nvPr/>
        </p:nvSpPr>
        <p:spPr>
          <a:xfrm rot="0">
            <a:off x="2926561" y="2523396"/>
            <a:ext cx="4742252" cy="472440"/>
          </a:xfrm>
          <a:prstGeom prst="rect">
            <a:avLst/>
          </a:prstGeom>
        </p:spPr>
        <p:txBody>
          <a:bodyPr anchor="t" rtlCol="false" tIns="0" lIns="0" bIns="0" rIns="0">
            <a:spAutoFit/>
          </a:bodyPr>
          <a:lstStyle/>
          <a:p>
            <a:pPr algn="l">
              <a:lnSpc>
                <a:spcPts val="3779"/>
              </a:lnSpc>
            </a:pPr>
            <a:r>
              <a:rPr lang="en-US" sz="3000" spc="-3">
                <a:solidFill>
                  <a:srgbClr val="000000"/>
                </a:solidFill>
                <a:latin typeface="HK Grotesk"/>
                <a:ea typeface="HK Grotesk"/>
                <a:cs typeface="HK Grotesk"/>
                <a:sym typeface="HK Grotesk"/>
              </a:rPr>
              <a:t>Problem Statement</a:t>
            </a:r>
          </a:p>
        </p:txBody>
      </p:sp>
      <p:sp>
        <p:nvSpPr>
          <p:cNvPr name="TextBox 61" id="61"/>
          <p:cNvSpPr txBox="true"/>
          <p:nvPr/>
        </p:nvSpPr>
        <p:spPr>
          <a:xfrm rot="0">
            <a:off x="11559681" y="6020622"/>
            <a:ext cx="4742252" cy="472440"/>
          </a:xfrm>
          <a:prstGeom prst="rect">
            <a:avLst/>
          </a:prstGeom>
        </p:spPr>
        <p:txBody>
          <a:bodyPr anchor="t" rtlCol="false" tIns="0" lIns="0" bIns="0" rIns="0">
            <a:spAutoFit/>
          </a:bodyPr>
          <a:lstStyle/>
          <a:p>
            <a:pPr algn="l">
              <a:lnSpc>
                <a:spcPts val="3779"/>
              </a:lnSpc>
            </a:pPr>
            <a:r>
              <a:rPr lang="en-US" sz="3000" spc="-3">
                <a:solidFill>
                  <a:srgbClr val="FFFFFF"/>
                </a:solidFill>
                <a:latin typeface="HK Grotesk"/>
                <a:ea typeface="HK Grotesk"/>
                <a:cs typeface="HK Grotesk"/>
                <a:sym typeface="HK Grotesk"/>
              </a:rPr>
              <a:t>Quantitative Data</a:t>
            </a:r>
          </a:p>
        </p:txBody>
      </p:sp>
      <p:sp>
        <p:nvSpPr>
          <p:cNvPr name="TextBox 62" id="62"/>
          <p:cNvSpPr txBox="true"/>
          <p:nvPr/>
        </p:nvSpPr>
        <p:spPr>
          <a:xfrm rot="0">
            <a:off x="1622044" y="3773343"/>
            <a:ext cx="1110568" cy="540333"/>
          </a:xfrm>
          <a:prstGeom prst="rect">
            <a:avLst/>
          </a:prstGeom>
        </p:spPr>
        <p:txBody>
          <a:bodyPr anchor="t" rtlCol="false" tIns="0" lIns="0" bIns="0" rIns="0">
            <a:spAutoFit/>
          </a:bodyPr>
          <a:lstStyle/>
          <a:p>
            <a:pPr algn="ctr">
              <a:lnSpc>
                <a:spcPts val="4057"/>
              </a:lnSpc>
            </a:pPr>
            <a:r>
              <a:rPr lang="en-US" b="true" sz="3863" spc="-204">
                <a:solidFill>
                  <a:srgbClr val="FFFFFF"/>
                </a:solidFill>
                <a:latin typeface="HK Grotesk Bold"/>
                <a:ea typeface="HK Grotesk Bold"/>
                <a:cs typeface="HK Grotesk Bold"/>
                <a:sym typeface="HK Grotesk Bold"/>
              </a:rPr>
              <a:t>03</a:t>
            </a:r>
          </a:p>
        </p:txBody>
      </p:sp>
      <p:sp>
        <p:nvSpPr>
          <p:cNvPr name="TextBox 63" id="63"/>
          <p:cNvSpPr txBox="true"/>
          <p:nvPr/>
        </p:nvSpPr>
        <p:spPr>
          <a:xfrm rot="0">
            <a:off x="10255164" y="7270569"/>
            <a:ext cx="1110568" cy="540333"/>
          </a:xfrm>
          <a:prstGeom prst="rect">
            <a:avLst/>
          </a:prstGeom>
        </p:spPr>
        <p:txBody>
          <a:bodyPr anchor="t" rtlCol="false" tIns="0" lIns="0" bIns="0" rIns="0">
            <a:spAutoFit/>
          </a:bodyPr>
          <a:lstStyle/>
          <a:p>
            <a:pPr algn="ctr">
              <a:lnSpc>
                <a:spcPts val="4057"/>
              </a:lnSpc>
            </a:pPr>
            <a:r>
              <a:rPr lang="en-US" b="true" sz="3863" spc="-204">
                <a:solidFill>
                  <a:srgbClr val="FFFFFF"/>
                </a:solidFill>
                <a:latin typeface="HK Grotesk Bold"/>
                <a:ea typeface="HK Grotesk Bold"/>
                <a:cs typeface="HK Grotesk Bold"/>
                <a:sym typeface="HK Grotesk Bold"/>
              </a:rPr>
              <a:t>07</a:t>
            </a:r>
          </a:p>
        </p:txBody>
      </p:sp>
      <p:sp>
        <p:nvSpPr>
          <p:cNvPr name="TextBox 64" id="64"/>
          <p:cNvSpPr txBox="true"/>
          <p:nvPr/>
        </p:nvSpPr>
        <p:spPr>
          <a:xfrm rot="0">
            <a:off x="2926561" y="3773016"/>
            <a:ext cx="4742252" cy="472440"/>
          </a:xfrm>
          <a:prstGeom prst="rect">
            <a:avLst/>
          </a:prstGeom>
        </p:spPr>
        <p:txBody>
          <a:bodyPr anchor="t" rtlCol="false" tIns="0" lIns="0" bIns="0" rIns="0">
            <a:spAutoFit/>
          </a:bodyPr>
          <a:lstStyle/>
          <a:p>
            <a:pPr algn="l">
              <a:lnSpc>
                <a:spcPts val="3779"/>
              </a:lnSpc>
            </a:pPr>
            <a:r>
              <a:rPr lang="en-US" sz="3000" spc="-3">
                <a:solidFill>
                  <a:srgbClr val="FFFFFF"/>
                </a:solidFill>
                <a:latin typeface="HK Grotesk"/>
                <a:ea typeface="HK Grotesk"/>
                <a:cs typeface="HK Grotesk"/>
                <a:sym typeface="HK Grotesk"/>
              </a:rPr>
              <a:t>Framework</a:t>
            </a:r>
          </a:p>
        </p:txBody>
      </p:sp>
      <p:sp>
        <p:nvSpPr>
          <p:cNvPr name="TextBox 65" id="65"/>
          <p:cNvSpPr txBox="true"/>
          <p:nvPr/>
        </p:nvSpPr>
        <p:spPr>
          <a:xfrm rot="0">
            <a:off x="11559681" y="7270242"/>
            <a:ext cx="4742252" cy="472440"/>
          </a:xfrm>
          <a:prstGeom prst="rect">
            <a:avLst/>
          </a:prstGeom>
        </p:spPr>
        <p:txBody>
          <a:bodyPr anchor="t" rtlCol="false" tIns="0" lIns="0" bIns="0" rIns="0">
            <a:spAutoFit/>
          </a:bodyPr>
          <a:lstStyle/>
          <a:p>
            <a:pPr algn="l">
              <a:lnSpc>
                <a:spcPts val="3779"/>
              </a:lnSpc>
            </a:pPr>
            <a:r>
              <a:rPr lang="en-US" sz="3000" spc="-3">
                <a:solidFill>
                  <a:srgbClr val="FFFFFF"/>
                </a:solidFill>
                <a:latin typeface="HK Grotesk"/>
                <a:ea typeface="HK Grotesk"/>
                <a:cs typeface="HK Grotesk"/>
                <a:sym typeface="HK Grotesk"/>
              </a:rPr>
              <a:t>Proposed Timeline</a:t>
            </a:r>
          </a:p>
        </p:txBody>
      </p:sp>
      <p:sp>
        <p:nvSpPr>
          <p:cNvPr name="TextBox 66" id="66"/>
          <p:cNvSpPr txBox="true"/>
          <p:nvPr/>
        </p:nvSpPr>
        <p:spPr>
          <a:xfrm rot="0">
            <a:off x="1622044" y="5022964"/>
            <a:ext cx="1110568" cy="540333"/>
          </a:xfrm>
          <a:prstGeom prst="rect">
            <a:avLst/>
          </a:prstGeom>
        </p:spPr>
        <p:txBody>
          <a:bodyPr anchor="t" rtlCol="false" tIns="0" lIns="0" bIns="0" rIns="0">
            <a:spAutoFit/>
          </a:bodyPr>
          <a:lstStyle/>
          <a:p>
            <a:pPr algn="ctr">
              <a:lnSpc>
                <a:spcPts val="4057"/>
              </a:lnSpc>
            </a:pPr>
            <a:r>
              <a:rPr lang="en-US" b="true" sz="3863" spc="-204">
                <a:solidFill>
                  <a:srgbClr val="FFFFFF"/>
                </a:solidFill>
                <a:latin typeface="HK Grotesk Bold"/>
                <a:ea typeface="HK Grotesk Bold"/>
                <a:cs typeface="HK Grotesk Bold"/>
                <a:sym typeface="HK Grotesk Bold"/>
              </a:rPr>
              <a:t>04</a:t>
            </a:r>
          </a:p>
        </p:txBody>
      </p:sp>
      <p:sp>
        <p:nvSpPr>
          <p:cNvPr name="TextBox 67" id="67"/>
          <p:cNvSpPr txBox="true"/>
          <p:nvPr/>
        </p:nvSpPr>
        <p:spPr>
          <a:xfrm rot="0">
            <a:off x="10255164" y="8520189"/>
            <a:ext cx="1110568" cy="540333"/>
          </a:xfrm>
          <a:prstGeom prst="rect">
            <a:avLst/>
          </a:prstGeom>
        </p:spPr>
        <p:txBody>
          <a:bodyPr anchor="t" rtlCol="false" tIns="0" lIns="0" bIns="0" rIns="0">
            <a:spAutoFit/>
          </a:bodyPr>
          <a:lstStyle/>
          <a:p>
            <a:pPr algn="ctr">
              <a:lnSpc>
                <a:spcPts val="4057"/>
              </a:lnSpc>
            </a:pPr>
            <a:r>
              <a:rPr lang="en-US" b="true" sz="3863" spc="-204">
                <a:solidFill>
                  <a:srgbClr val="000000"/>
                </a:solidFill>
                <a:latin typeface="HK Grotesk Bold"/>
                <a:ea typeface="HK Grotesk Bold"/>
                <a:cs typeface="HK Grotesk Bold"/>
                <a:sym typeface="HK Grotesk Bold"/>
              </a:rPr>
              <a:t>08</a:t>
            </a:r>
          </a:p>
        </p:txBody>
      </p:sp>
      <p:sp>
        <p:nvSpPr>
          <p:cNvPr name="TextBox 68" id="68"/>
          <p:cNvSpPr txBox="true"/>
          <p:nvPr/>
        </p:nvSpPr>
        <p:spPr>
          <a:xfrm rot="0">
            <a:off x="2926561" y="5022636"/>
            <a:ext cx="4742252" cy="472440"/>
          </a:xfrm>
          <a:prstGeom prst="rect">
            <a:avLst/>
          </a:prstGeom>
        </p:spPr>
        <p:txBody>
          <a:bodyPr anchor="t" rtlCol="false" tIns="0" lIns="0" bIns="0" rIns="0">
            <a:spAutoFit/>
          </a:bodyPr>
          <a:lstStyle/>
          <a:p>
            <a:pPr algn="l">
              <a:lnSpc>
                <a:spcPts val="3779"/>
              </a:lnSpc>
            </a:pPr>
            <a:r>
              <a:rPr lang="en-US" sz="3000" spc="-3">
                <a:solidFill>
                  <a:srgbClr val="FFFFFF"/>
                </a:solidFill>
                <a:latin typeface="HK Grotesk"/>
                <a:ea typeface="HK Grotesk"/>
                <a:cs typeface="HK Grotesk"/>
                <a:sym typeface="HK Grotesk"/>
              </a:rPr>
              <a:t>Methodology</a:t>
            </a:r>
          </a:p>
        </p:txBody>
      </p:sp>
      <p:sp>
        <p:nvSpPr>
          <p:cNvPr name="TextBox 69" id="69"/>
          <p:cNvSpPr txBox="true"/>
          <p:nvPr/>
        </p:nvSpPr>
        <p:spPr>
          <a:xfrm rot="0">
            <a:off x="11559681" y="8519862"/>
            <a:ext cx="4742252" cy="472440"/>
          </a:xfrm>
          <a:prstGeom prst="rect">
            <a:avLst/>
          </a:prstGeom>
        </p:spPr>
        <p:txBody>
          <a:bodyPr anchor="t" rtlCol="false" tIns="0" lIns="0" bIns="0" rIns="0">
            <a:spAutoFit/>
          </a:bodyPr>
          <a:lstStyle/>
          <a:p>
            <a:pPr algn="l">
              <a:lnSpc>
                <a:spcPts val="3779"/>
              </a:lnSpc>
            </a:pPr>
            <a:r>
              <a:rPr lang="en-US" sz="3000" spc="-3">
                <a:solidFill>
                  <a:srgbClr val="000000"/>
                </a:solidFill>
                <a:latin typeface="HK Grotesk"/>
                <a:ea typeface="HK Grotesk"/>
                <a:cs typeface="HK Grotesk"/>
                <a:sym typeface="HK Grotesk"/>
              </a:rPr>
              <a:t>Expected Findings</a:t>
            </a:r>
          </a:p>
        </p:txBody>
      </p:sp>
      <p:grpSp>
        <p:nvGrpSpPr>
          <p:cNvPr name="Group 70" id="70"/>
          <p:cNvGrpSpPr/>
          <p:nvPr/>
        </p:nvGrpSpPr>
        <p:grpSpPr>
          <a:xfrm rot="0">
            <a:off x="9661819" y="1028700"/>
            <a:ext cx="7597481" cy="2697018"/>
            <a:chOff x="0" y="0"/>
            <a:chExt cx="1215548" cy="431506"/>
          </a:xfrm>
        </p:grpSpPr>
        <p:sp>
          <p:nvSpPr>
            <p:cNvPr name="Freeform 71" id="71"/>
            <p:cNvSpPr/>
            <p:nvPr/>
          </p:nvSpPr>
          <p:spPr>
            <a:xfrm flipH="false" flipV="false" rot="0">
              <a:off x="0" y="0"/>
              <a:ext cx="1215548" cy="431505"/>
            </a:xfrm>
            <a:custGeom>
              <a:avLst/>
              <a:gdLst/>
              <a:ahLst/>
              <a:cxnLst/>
              <a:rect r="r" b="b" t="t" l="l"/>
              <a:pathLst>
                <a:path h="431505" w="1215548">
                  <a:moveTo>
                    <a:pt x="80502" y="0"/>
                  </a:moveTo>
                  <a:lnTo>
                    <a:pt x="1135046" y="0"/>
                  </a:lnTo>
                  <a:cubicBezTo>
                    <a:pt x="1156396" y="0"/>
                    <a:pt x="1176872" y="8481"/>
                    <a:pt x="1191969" y="23578"/>
                  </a:cubicBezTo>
                  <a:cubicBezTo>
                    <a:pt x="1207066" y="38676"/>
                    <a:pt x="1215548" y="59151"/>
                    <a:pt x="1215548" y="80502"/>
                  </a:cubicBezTo>
                  <a:lnTo>
                    <a:pt x="1215548" y="351004"/>
                  </a:lnTo>
                  <a:cubicBezTo>
                    <a:pt x="1215548" y="372354"/>
                    <a:pt x="1207066" y="392830"/>
                    <a:pt x="1191969" y="407927"/>
                  </a:cubicBezTo>
                  <a:cubicBezTo>
                    <a:pt x="1176872" y="423024"/>
                    <a:pt x="1156396" y="431505"/>
                    <a:pt x="1135046" y="431505"/>
                  </a:cubicBezTo>
                  <a:lnTo>
                    <a:pt x="80502" y="431505"/>
                  </a:lnTo>
                  <a:cubicBezTo>
                    <a:pt x="59151" y="431505"/>
                    <a:pt x="38676" y="423024"/>
                    <a:pt x="23578" y="407927"/>
                  </a:cubicBezTo>
                  <a:cubicBezTo>
                    <a:pt x="8481" y="392830"/>
                    <a:pt x="0" y="372354"/>
                    <a:pt x="0" y="351004"/>
                  </a:cubicBezTo>
                  <a:lnTo>
                    <a:pt x="0" y="80502"/>
                  </a:lnTo>
                  <a:cubicBezTo>
                    <a:pt x="0" y="59151"/>
                    <a:pt x="8481" y="38676"/>
                    <a:pt x="23578" y="23578"/>
                  </a:cubicBezTo>
                  <a:cubicBezTo>
                    <a:pt x="38676" y="8481"/>
                    <a:pt x="59151" y="0"/>
                    <a:pt x="80502" y="0"/>
                  </a:cubicBezTo>
                  <a:close/>
                </a:path>
              </a:pathLst>
            </a:custGeom>
            <a:blipFill>
              <a:blip r:embed="rId2"/>
              <a:stretch>
                <a:fillRect l="0" t="-43985" r="0" b="-43985"/>
              </a:stretch>
            </a:blipFill>
          </p:spPr>
        </p:sp>
      </p:gr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279200" y="4738568"/>
            <a:ext cx="2155619" cy="215561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5" id="5"/>
          <p:cNvSpPr txBox="true"/>
          <p:nvPr/>
        </p:nvSpPr>
        <p:spPr>
          <a:xfrm rot="0">
            <a:off x="1028700" y="5394388"/>
            <a:ext cx="10464140" cy="2285746"/>
          </a:xfrm>
          <a:prstGeom prst="rect">
            <a:avLst/>
          </a:prstGeom>
        </p:spPr>
        <p:txBody>
          <a:bodyPr anchor="t" rtlCol="false" tIns="0" lIns="0" bIns="0" rIns="0">
            <a:spAutoFit/>
          </a:bodyPr>
          <a:lstStyle/>
          <a:p>
            <a:pPr algn="l">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Background of the Study</a:t>
            </a:r>
          </a:p>
        </p:txBody>
      </p:sp>
      <p:grpSp>
        <p:nvGrpSpPr>
          <p:cNvPr name="Group 6" id="6"/>
          <p:cNvGrpSpPr/>
          <p:nvPr/>
        </p:nvGrpSpPr>
        <p:grpSpPr>
          <a:xfrm rot="0">
            <a:off x="-715817" y="-265773"/>
            <a:ext cx="20110719" cy="4750522"/>
            <a:chOff x="0" y="0"/>
            <a:chExt cx="3217585" cy="760053"/>
          </a:xfrm>
        </p:grpSpPr>
        <p:sp>
          <p:nvSpPr>
            <p:cNvPr name="Freeform 7" id="7"/>
            <p:cNvSpPr/>
            <p:nvPr/>
          </p:nvSpPr>
          <p:spPr>
            <a:xfrm flipH="false" flipV="false" rot="0">
              <a:off x="0" y="0"/>
              <a:ext cx="3217585" cy="760053"/>
            </a:xfrm>
            <a:custGeom>
              <a:avLst/>
              <a:gdLst/>
              <a:ahLst/>
              <a:cxnLst/>
              <a:rect r="r" b="b" t="t" l="l"/>
              <a:pathLst>
                <a:path h="760053" w="3217585">
                  <a:moveTo>
                    <a:pt x="30412" y="0"/>
                  </a:moveTo>
                  <a:lnTo>
                    <a:pt x="3187173" y="0"/>
                  </a:lnTo>
                  <a:cubicBezTo>
                    <a:pt x="3203969" y="0"/>
                    <a:pt x="3217585" y="13616"/>
                    <a:pt x="3217585" y="30412"/>
                  </a:cubicBezTo>
                  <a:lnTo>
                    <a:pt x="3217585" y="729641"/>
                  </a:lnTo>
                  <a:cubicBezTo>
                    <a:pt x="3217585" y="746437"/>
                    <a:pt x="3203969" y="760053"/>
                    <a:pt x="3187173" y="760053"/>
                  </a:cubicBezTo>
                  <a:lnTo>
                    <a:pt x="30412" y="760053"/>
                  </a:lnTo>
                  <a:cubicBezTo>
                    <a:pt x="22346" y="760053"/>
                    <a:pt x="14611" y="756849"/>
                    <a:pt x="8908" y="751145"/>
                  </a:cubicBezTo>
                  <a:cubicBezTo>
                    <a:pt x="3204" y="745442"/>
                    <a:pt x="0" y="737706"/>
                    <a:pt x="0" y="729641"/>
                  </a:cubicBezTo>
                  <a:lnTo>
                    <a:pt x="0" y="30412"/>
                  </a:lnTo>
                  <a:cubicBezTo>
                    <a:pt x="0" y="13616"/>
                    <a:pt x="13616" y="0"/>
                    <a:pt x="30412" y="0"/>
                  </a:cubicBezTo>
                  <a:close/>
                </a:path>
              </a:pathLst>
            </a:custGeom>
            <a:blipFill>
              <a:blip r:embed="rId2"/>
              <a:stretch>
                <a:fillRect l="0" t="-93721" r="0" b="-42817"/>
              </a:stretch>
            </a:blipFill>
          </p:spPr>
        </p:sp>
      </p:grpSp>
      <p:sp>
        <p:nvSpPr>
          <p:cNvPr name="TextBox 8" id="8"/>
          <p:cNvSpPr txBox="true"/>
          <p:nvPr/>
        </p:nvSpPr>
        <p:spPr>
          <a:xfrm rot="0">
            <a:off x="1028700" y="8351901"/>
            <a:ext cx="16230600" cy="906399"/>
          </a:xfrm>
          <a:prstGeom prst="rect">
            <a:avLst/>
          </a:prstGeom>
        </p:spPr>
        <p:txBody>
          <a:bodyPr anchor="t" rtlCol="false" tIns="0" lIns="0" bIns="0" rIns="0">
            <a:spAutoFit/>
          </a:bodyPr>
          <a:lstStyle/>
          <a:p>
            <a:pPr algn="l">
              <a:lnSpc>
                <a:spcPts val="2448"/>
              </a:lnSpc>
            </a:pPr>
            <a:r>
              <a:rPr lang="en-US" sz="1800" spc="-44">
                <a:solidFill>
                  <a:srgbClr val="FFFFFF"/>
                </a:solidFill>
                <a:latin typeface="HK Grotesk"/>
                <a:ea typeface="HK Grotesk"/>
                <a:cs typeface="HK Grotesk"/>
                <a:sym typeface="HK Grotesk"/>
              </a:rPr>
              <a:t>Savings and loan cooperatives are the main source of credit for rural households that banks do not reach. Since 2022 the ministry has promoted digital services, but only a minority of cooperatives have moved beyond spreadsheets. Earlier studies describe the technology; few explain the human and organisational reasons behind slow adoption.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279200" y="677476"/>
            <a:ext cx="2155619" cy="215561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5" id="5"/>
          <p:cNvSpPr txBox="true"/>
          <p:nvPr/>
        </p:nvSpPr>
        <p:spPr>
          <a:xfrm rot="0">
            <a:off x="1028700" y="1333296"/>
            <a:ext cx="6961448" cy="2285746"/>
          </a:xfrm>
          <a:prstGeom prst="rect">
            <a:avLst/>
          </a:prstGeom>
        </p:spPr>
        <p:txBody>
          <a:bodyPr anchor="t" rtlCol="false" tIns="0" lIns="0" bIns="0" rIns="0">
            <a:spAutoFit/>
          </a:bodyPr>
          <a:lstStyle/>
          <a:p>
            <a:pPr algn="l">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Problem Statement</a:t>
            </a:r>
          </a:p>
        </p:txBody>
      </p:sp>
      <p:grpSp>
        <p:nvGrpSpPr>
          <p:cNvPr name="Group 6" id="6"/>
          <p:cNvGrpSpPr/>
          <p:nvPr/>
        </p:nvGrpSpPr>
        <p:grpSpPr>
          <a:xfrm rot="0">
            <a:off x="7760362" y="1028700"/>
            <a:ext cx="2513217" cy="8229600"/>
            <a:chOff x="0" y="0"/>
            <a:chExt cx="402098" cy="1316683"/>
          </a:xfrm>
        </p:grpSpPr>
        <p:sp>
          <p:nvSpPr>
            <p:cNvPr name="Freeform 7" id="7"/>
            <p:cNvSpPr/>
            <p:nvPr/>
          </p:nvSpPr>
          <p:spPr>
            <a:xfrm flipH="false" flipV="false" rot="-198844">
              <a:off x="-26442" y="764"/>
              <a:ext cx="454982" cy="1315154"/>
            </a:xfrm>
            <a:custGeom>
              <a:avLst/>
              <a:gdLst/>
              <a:ahLst/>
              <a:cxnLst/>
              <a:rect r="r" b="b" t="t" l="l"/>
              <a:pathLst>
                <a:path h="1315154" w="454982">
                  <a:moveTo>
                    <a:pt x="265549" y="337"/>
                  </a:moveTo>
                  <a:lnTo>
                    <a:pt x="265549" y="337"/>
                  </a:lnTo>
                  <a:cubicBezTo>
                    <a:pt x="376400" y="6756"/>
                    <a:pt x="461059" y="101822"/>
                    <a:pt x="454640" y="212672"/>
                  </a:cubicBezTo>
                  <a:lnTo>
                    <a:pt x="401769" y="1125727"/>
                  </a:lnTo>
                  <a:cubicBezTo>
                    <a:pt x="398686" y="1178960"/>
                    <a:pt x="374583" y="1228787"/>
                    <a:pt x="334763" y="1264249"/>
                  </a:cubicBezTo>
                  <a:cubicBezTo>
                    <a:pt x="294942" y="1299710"/>
                    <a:pt x="242665" y="1317900"/>
                    <a:pt x="189433" y="1314818"/>
                  </a:cubicBezTo>
                  <a:lnTo>
                    <a:pt x="189433" y="1314818"/>
                  </a:lnTo>
                  <a:cubicBezTo>
                    <a:pt x="78582" y="1308399"/>
                    <a:pt x="-6076" y="1213333"/>
                    <a:pt x="343" y="1102482"/>
                  </a:cubicBezTo>
                  <a:lnTo>
                    <a:pt x="53214" y="189427"/>
                  </a:lnTo>
                  <a:cubicBezTo>
                    <a:pt x="56296" y="136195"/>
                    <a:pt x="80399" y="86367"/>
                    <a:pt x="120220" y="50906"/>
                  </a:cubicBezTo>
                  <a:cubicBezTo>
                    <a:pt x="160040" y="15445"/>
                    <a:pt x="212317" y="-2745"/>
                    <a:pt x="265549" y="337"/>
                  </a:cubicBezTo>
                  <a:close/>
                </a:path>
              </a:pathLst>
            </a:custGeom>
            <a:blipFill>
              <a:blip r:embed="rId2"/>
              <a:stretch>
                <a:fillRect l="-77322" t="-1230" r="-58751" b="-858"/>
              </a:stretch>
            </a:blipFill>
          </p:spPr>
        </p:sp>
      </p:grpSp>
      <p:grpSp>
        <p:nvGrpSpPr>
          <p:cNvPr name="Group 8" id="8"/>
          <p:cNvGrpSpPr/>
          <p:nvPr/>
        </p:nvGrpSpPr>
        <p:grpSpPr>
          <a:xfrm rot="0">
            <a:off x="10648411" y="6703493"/>
            <a:ext cx="6610889" cy="2554807"/>
            <a:chOff x="0" y="0"/>
            <a:chExt cx="1741140" cy="672871"/>
          </a:xfrm>
        </p:grpSpPr>
        <p:sp>
          <p:nvSpPr>
            <p:cNvPr name="Freeform 9" id="9"/>
            <p:cNvSpPr/>
            <p:nvPr/>
          </p:nvSpPr>
          <p:spPr>
            <a:xfrm flipH="false" flipV="false" rot="0">
              <a:off x="0" y="0"/>
              <a:ext cx="1741139" cy="672871"/>
            </a:xfrm>
            <a:custGeom>
              <a:avLst/>
              <a:gdLst/>
              <a:ahLst/>
              <a:cxnLst/>
              <a:rect r="r" b="b" t="t" l="l"/>
              <a:pathLst>
                <a:path h="672871" w="1741139">
                  <a:moveTo>
                    <a:pt x="117109" y="0"/>
                  </a:moveTo>
                  <a:lnTo>
                    <a:pt x="1624031" y="0"/>
                  </a:lnTo>
                  <a:cubicBezTo>
                    <a:pt x="1688708" y="0"/>
                    <a:pt x="1741139" y="52431"/>
                    <a:pt x="1741139" y="117109"/>
                  </a:cubicBezTo>
                  <a:lnTo>
                    <a:pt x="1741139" y="555762"/>
                  </a:lnTo>
                  <a:cubicBezTo>
                    <a:pt x="1741139" y="586821"/>
                    <a:pt x="1728801" y="616608"/>
                    <a:pt x="1706839" y="638571"/>
                  </a:cubicBezTo>
                  <a:cubicBezTo>
                    <a:pt x="1684877" y="660533"/>
                    <a:pt x="1655090" y="672871"/>
                    <a:pt x="1624031" y="672871"/>
                  </a:cubicBezTo>
                  <a:lnTo>
                    <a:pt x="117109" y="672871"/>
                  </a:lnTo>
                  <a:cubicBezTo>
                    <a:pt x="86049" y="672871"/>
                    <a:pt x="56262" y="660533"/>
                    <a:pt x="34300" y="638571"/>
                  </a:cubicBezTo>
                  <a:cubicBezTo>
                    <a:pt x="12338" y="616608"/>
                    <a:pt x="0" y="586821"/>
                    <a:pt x="0" y="555762"/>
                  </a:cubicBezTo>
                  <a:lnTo>
                    <a:pt x="0" y="117109"/>
                  </a:lnTo>
                  <a:cubicBezTo>
                    <a:pt x="0" y="86049"/>
                    <a:pt x="12338" y="56262"/>
                    <a:pt x="34300" y="34300"/>
                  </a:cubicBezTo>
                  <a:cubicBezTo>
                    <a:pt x="56262" y="12338"/>
                    <a:pt x="86049" y="0"/>
                    <a:pt x="117109" y="0"/>
                  </a:cubicBezTo>
                  <a:close/>
                </a:path>
              </a:pathLst>
            </a:custGeom>
            <a:solidFill>
              <a:srgbClr val="FFFFFF"/>
            </a:soli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10" id="10"/>
            <p:cNvSpPr txBox="true"/>
            <p:nvPr/>
          </p:nvSpPr>
          <p:spPr>
            <a:xfrm>
              <a:off x="0" y="0"/>
              <a:ext cx="1741140" cy="672871"/>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11" id="11"/>
          <p:cNvGrpSpPr/>
          <p:nvPr/>
        </p:nvGrpSpPr>
        <p:grpSpPr>
          <a:xfrm rot="0">
            <a:off x="10648411" y="3866097"/>
            <a:ext cx="6610889" cy="2554807"/>
            <a:chOff x="0" y="0"/>
            <a:chExt cx="1741140" cy="672871"/>
          </a:xfrm>
        </p:grpSpPr>
        <p:sp>
          <p:nvSpPr>
            <p:cNvPr name="Freeform 12" id="12"/>
            <p:cNvSpPr/>
            <p:nvPr/>
          </p:nvSpPr>
          <p:spPr>
            <a:xfrm flipH="false" flipV="false" rot="0">
              <a:off x="0" y="0"/>
              <a:ext cx="1741139" cy="672871"/>
            </a:xfrm>
            <a:custGeom>
              <a:avLst/>
              <a:gdLst/>
              <a:ahLst/>
              <a:cxnLst/>
              <a:rect r="r" b="b" t="t" l="l"/>
              <a:pathLst>
                <a:path h="672871" w="1741139">
                  <a:moveTo>
                    <a:pt x="117109" y="0"/>
                  </a:moveTo>
                  <a:lnTo>
                    <a:pt x="1624031" y="0"/>
                  </a:lnTo>
                  <a:cubicBezTo>
                    <a:pt x="1688708" y="0"/>
                    <a:pt x="1741139" y="52431"/>
                    <a:pt x="1741139" y="117109"/>
                  </a:cubicBezTo>
                  <a:lnTo>
                    <a:pt x="1741139" y="555762"/>
                  </a:lnTo>
                  <a:cubicBezTo>
                    <a:pt x="1741139" y="586821"/>
                    <a:pt x="1728801" y="616608"/>
                    <a:pt x="1706839" y="638571"/>
                  </a:cubicBezTo>
                  <a:cubicBezTo>
                    <a:pt x="1684877" y="660533"/>
                    <a:pt x="1655090" y="672871"/>
                    <a:pt x="1624031" y="672871"/>
                  </a:cubicBezTo>
                  <a:lnTo>
                    <a:pt x="117109" y="672871"/>
                  </a:lnTo>
                  <a:cubicBezTo>
                    <a:pt x="86049" y="672871"/>
                    <a:pt x="56262" y="660533"/>
                    <a:pt x="34300" y="638571"/>
                  </a:cubicBezTo>
                  <a:cubicBezTo>
                    <a:pt x="12338" y="616608"/>
                    <a:pt x="0" y="586821"/>
                    <a:pt x="0" y="555762"/>
                  </a:cubicBezTo>
                  <a:lnTo>
                    <a:pt x="0" y="117109"/>
                  </a:lnTo>
                  <a:cubicBezTo>
                    <a:pt x="0" y="86049"/>
                    <a:pt x="12338" y="56262"/>
                    <a:pt x="34300" y="34300"/>
                  </a:cubicBezTo>
                  <a:cubicBezTo>
                    <a:pt x="56262" y="12338"/>
                    <a:pt x="86049" y="0"/>
                    <a:pt x="117109"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13" id="13"/>
            <p:cNvSpPr txBox="true"/>
            <p:nvPr/>
          </p:nvSpPr>
          <p:spPr>
            <a:xfrm>
              <a:off x="0" y="0"/>
              <a:ext cx="1741140" cy="672871"/>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14" id="14"/>
          <p:cNvGrpSpPr/>
          <p:nvPr/>
        </p:nvGrpSpPr>
        <p:grpSpPr>
          <a:xfrm rot="0">
            <a:off x="10648411" y="1028700"/>
            <a:ext cx="6610889" cy="2554807"/>
            <a:chOff x="0" y="0"/>
            <a:chExt cx="1741140" cy="672871"/>
          </a:xfrm>
        </p:grpSpPr>
        <p:sp>
          <p:nvSpPr>
            <p:cNvPr name="Freeform 15" id="15"/>
            <p:cNvSpPr/>
            <p:nvPr/>
          </p:nvSpPr>
          <p:spPr>
            <a:xfrm flipH="false" flipV="false" rot="0">
              <a:off x="0" y="0"/>
              <a:ext cx="1741139" cy="672871"/>
            </a:xfrm>
            <a:custGeom>
              <a:avLst/>
              <a:gdLst/>
              <a:ahLst/>
              <a:cxnLst/>
              <a:rect r="r" b="b" t="t" l="l"/>
              <a:pathLst>
                <a:path h="672871" w="1741139">
                  <a:moveTo>
                    <a:pt x="117109" y="0"/>
                  </a:moveTo>
                  <a:lnTo>
                    <a:pt x="1624031" y="0"/>
                  </a:lnTo>
                  <a:cubicBezTo>
                    <a:pt x="1688708" y="0"/>
                    <a:pt x="1741139" y="52431"/>
                    <a:pt x="1741139" y="117109"/>
                  </a:cubicBezTo>
                  <a:lnTo>
                    <a:pt x="1741139" y="555762"/>
                  </a:lnTo>
                  <a:cubicBezTo>
                    <a:pt x="1741139" y="586821"/>
                    <a:pt x="1728801" y="616608"/>
                    <a:pt x="1706839" y="638571"/>
                  </a:cubicBezTo>
                  <a:cubicBezTo>
                    <a:pt x="1684877" y="660533"/>
                    <a:pt x="1655090" y="672871"/>
                    <a:pt x="1624031" y="672871"/>
                  </a:cubicBezTo>
                  <a:lnTo>
                    <a:pt x="117109" y="672871"/>
                  </a:lnTo>
                  <a:cubicBezTo>
                    <a:pt x="86049" y="672871"/>
                    <a:pt x="56262" y="660533"/>
                    <a:pt x="34300" y="638571"/>
                  </a:cubicBezTo>
                  <a:cubicBezTo>
                    <a:pt x="12338" y="616608"/>
                    <a:pt x="0" y="586821"/>
                    <a:pt x="0" y="555762"/>
                  </a:cubicBezTo>
                  <a:lnTo>
                    <a:pt x="0" y="117109"/>
                  </a:lnTo>
                  <a:cubicBezTo>
                    <a:pt x="0" y="86049"/>
                    <a:pt x="12338" y="56262"/>
                    <a:pt x="34300" y="34300"/>
                  </a:cubicBezTo>
                  <a:cubicBezTo>
                    <a:pt x="56262" y="12338"/>
                    <a:pt x="86049" y="0"/>
                    <a:pt x="117109" y="0"/>
                  </a:cubicBezTo>
                  <a:close/>
                </a:path>
              </a:pathLst>
            </a:custGeom>
            <a:solidFill>
              <a:srgbClr val="FFFFFF"/>
            </a:soli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16" id="16"/>
            <p:cNvSpPr txBox="true"/>
            <p:nvPr/>
          </p:nvSpPr>
          <p:spPr>
            <a:xfrm>
              <a:off x="0" y="0"/>
              <a:ext cx="1741140" cy="672871"/>
            </a:xfrm>
            <a:prstGeom prst="rect">
              <a:avLst/>
            </a:prstGeom>
          </p:spPr>
          <p:txBody>
            <a:bodyPr anchor="ctr" rtlCol="false" tIns="50800" lIns="50800" bIns="50800" rIns="50800"/>
            <a:lstStyle/>
            <a:p>
              <a:pPr algn="ctr">
                <a:lnSpc>
                  <a:spcPts val="3119"/>
                </a:lnSpc>
              </a:pPr>
            </a:p>
            <a:p>
              <a:pPr algn="ctr">
                <a:lnSpc>
                  <a:spcPts val="3119"/>
                </a:lnSpc>
              </a:pPr>
            </a:p>
          </p:txBody>
        </p:sp>
      </p:grpSp>
      <p:sp>
        <p:nvSpPr>
          <p:cNvPr name="TextBox 17" id="17"/>
          <p:cNvSpPr txBox="true"/>
          <p:nvPr/>
        </p:nvSpPr>
        <p:spPr>
          <a:xfrm rot="0">
            <a:off x="11247337" y="2058759"/>
            <a:ext cx="5701977" cy="1100963"/>
          </a:xfrm>
          <a:prstGeom prst="rect">
            <a:avLst/>
          </a:prstGeom>
        </p:spPr>
        <p:txBody>
          <a:bodyPr anchor="t" rtlCol="false" tIns="0" lIns="0" bIns="0" rIns="0">
            <a:spAutoFit/>
          </a:bodyPr>
          <a:lstStyle/>
          <a:p>
            <a:pPr algn="l">
              <a:lnSpc>
                <a:spcPts val="2828"/>
              </a:lnSpc>
            </a:pPr>
            <a:r>
              <a:rPr lang="en-US" sz="2080" spc="-52">
                <a:solidFill>
                  <a:srgbClr val="000000"/>
                </a:solidFill>
                <a:latin typeface="HK Grotesk"/>
                <a:ea typeface="HK Grotesk"/>
                <a:cs typeface="HK Grotesk"/>
                <a:sym typeface="HK Grotesk"/>
              </a:rPr>
              <a:t>Forty savings and loan cooperatives in four districts of North Sumatra, observed from January to December 2027.</a:t>
            </a:r>
          </a:p>
        </p:txBody>
      </p:sp>
      <p:sp>
        <p:nvSpPr>
          <p:cNvPr name="TextBox 18" id="18"/>
          <p:cNvSpPr txBox="true"/>
          <p:nvPr/>
        </p:nvSpPr>
        <p:spPr>
          <a:xfrm rot="0">
            <a:off x="11247337" y="4872394"/>
            <a:ext cx="5701977" cy="1100963"/>
          </a:xfrm>
          <a:prstGeom prst="rect">
            <a:avLst/>
          </a:prstGeom>
        </p:spPr>
        <p:txBody>
          <a:bodyPr anchor="t" rtlCol="false" tIns="0" lIns="0" bIns="0" rIns="0">
            <a:spAutoFit/>
          </a:bodyPr>
          <a:lstStyle/>
          <a:p>
            <a:pPr algn="l">
              <a:lnSpc>
                <a:spcPts val="2828"/>
              </a:lnSpc>
            </a:pPr>
            <a:r>
              <a:rPr lang="en-US" sz="2080" spc="-52">
                <a:solidFill>
                  <a:srgbClr val="FFFFFF"/>
                </a:solidFill>
                <a:latin typeface="HK Grotesk"/>
                <a:ea typeface="HK Grotesk"/>
                <a:cs typeface="HK Grotesk"/>
                <a:sym typeface="HK Grotesk"/>
              </a:rPr>
              <a:t>Results guide the ministry's digitalisation grants and help cooperatives decide where to invest first.</a:t>
            </a:r>
          </a:p>
        </p:txBody>
      </p:sp>
      <p:sp>
        <p:nvSpPr>
          <p:cNvPr name="TextBox 19" id="19"/>
          <p:cNvSpPr txBox="true"/>
          <p:nvPr/>
        </p:nvSpPr>
        <p:spPr>
          <a:xfrm rot="0">
            <a:off x="11247337" y="1433435"/>
            <a:ext cx="4204449" cy="408813"/>
          </a:xfrm>
          <a:prstGeom prst="rect">
            <a:avLst/>
          </a:prstGeom>
        </p:spPr>
        <p:txBody>
          <a:bodyPr anchor="t" rtlCol="false" tIns="0" lIns="0" bIns="0" rIns="0">
            <a:spAutoFit/>
          </a:bodyPr>
          <a:lstStyle/>
          <a:p>
            <a:pPr algn="l">
              <a:lnSpc>
                <a:spcPts val="3276"/>
              </a:lnSpc>
            </a:pPr>
            <a:r>
              <a:rPr lang="en-US" b="true" sz="2600" spc="-57">
                <a:solidFill>
                  <a:srgbClr val="000000"/>
                </a:solidFill>
                <a:latin typeface="HK Grotesk Bold"/>
                <a:ea typeface="HK Grotesk Bold"/>
                <a:cs typeface="HK Grotesk Bold"/>
                <a:sym typeface="HK Grotesk Bold"/>
              </a:rPr>
              <a:t>Scope of the Study</a:t>
            </a:r>
          </a:p>
        </p:txBody>
      </p:sp>
      <p:sp>
        <p:nvSpPr>
          <p:cNvPr name="TextBox 20" id="20"/>
          <p:cNvSpPr txBox="true"/>
          <p:nvPr/>
        </p:nvSpPr>
        <p:spPr>
          <a:xfrm rot="0">
            <a:off x="11247337" y="4247070"/>
            <a:ext cx="4204449" cy="408813"/>
          </a:xfrm>
          <a:prstGeom prst="rect">
            <a:avLst/>
          </a:prstGeom>
        </p:spPr>
        <p:txBody>
          <a:bodyPr anchor="t" rtlCol="false" tIns="0" lIns="0" bIns="0" rIns="0">
            <a:spAutoFit/>
          </a:bodyPr>
          <a:lstStyle/>
          <a:p>
            <a:pPr algn="l">
              <a:lnSpc>
                <a:spcPts val="3276"/>
              </a:lnSpc>
            </a:pPr>
            <a:r>
              <a:rPr lang="en-US" sz="2600" spc="-57" b="true">
                <a:solidFill>
                  <a:srgbClr val="FFFFFF"/>
                </a:solidFill>
                <a:latin typeface="HK Grotesk Bold"/>
                <a:ea typeface="HK Grotesk Bold"/>
                <a:cs typeface="HK Grotesk Bold"/>
                <a:sym typeface="HK Grotesk Bold"/>
              </a:rPr>
              <a:t>Relevance of the Study</a:t>
            </a:r>
          </a:p>
        </p:txBody>
      </p:sp>
      <p:sp>
        <p:nvSpPr>
          <p:cNvPr name="TextBox 21" id="21"/>
          <p:cNvSpPr txBox="true"/>
          <p:nvPr/>
        </p:nvSpPr>
        <p:spPr>
          <a:xfrm rot="0">
            <a:off x="11247337" y="7686029"/>
            <a:ext cx="5701977" cy="1100963"/>
          </a:xfrm>
          <a:prstGeom prst="rect">
            <a:avLst/>
          </a:prstGeom>
        </p:spPr>
        <p:txBody>
          <a:bodyPr anchor="t" rtlCol="false" tIns="0" lIns="0" bIns="0" rIns="0">
            <a:spAutoFit/>
          </a:bodyPr>
          <a:lstStyle/>
          <a:p>
            <a:pPr algn="l">
              <a:lnSpc>
                <a:spcPts val="2763"/>
              </a:lnSpc>
            </a:pPr>
            <a:r>
              <a:rPr lang="en-US" sz="2032" spc="-50">
                <a:solidFill>
                  <a:srgbClr val="000000"/>
                </a:solidFill>
                <a:latin typeface="HK Grotesk"/>
                <a:ea typeface="HK Grotesk"/>
                <a:cs typeface="HK Grotesk"/>
                <a:sym typeface="HK Grotesk"/>
              </a:rPr>
              <a:t>Which member, manager and organisational factors explain adoption of mobile services, and does adoption improve welfare?</a:t>
            </a:r>
          </a:p>
        </p:txBody>
      </p:sp>
      <p:sp>
        <p:nvSpPr>
          <p:cNvPr name="TextBox 22" id="22"/>
          <p:cNvSpPr txBox="true"/>
          <p:nvPr/>
        </p:nvSpPr>
        <p:spPr>
          <a:xfrm rot="0">
            <a:off x="11247337" y="7060705"/>
            <a:ext cx="4204449" cy="408813"/>
          </a:xfrm>
          <a:prstGeom prst="rect">
            <a:avLst/>
          </a:prstGeom>
        </p:spPr>
        <p:txBody>
          <a:bodyPr anchor="t" rtlCol="false" tIns="0" lIns="0" bIns="0" rIns="0">
            <a:spAutoFit/>
          </a:bodyPr>
          <a:lstStyle/>
          <a:p>
            <a:pPr algn="l">
              <a:lnSpc>
                <a:spcPts val="3276"/>
              </a:lnSpc>
            </a:pPr>
            <a:r>
              <a:rPr lang="en-US" b="true" sz="2600" spc="-57">
                <a:solidFill>
                  <a:srgbClr val="000000"/>
                </a:solidFill>
                <a:latin typeface="HK Grotesk Bold"/>
                <a:ea typeface="HK Grotesk Bold"/>
                <a:cs typeface="HK Grotesk Bold"/>
                <a:sym typeface="HK Grotesk Bold"/>
              </a:rPr>
              <a:t>Research Question</a:t>
            </a:r>
          </a:p>
        </p:txBody>
      </p:sp>
      <p:sp>
        <p:nvSpPr>
          <p:cNvPr name="TextBox 23" id="23"/>
          <p:cNvSpPr txBox="true"/>
          <p:nvPr/>
        </p:nvSpPr>
        <p:spPr>
          <a:xfrm rot="0">
            <a:off x="1028700" y="6514650"/>
            <a:ext cx="5835752" cy="2735199"/>
          </a:xfrm>
          <a:prstGeom prst="rect">
            <a:avLst/>
          </a:prstGeom>
        </p:spPr>
        <p:txBody>
          <a:bodyPr anchor="t" rtlCol="false" tIns="0" lIns="0" bIns="0" rIns="0">
            <a:spAutoFit/>
          </a:bodyPr>
          <a:lstStyle/>
          <a:p>
            <a:pPr algn="l">
              <a:lnSpc>
                <a:spcPts val="3182"/>
              </a:lnSpc>
            </a:pPr>
            <a:r>
              <a:rPr lang="en-US" sz="2340" spc="-57">
                <a:solidFill>
                  <a:srgbClr val="FFFFFF"/>
                </a:solidFill>
                <a:latin typeface="HK Grotesk"/>
                <a:ea typeface="HK Grotesk"/>
                <a:cs typeface="HK Grotesk"/>
                <a:sym typeface="HK Grotesk"/>
              </a:rPr>
              <a:t>Members of paper-based cooperatives wait days for small loans and travel far for simple transactions. Managers say digital tools are expensive and members will not use them. Neither claim has been tested with data.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4490200" y="4738134"/>
            <a:ext cx="2980179" cy="3765343"/>
            <a:chOff x="0" y="0"/>
            <a:chExt cx="461708" cy="583350"/>
          </a:xfrm>
        </p:grpSpPr>
        <p:sp>
          <p:nvSpPr>
            <p:cNvPr name="Freeform 3" id="3"/>
            <p:cNvSpPr/>
            <p:nvPr/>
          </p:nvSpPr>
          <p:spPr>
            <a:xfrm flipH="false" flipV="false" rot="0">
              <a:off x="0" y="0"/>
              <a:ext cx="461708" cy="583350"/>
            </a:xfrm>
            <a:custGeom>
              <a:avLst/>
              <a:gdLst/>
              <a:ahLst/>
              <a:cxnLst/>
              <a:rect r="r" b="b" t="t" l="l"/>
              <a:pathLst>
                <a:path h="583350" w="461708">
                  <a:moveTo>
                    <a:pt x="129890" y="0"/>
                  </a:moveTo>
                  <a:lnTo>
                    <a:pt x="331818" y="0"/>
                  </a:lnTo>
                  <a:cubicBezTo>
                    <a:pt x="403554" y="0"/>
                    <a:pt x="461708" y="58154"/>
                    <a:pt x="461708" y="129890"/>
                  </a:cubicBezTo>
                  <a:lnTo>
                    <a:pt x="461708" y="453460"/>
                  </a:lnTo>
                  <a:cubicBezTo>
                    <a:pt x="461708" y="525196"/>
                    <a:pt x="403554" y="583350"/>
                    <a:pt x="331818" y="583350"/>
                  </a:cubicBezTo>
                  <a:lnTo>
                    <a:pt x="129890" y="583350"/>
                  </a:lnTo>
                  <a:cubicBezTo>
                    <a:pt x="58154" y="583350"/>
                    <a:pt x="0" y="525196"/>
                    <a:pt x="0" y="453460"/>
                  </a:cubicBezTo>
                  <a:lnTo>
                    <a:pt x="0" y="129890"/>
                  </a:lnTo>
                  <a:cubicBezTo>
                    <a:pt x="0" y="58154"/>
                    <a:pt x="58154" y="0"/>
                    <a:pt x="129890" y="0"/>
                  </a:cubicBezTo>
                  <a:close/>
                </a:path>
              </a:pathLst>
            </a:custGeom>
            <a:blipFill>
              <a:blip r:embed="rId6"/>
              <a:stretch>
                <a:fillRect l="-13173" r="-13173"/>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4" id="4"/>
          <p:cNvGrpSpPr/>
          <p:nvPr/>
        </p:nvGrpSpPr>
        <p:grpSpPr>
          <a:xfrm rot="0">
            <a:off x="1138958" y="4738134"/>
            <a:ext cx="2980179" cy="3765343"/>
            <a:chOff x="0" y="0"/>
            <a:chExt cx="461708" cy="583350"/>
          </a:xfrm>
        </p:grpSpPr>
        <p:sp>
          <p:nvSpPr>
            <p:cNvPr name="Freeform 5" id="5"/>
            <p:cNvSpPr/>
            <p:nvPr/>
          </p:nvSpPr>
          <p:spPr>
            <a:xfrm flipH="false" flipV="false" rot="0">
              <a:off x="0" y="0"/>
              <a:ext cx="461708" cy="583350"/>
            </a:xfrm>
            <a:custGeom>
              <a:avLst/>
              <a:gdLst/>
              <a:ahLst/>
              <a:cxnLst/>
              <a:rect r="r" b="b" t="t" l="l"/>
              <a:pathLst>
                <a:path h="583350" w="461708">
                  <a:moveTo>
                    <a:pt x="129890" y="0"/>
                  </a:moveTo>
                  <a:lnTo>
                    <a:pt x="331818" y="0"/>
                  </a:lnTo>
                  <a:cubicBezTo>
                    <a:pt x="403554" y="0"/>
                    <a:pt x="461708" y="58154"/>
                    <a:pt x="461708" y="129890"/>
                  </a:cubicBezTo>
                  <a:lnTo>
                    <a:pt x="461708" y="453460"/>
                  </a:lnTo>
                  <a:cubicBezTo>
                    <a:pt x="461708" y="525196"/>
                    <a:pt x="403554" y="583350"/>
                    <a:pt x="331818" y="583350"/>
                  </a:cubicBezTo>
                  <a:lnTo>
                    <a:pt x="129890" y="583350"/>
                  </a:lnTo>
                  <a:cubicBezTo>
                    <a:pt x="58154" y="583350"/>
                    <a:pt x="0" y="525196"/>
                    <a:pt x="0" y="453460"/>
                  </a:cubicBezTo>
                  <a:lnTo>
                    <a:pt x="0" y="129890"/>
                  </a:lnTo>
                  <a:cubicBezTo>
                    <a:pt x="0" y="58154"/>
                    <a:pt x="58154" y="0"/>
                    <a:pt x="129890" y="0"/>
                  </a:cubicBezTo>
                  <a:close/>
                </a:path>
              </a:pathLst>
            </a:custGeom>
            <a:blipFill>
              <a:blip r:embed="rId6"/>
              <a:stretch>
                <a:fillRect l="-13173" r="-13173"/>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6" id="6"/>
          <p:cNvGrpSpPr/>
          <p:nvPr/>
        </p:nvGrpSpPr>
        <p:grpSpPr>
          <a:xfrm rot="0">
            <a:off x="7844143" y="4738134"/>
            <a:ext cx="2980179" cy="3765343"/>
            <a:chOff x="0" y="0"/>
            <a:chExt cx="461708" cy="583350"/>
          </a:xfrm>
        </p:grpSpPr>
        <p:sp>
          <p:nvSpPr>
            <p:cNvPr name="Freeform 7" id="7"/>
            <p:cNvSpPr/>
            <p:nvPr/>
          </p:nvSpPr>
          <p:spPr>
            <a:xfrm flipH="false" flipV="false" rot="0">
              <a:off x="0" y="0"/>
              <a:ext cx="461708" cy="583350"/>
            </a:xfrm>
            <a:custGeom>
              <a:avLst/>
              <a:gdLst/>
              <a:ahLst/>
              <a:cxnLst/>
              <a:rect r="r" b="b" t="t" l="l"/>
              <a:pathLst>
                <a:path h="583350" w="461708">
                  <a:moveTo>
                    <a:pt x="129890" y="0"/>
                  </a:moveTo>
                  <a:lnTo>
                    <a:pt x="331818" y="0"/>
                  </a:lnTo>
                  <a:cubicBezTo>
                    <a:pt x="403554" y="0"/>
                    <a:pt x="461708" y="58154"/>
                    <a:pt x="461708" y="129890"/>
                  </a:cubicBezTo>
                  <a:lnTo>
                    <a:pt x="461708" y="453460"/>
                  </a:lnTo>
                  <a:cubicBezTo>
                    <a:pt x="461708" y="525196"/>
                    <a:pt x="403554" y="583350"/>
                    <a:pt x="331818" y="583350"/>
                  </a:cubicBezTo>
                  <a:lnTo>
                    <a:pt x="129890" y="583350"/>
                  </a:lnTo>
                  <a:cubicBezTo>
                    <a:pt x="58154" y="583350"/>
                    <a:pt x="0" y="525196"/>
                    <a:pt x="0" y="453460"/>
                  </a:cubicBezTo>
                  <a:lnTo>
                    <a:pt x="0" y="129890"/>
                  </a:lnTo>
                  <a:cubicBezTo>
                    <a:pt x="0" y="58154"/>
                    <a:pt x="58154" y="0"/>
                    <a:pt x="129890" y="0"/>
                  </a:cubicBezTo>
                  <a:close/>
                </a:path>
              </a:pathLst>
            </a:custGeom>
            <a:blipFill>
              <a:blip r:embed="rId6"/>
              <a:stretch>
                <a:fillRect l="-13173" r="-13173"/>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8" id="8"/>
          <p:cNvGrpSpPr/>
          <p:nvPr/>
        </p:nvGrpSpPr>
        <p:grpSpPr>
          <a:xfrm rot="0">
            <a:off x="4584154" y="7950186"/>
            <a:ext cx="2792271" cy="1308114"/>
            <a:chOff x="0" y="0"/>
            <a:chExt cx="1051018" cy="492377"/>
          </a:xfrm>
        </p:grpSpPr>
        <p:sp>
          <p:nvSpPr>
            <p:cNvPr name="Freeform 9" id="9"/>
            <p:cNvSpPr/>
            <p:nvPr/>
          </p:nvSpPr>
          <p:spPr>
            <a:xfrm flipH="false" flipV="false" rot="0">
              <a:off x="0" y="0"/>
              <a:ext cx="1051018" cy="492377"/>
            </a:xfrm>
            <a:custGeom>
              <a:avLst/>
              <a:gdLst/>
              <a:ahLst/>
              <a:cxnLst/>
              <a:rect r="r" b="b" t="t" l="l"/>
              <a:pathLst>
                <a:path h="492377" w="1051018">
                  <a:moveTo>
                    <a:pt x="83179" y="0"/>
                  </a:moveTo>
                  <a:lnTo>
                    <a:pt x="967840" y="0"/>
                  </a:lnTo>
                  <a:cubicBezTo>
                    <a:pt x="989900" y="0"/>
                    <a:pt x="1011057" y="8763"/>
                    <a:pt x="1026656" y="24362"/>
                  </a:cubicBezTo>
                  <a:cubicBezTo>
                    <a:pt x="1042255" y="39962"/>
                    <a:pt x="1051018" y="61118"/>
                    <a:pt x="1051018" y="83179"/>
                  </a:cubicBezTo>
                  <a:lnTo>
                    <a:pt x="1051018" y="409199"/>
                  </a:lnTo>
                  <a:cubicBezTo>
                    <a:pt x="1051018" y="431259"/>
                    <a:pt x="1042255" y="452416"/>
                    <a:pt x="1026656" y="468015"/>
                  </a:cubicBezTo>
                  <a:cubicBezTo>
                    <a:pt x="1011057" y="483614"/>
                    <a:pt x="989900" y="492377"/>
                    <a:pt x="967840" y="492377"/>
                  </a:cubicBezTo>
                  <a:lnTo>
                    <a:pt x="83179" y="492377"/>
                  </a:lnTo>
                  <a:cubicBezTo>
                    <a:pt x="61118" y="492377"/>
                    <a:pt x="39962" y="483614"/>
                    <a:pt x="24362" y="468015"/>
                  </a:cubicBezTo>
                  <a:cubicBezTo>
                    <a:pt x="8763" y="452416"/>
                    <a:pt x="0" y="431259"/>
                    <a:pt x="0" y="409199"/>
                  </a:cubicBezTo>
                  <a:lnTo>
                    <a:pt x="0" y="83179"/>
                  </a:lnTo>
                  <a:cubicBezTo>
                    <a:pt x="0" y="61118"/>
                    <a:pt x="8763" y="39962"/>
                    <a:pt x="24362" y="24362"/>
                  </a:cubicBezTo>
                  <a:cubicBezTo>
                    <a:pt x="39962" y="8763"/>
                    <a:pt x="61118" y="0"/>
                    <a:pt x="83179" y="0"/>
                  </a:cubicBezTo>
                  <a:close/>
                </a:path>
              </a:pathLst>
            </a:custGeom>
            <a:solidFill>
              <a:srgbClr val="FFFFFF"/>
            </a:solid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0" id="10"/>
            <p:cNvSpPr txBox="true"/>
            <p:nvPr/>
          </p:nvSpPr>
          <p:spPr>
            <a:xfrm>
              <a:off x="0" y="76200"/>
              <a:ext cx="1051018" cy="416177"/>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11" id="11"/>
          <p:cNvGrpSpPr/>
          <p:nvPr/>
        </p:nvGrpSpPr>
        <p:grpSpPr>
          <a:xfrm rot="0">
            <a:off x="1235245" y="7950186"/>
            <a:ext cx="2792271" cy="1308114"/>
            <a:chOff x="0" y="0"/>
            <a:chExt cx="1051018" cy="492377"/>
          </a:xfrm>
        </p:grpSpPr>
        <p:sp>
          <p:nvSpPr>
            <p:cNvPr name="Freeform 12" id="12"/>
            <p:cNvSpPr/>
            <p:nvPr/>
          </p:nvSpPr>
          <p:spPr>
            <a:xfrm flipH="false" flipV="false" rot="0">
              <a:off x="0" y="0"/>
              <a:ext cx="1051018" cy="492377"/>
            </a:xfrm>
            <a:custGeom>
              <a:avLst/>
              <a:gdLst/>
              <a:ahLst/>
              <a:cxnLst/>
              <a:rect r="r" b="b" t="t" l="l"/>
              <a:pathLst>
                <a:path h="492377" w="1051018">
                  <a:moveTo>
                    <a:pt x="83179" y="0"/>
                  </a:moveTo>
                  <a:lnTo>
                    <a:pt x="967840" y="0"/>
                  </a:lnTo>
                  <a:cubicBezTo>
                    <a:pt x="989900" y="0"/>
                    <a:pt x="1011057" y="8763"/>
                    <a:pt x="1026656" y="24362"/>
                  </a:cubicBezTo>
                  <a:cubicBezTo>
                    <a:pt x="1042255" y="39962"/>
                    <a:pt x="1051018" y="61118"/>
                    <a:pt x="1051018" y="83179"/>
                  </a:cubicBezTo>
                  <a:lnTo>
                    <a:pt x="1051018" y="409199"/>
                  </a:lnTo>
                  <a:cubicBezTo>
                    <a:pt x="1051018" y="431259"/>
                    <a:pt x="1042255" y="452416"/>
                    <a:pt x="1026656" y="468015"/>
                  </a:cubicBezTo>
                  <a:cubicBezTo>
                    <a:pt x="1011057" y="483614"/>
                    <a:pt x="989900" y="492377"/>
                    <a:pt x="967840" y="492377"/>
                  </a:cubicBezTo>
                  <a:lnTo>
                    <a:pt x="83179" y="492377"/>
                  </a:lnTo>
                  <a:cubicBezTo>
                    <a:pt x="61118" y="492377"/>
                    <a:pt x="39962" y="483614"/>
                    <a:pt x="24362" y="468015"/>
                  </a:cubicBezTo>
                  <a:cubicBezTo>
                    <a:pt x="8763" y="452416"/>
                    <a:pt x="0" y="431259"/>
                    <a:pt x="0" y="409199"/>
                  </a:cubicBezTo>
                  <a:lnTo>
                    <a:pt x="0" y="83179"/>
                  </a:lnTo>
                  <a:cubicBezTo>
                    <a:pt x="0" y="61118"/>
                    <a:pt x="8763" y="39962"/>
                    <a:pt x="24362" y="24362"/>
                  </a:cubicBezTo>
                  <a:cubicBezTo>
                    <a:pt x="39962" y="8763"/>
                    <a:pt x="61118" y="0"/>
                    <a:pt x="83179" y="0"/>
                  </a:cubicBezTo>
                  <a:close/>
                </a:path>
              </a:pathLst>
            </a:custGeom>
            <a:solidFill>
              <a:srgbClr val="FFFFFF"/>
            </a:solid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3" id="13"/>
            <p:cNvSpPr txBox="true"/>
            <p:nvPr/>
          </p:nvSpPr>
          <p:spPr>
            <a:xfrm>
              <a:off x="0" y="76200"/>
              <a:ext cx="1051018" cy="416177"/>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14" id="14"/>
          <p:cNvGrpSpPr/>
          <p:nvPr/>
        </p:nvGrpSpPr>
        <p:grpSpPr>
          <a:xfrm rot="0">
            <a:off x="7935396" y="7950186"/>
            <a:ext cx="2792271" cy="1308114"/>
            <a:chOff x="0" y="0"/>
            <a:chExt cx="1051018" cy="492377"/>
          </a:xfrm>
        </p:grpSpPr>
        <p:sp>
          <p:nvSpPr>
            <p:cNvPr name="Freeform 15" id="15"/>
            <p:cNvSpPr/>
            <p:nvPr/>
          </p:nvSpPr>
          <p:spPr>
            <a:xfrm flipH="false" flipV="false" rot="0">
              <a:off x="0" y="0"/>
              <a:ext cx="1051018" cy="492377"/>
            </a:xfrm>
            <a:custGeom>
              <a:avLst/>
              <a:gdLst/>
              <a:ahLst/>
              <a:cxnLst/>
              <a:rect r="r" b="b" t="t" l="l"/>
              <a:pathLst>
                <a:path h="492377" w="1051018">
                  <a:moveTo>
                    <a:pt x="83179" y="0"/>
                  </a:moveTo>
                  <a:lnTo>
                    <a:pt x="967840" y="0"/>
                  </a:lnTo>
                  <a:cubicBezTo>
                    <a:pt x="989900" y="0"/>
                    <a:pt x="1011057" y="8763"/>
                    <a:pt x="1026656" y="24362"/>
                  </a:cubicBezTo>
                  <a:cubicBezTo>
                    <a:pt x="1042255" y="39962"/>
                    <a:pt x="1051018" y="61118"/>
                    <a:pt x="1051018" y="83179"/>
                  </a:cubicBezTo>
                  <a:lnTo>
                    <a:pt x="1051018" y="409199"/>
                  </a:lnTo>
                  <a:cubicBezTo>
                    <a:pt x="1051018" y="431259"/>
                    <a:pt x="1042255" y="452416"/>
                    <a:pt x="1026656" y="468015"/>
                  </a:cubicBezTo>
                  <a:cubicBezTo>
                    <a:pt x="1011057" y="483614"/>
                    <a:pt x="989900" y="492377"/>
                    <a:pt x="967840" y="492377"/>
                  </a:cubicBezTo>
                  <a:lnTo>
                    <a:pt x="83179" y="492377"/>
                  </a:lnTo>
                  <a:cubicBezTo>
                    <a:pt x="61118" y="492377"/>
                    <a:pt x="39962" y="483614"/>
                    <a:pt x="24362" y="468015"/>
                  </a:cubicBezTo>
                  <a:cubicBezTo>
                    <a:pt x="8763" y="452416"/>
                    <a:pt x="0" y="431259"/>
                    <a:pt x="0" y="409199"/>
                  </a:cubicBezTo>
                  <a:lnTo>
                    <a:pt x="0" y="83179"/>
                  </a:lnTo>
                  <a:cubicBezTo>
                    <a:pt x="0" y="61118"/>
                    <a:pt x="8763" y="39962"/>
                    <a:pt x="24362" y="24362"/>
                  </a:cubicBezTo>
                  <a:cubicBezTo>
                    <a:pt x="39962" y="8763"/>
                    <a:pt x="61118" y="0"/>
                    <a:pt x="83179" y="0"/>
                  </a:cubicBezTo>
                  <a:close/>
                </a:path>
              </a:pathLst>
            </a:custGeom>
            <a:solidFill>
              <a:srgbClr val="FFFFFF"/>
            </a:solid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6" id="16"/>
            <p:cNvSpPr txBox="true"/>
            <p:nvPr/>
          </p:nvSpPr>
          <p:spPr>
            <a:xfrm>
              <a:off x="0" y="76200"/>
              <a:ext cx="1051018" cy="416177"/>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17" id="17"/>
          <p:cNvGrpSpPr/>
          <p:nvPr/>
        </p:nvGrpSpPr>
        <p:grpSpPr>
          <a:xfrm rot="0">
            <a:off x="11628350" y="4611307"/>
            <a:ext cx="5630950" cy="4646993"/>
            <a:chOff x="0" y="0"/>
            <a:chExt cx="872382" cy="719941"/>
          </a:xfrm>
        </p:grpSpPr>
        <p:sp>
          <p:nvSpPr>
            <p:cNvPr name="Freeform 18" id="18"/>
            <p:cNvSpPr/>
            <p:nvPr/>
          </p:nvSpPr>
          <p:spPr>
            <a:xfrm flipH="false" flipV="false" rot="0">
              <a:off x="0" y="0"/>
              <a:ext cx="872382" cy="719941"/>
            </a:xfrm>
            <a:custGeom>
              <a:avLst/>
              <a:gdLst/>
              <a:ahLst/>
              <a:cxnLst/>
              <a:rect r="r" b="b" t="t" l="l"/>
              <a:pathLst>
                <a:path h="719941" w="872382">
                  <a:moveTo>
                    <a:pt x="137489" y="0"/>
                  </a:moveTo>
                  <a:lnTo>
                    <a:pt x="734893" y="0"/>
                  </a:lnTo>
                  <a:cubicBezTo>
                    <a:pt x="771357" y="0"/>
                    <a:pt x="806328" y="14485"/>
                    <a:pt x="832112" y="40270"/>
                  </a:cubicBezTo>
                  <a:cubicBezTo>
                    <a:pt x="857896" y="66054"/>
                    <a:pt x="872382" y="101024"/>
                    <a:pt x="872382" y="137489"/>
                  </a:cubicBezTo>
                  <a:lnTo>
                    <a:pt x="872382" y="582452"/>
                  </a:lnTo>
                  <a:cubicBezTo>
                    <a:pt x="872382" y="618916"/>
                    <a:pt x="857896" y="653887"/>
                    <a:pt x="832112" y="679671"/>
                  </a:cubicBezTo>
                  <a:cubicBezTo>
                    <a:pt x="806328" y="705455"/>
                    <a:pt x="771357" y="719941"/>
                    <a:pt x="734893" y="719941"/>
                  </a:cubicBezTo>
                  <a:lnTo>
                    <a:pt x="137489" y="719941"/>
                  </a:lnTo>
                  <a:cubicBezTo>
                    <a:pt x="101024" y="719941"/>
                    <a:pt x="66054" y="705455"/>
                    <a:pt x="40270" y="679671"/>
                  </a:cubicBezTo>
                  <a:cubicBezTo>
                    <a:pt x="14485" y="653887"/>
                    <a:pt x="0" y="618916"/>
                    <a:pt x="0" y="582452"/>
                  </a:cubicBezTo>
                  <a:lnTo>
                    <a:pt x="0" y="137489"/>
                  </a:lnTo>
                  <a:cubicBezTo>
                    <a:pt x="0" y="101024"/>
                    <a:pt x="14485" y="66054"/>
                    <a:pt x="40270" y="40270"/>
                  </a:cubicBezTo>
                  <a:cubicBezTo>
                    <a:pt x="66054" y="14485"/>
                    <a:pt x="101024" y="0"/>
                    <a:pt x="137489" y="0"/>
                  </a:cubicBezTo>
                  <a:close/>
                </a:path>
              </a:pathLst>
            </a:custGeom>
            <a:blipFill>
              <a:blip r:embed="rId2"/>
              <a:stretch>
                <a:fillRect l="-11838" t="0" r="-11838" b="0"/>
              </a:stretch>
            </a:blip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grpSp>
      <p:sp>
        <p:nvSpPr>
          <p:cNvPr name="TextBox 19" id="19"/>
          <p:cNvSpPr txBox="true"/>
          <p:nvPr/>
        </p:nvSpPr>
        <p:spPr>
          <a:xfrm rot="0">
            <a:off x="7731183" y="8582352"/>
            <a:ext cx="3200696" cy="265430"/>
          </a:xfrm>
          <a:prstGeom prst="rect">
            <a:avLst/>
          </a:prstGeom>
        </p:spPr>
        <p:txBody>
          <a:bodyPr anchor="t" rtlCol="false" tIns="0" lIns="0" bIns="0" rIns="0">
            <a:spAutoFit/>
          </a:bodyPr>
          <a:lstStyle/>
          <a:p>
            <a:pPr algn="ctr" marL="0" indent="0" lvl="0">
              <a:lnSpc>
                <a:spcPts val="2125"/>
              </a:lnSpc>
              <a:spcBef>
                <a:spcPct val="0"/>
              </a:spcBef>
            </a:pPr>
            <a:r>
              <a:rPr lang="en-US" sz="1700" spc="-51">
                <a:solidFill>
                  <a:srgbClr val="000000"/>
                </a:solidFill>
                <a:latin typeface="HK Grotesk"/>
                <a:ea typeface="HK Grotesk"/>
                <a:cs typeface="HK Grotesk"/>
                <a:sym typeface="HK Grotesk"/>
              </a:rPr>
              <a:t>Institutional Theory</a:t>
            </a:r>
          </a:p>
        </p:txBody>
      </p:sp>
      <p:sp>
        <p:nvSpPr>
          <p:cNvPr name="TextBox 20" id="20"/>
          <p:cNvSpPr txBox="true"/>
          <p:nvPr/>
        </p:nvSpPr>
        <p:spPr>
          <a:xfrm rot="0">
            <a:off x="4379942" y="8582352"/>
            <a:ext cx="3200696" cy="265430"/>
          </a:xfrm>
          <a:prstGeom prst="rect">
            <a:avLst/>
          </a:prstGeom>
        </p:spPr>
        <p:txBody>
          <a:bodyPr anchor="t" rtlCol="false" tIns="0" lIns="0" bIns="0" rIns="0">
            <a:spAutoFit/>
          </a:bodyPr>
          <a:lstStyle/>
          <a:p>
            <a:pPr algn="ctr" marL="0" indent="0" lvl="0">
              <a:lnSpc>
                <a:spcPts val="2125"/>
              </a:lnSpc>
              <a:spcBef>
                <a:spcPct val="0"/>
              </a:spcBef>
            </a:pPr>
            <a:r>
              <a:rPr lang="en-US" sz="1700" spc="-51">
                <a:solidFill>
                  <a:srgbClr val="000000"/>
                </a:solidFill>
                <a:latin typeface="HK Grotesk"/>
                <a:ea typeface="HK Grotesk"/>
                <a:cs typeface="HK Grotesk"/>
                <a:sym typeface="HK Grotesk"/>
              </a:rPr>
              <a:t>Technology Acceptance</a:t>
            </a:r>
          </a:p>
        </p:txBody>
      </p:sp>
      <p:sp>
        <p:nvSpPr>
          <p:cNvPr name="TextBox 21" id="21"/>
          <p:cNvSpPr txBox="true"/>
          <p:nvPr/>
        </p:nvSpPr>
        <p:spPr>
          <a:xfrm rot="0">
            <a:off x="1028700" y="8582352"/>
            <a:ext cx="3200696" cy="265430"/>
          </a:xfrm>
          <a:prstGeom prst="rect">
            <a:avLst/>
          </a:prstGeom>
        </p:spPr>
        <p:txBody>
          <a:bodyPr anchor="t" rtlCol="false" tIns="0" lIns="0" bIns="0" rIns="0">
            <a:spAutoFit/>
          </a:bodyPr>
          <a:lstStyle/>
          <a:p>
            <a:pPr algn="ctr" marL="0" indent="0" lvl="0">
              <a:lnSpc>
                <a:spcPts val="2125"/>
              </a:lnSpc>
              <a:spcBef>
                <a:spcPct val="0"/>
              </a:spcBef>
            </a:pPr>
            <a:r>
              <a:rPr lang="en-US" sz="1700" spc="-51">
                <a:solidFill>
                  <a:srgbClr val="000000"/>
                </a:solidFill>
                <a:latin typeface="HK Grotesk"/>
                <a:ea typeface="HK Grotesk"/>
                <a:cs typeface="HK Grotesk"/>
                <a:sym typeface="HK Grotesk"/>
              </a:rPr>
              <a:t>Diffusion of Innovations</a:t>
            </a:r>
          </a:p>
        </p:txBody>
      </p:sp>
      <p:sp>
        <p:nvSpPr>
          <p:cNvPr name="TextBox 22" id="22"/>
          <p:cNvSpPr txBox="true"/>
          <p:nvPr/>
        </p:nvSpPr>
        <p:spPr>
          <a:xfrm rot="0">
            <a:off x="7731183" y="8874452"/>
            <a:ext cx="3200696" cy="210820"/>
          </a:xfrm>
          <a:prstGeom prst="rect">
            <a:avLst/>
          </a:prstGeom>
        </p:spPr>
        <p:txBody>
          <a:bodyPr anchor="t" rtlCol="false" tIns="0" lIns="0" bIns="0" rIns="0">
            <a:spAutoFit/>
          </a:bodyPr>
          <a:lstStyle/>
          <a:p>
            <a:pPr algn="ctr" marL="0" indent="0" lvl="0">
              <a:lnSpc>
                <a:spcPts val="1625"/>
              </a:lnSpc>
              <a:spcBef>
                <a:spcPct val="0"/>
              </a:spcBef>
            </a:pPr>
            <a:r>
              <a:rPr lang="en-US" sz="1300" i="true" spc="-39">
                <a:solidFill>
                  <a:srgbClr val="000000"/>
                </a:solidFill>
                <a:latin typeface="HK Grotesk Italics"/>
                <a:ea typeface="HK Grotesk Italics"/>
                <a:cs typeface="HK Grotesk Italics"/>
                <a:sym typeface="HK Grotesk Italics"/>
              </a:rPr>
              <a:t>Organisation level</a:t>
            </a:r>
          </a:p>
        </p:txBody>
      </p:sp>
      <p:sp>
        <p:nvSpPr>
          <p:cNvPr name="TextBox 23" id="23"/>
          <p:cNvSpPr txBox="true"/>
          <p:nvPr/>
        </p:nvSpPr>
        <p:spPr>
          <a:xfrm rot="0">
            <a:off x="4379942" y="8874452"/>
            <a:ext cx="3200696" cy="210820"/>
          </a:xfrm>
          <a:prstGeom prst="rect">
            <a:avLst/>
          </a:prstGeom>
        </p:spPr>
        <p:txBody>
          <a:bodyPr anchor="t" rtlCol="false" tIns="0" lIns="0" bIns="0" rIns="0">
            <a:spAutoFit/>
          </a:bodyPr>
          <a:lstStyle/>
          <a:p>
            <a:pPr algn="ctr" marL="0" indent="0" lvl="0">
              <a:lnSpc>
                <a:spcPts val="1625"/>
              </a:lnSpc>
              <a:spcBef>
                <a:spcPct val="0"/>
              </a:spcBef>
            </a:pPr>
            <a:r>
              <a:rPr lang="en-US" sz="1300" i="true" spc="-39">
                <a:solidFill>
                  <a:srgbClr val="000000"/>
                </a:solidFill>
                <a:latin typeface="HK Grotesk Italics"/>
                <a:ea typeface="HK Grotesk Italics"/>
                <a:cs typeface="HK Grotesk Italics"/>
                <a:sym typeface="HK Grotesk Italics"/>
              </a:rPr>
              <a:t>User level</a:t>
            </a:r>
          </a:p>
        </p:txBody>
      </p:sp>
      <p:sp>
        <p:nvSpPr>
          <p:cNvPr name="TextBox 24" id="24"/>
          <p:cNvSpPr txBox="true"/>
          <p:nvPr/>
        </p:nvSpPr>
        <p:spPr>
          <a:xfrm rot="0">
            <a:off x="1028700" y="8874452"/>
            <a:ext cx="3200696" cy="210820"/>
          </a:xfrm>
          <a:prstGeom prst="rect">
            <a:avLst/>
          </a:prstGeom>
        </p:spPr>
        <p:txBody>
          <a:bodyPr anchor="t" rtlCol="false" tIns="0" lIns="0" bIns="0" rIns="0">
            <a:spAutoFit/>
          </a:bodyPr>
          <a:lstStyle/>
          <a:p>
            <a:pPr algn="ctr" marL="0" indent="0" lvl="0">
              <a:lnSpc>
                <a:spcPts val="1625"/>
              </a:lnSpc>
              <a:spcBef>
                <a:spcPct val="0"/>
              </a:spcBef>
            </a:pPr>
            <a:r>
              <a:rPr lang="en-US" sz="1300" i="true" spc="-39">
                <a:solidFill>
                  <a:srgbClr val="000000"/>
                </a:solidFill>
                <a:latin typeface="HK Grotesk Italics"/>
                <a:ea typeface="HK Grotesk Italics"/>
                <a:cs typeface="HK Grotesk Italics"/>
                <a:sym typeface="HK Grotesk Italics"/>
              </a:rPr>
              <a:t>Member level</a:t>
            </a:r>
          </a:p>
        </p:txBody>
      </p:sp>
      <p:sp>
        <p:nvSpPr>
          <p:cNvPr name="TextBox 25" id="25"/>
          <p:cNvSpPr txBox="true"/>
          <p:nvPr/>
        </p:nvSpPr>
        <p:spPr>
          <a:xfrm rot="0">
            <a:off x="7731183" y="8109777"/>
            <a:ext cx="3200696" cy="393700"/>
          </a:xfrm>
          <a:prstGeom prst="rect">
            <a:avLst/>
          </a:prstGeom>
        </p:spPr>
        <p:txBody>
          <a:bodyPr anchor="t" rtlCol="false" tIns="0" lIns="0" bIns="0" rIns="0">
            <a:spAutoFit/>
          </a:bodyPr>
          <a:lstStyle/>
          <a:p>
            <a:pPr algn="ctr" marL="0" indent="0" lvl="0">
              <a:lnSpc>
                <a:spcPts val="3125"/>
              </a:lnSpc>
              <a:spcBef>
                <a:spcPct val="0"/>
              </a:spcBef>
            </a:pPr>
            <a:r>
              <a:rPr lang="en-US" b="true" sz="2500" spc="-75">
                <a:solidFill>
                  <a:srgbClr val="000000"/>
                </a:solidFill>
                <a:latin typeface="HK Grotesk Bold"/>
                <a:ea typeface="HK Grotesk Bold"/>
                <a:cs typeface="HK Grotesk Bold"/>
                <a:sym typeface="HK Grotesk Bold"/>
              </a:rPr>
              <a:t>W. R. Scott</a:t>
            </a:r>
          </a:p>
        </p:txBody>
      </p:sp>
      <p:sp>
        <p:nvSpPr>
          <p:cNvPr name="TextBox 26" id="26"/>
          <p:cNvSpPr txBox="true"/>
          <p:nvPr/>
        </p:nvSpPr>
        <p:spPr>
          <a:xfrm rot="0">
            <a:off x="4379942" y="8109777"/>
            <a:ext cx="3200696" cy="393700"/>
          </a:xfrm>
          <a:prstGeom prst="rect">
            <a:avLst/>
          </a:prstGeom>
        </p:spPr>
        <p:txBody>
          <a:bodyPr anchor="t" rtlCol="false" tIns="0" lIns="0" bIns="0" rIns="0">
            <a:spAutoFit/>
          </a:bodyPr>
          <a:lstStyle/>
          <a:p>
            <a:pPr algn="ctr" marL="0" indent="0" lvl="0">
              <a:lnSpc>
                <a:spcPts val="3125"/>
              </a:lnSpc>
              <a:spcBef>
                <a:spcPct val="0"/>
              </a:spcBef>
            </a:pPr>
            <a:r>
              <a:rPr lang="en-US" b="true" sz="2500" spc="-75">
                <a:solidFill>
                  <a:srgbClr val="000000"/>
                </a:solidFill>
                <a:latin typeface="HK Grotesk Bold"/>
                <a:ea typeface="HK Grotesk Bold"/>
                <a:cs typeface="HK Grotesk Bold"/>
                <a:sym typeface="HK Grotesk Bold"/>
              </a:rPr>
              <a:t>F. Davis</a:t>
            </a:r>
          </a:p>
        </p:txBody>
      </p:sp>
      <p:sp>
        <p:nvSpPr>
          <p:cNvPr name="TextBox 27" id="27"/>
          <p:cNvSpPr txBox="true"/>
          <p:nvPr/>
        </p:nvSpPr>
        <p:spPr>
          <a:xfrm rot="0">
            <a:off x="1028700" y="8109777"/>
            <a:ext cx="3200696" cy="393700"/>
          </a:xfrm>
          <a:prstGeom prst="rect">
            <a:avLst/>
          </a:prstGeom>
        </p:spPr>
        <p:txBody>
          <a:bodyPr anchor="t" rtlCol="false" tIns="0" lIns="0" bIns="0" rIns="0">
            <a:spAutoFit/>
          </a:bodyPr>
          <a:lstStyle/>
          <a:p>
            <a:pPr algn="ctr" marL="0" indent="0" lvl="0">
              <a:lnSpc>
                <a:spcPts val="3125"/>
              </a:lnSpc>
              <a:spcBef>
                <a:spcPct val="0"/>
              </a:spcBef>
            </a:pPr>
            <a:r>
              <a:rPr lang="en-US" b="true" sz="2500" spc="-75">
                <a:solidFill>
                  <a:srgbClr val="000000"/>
                </a:solidFill>
                <a:latin typeface="HK Grotesk Bold"/>
                <a:ea typeface="HK Grotesk Bold"/>
                <a:cs typeface="HK Grotesk Bold"/>
                <a:sym typeface="HK Grotesk Bold"/>
              </a:rPr>
              <a:t>E. Rogers</a:t>
            </a:r>
          </a:p>
        </p:txBody>
      </p:sp>
      <p:grpSp>
        <p:nvGrpSpPr>
          <p:cNvPr name="Group 28" id="28"/>
          <p:cNvGrpSpPr/>
          <p:nvPr/>
        </p:nvGrpSpPr>
        <p:grpSpPr>
          <a:xfrm rot="0">
            <a:off x="279200" y="387555"/>
            <a:ext cx="2155619" cy="2155619"/>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30" id="30"/>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31" id="31"/>
          <p:cNvSpPr txBox="true"/>
          <p:nvPr/>
        </p:nvSpPr>
        <p:spPr>
          <a:xfrm rot="0">
            <a:off x="1028700" y="1314450"/>
            <a:ext cx="7597481" cy="1142873"/>
          </a:xfrm>
          <a:prstGeom prst="rect">
            <a:avLst/>
          </a:prstGeom>
        </p:spPr>
        <p:txBody>
          <a:bodyPr anchor="t" rtlCol="false" tIns="0" lIns="0" bIns="0" rIns="0">
            <a:spAutoFit/>
          </a:bodyPr>
          <a:lstStyle/>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Framework</a:t>
            </a:r>
          </a:p>
        </p:txBody>
      </p:sp>
      <p:sp>
        <p:nvSpPr>
          <p:cNvPr name="TextBox 32" id="32"/>
          <p:cNvSpPr txBox="true"/>
          <p:nvPr/>
        </p:nvSpPr>
        <p:spPr>
          <a:xfrm rot="0">
            <a:off x="1028700" y="2839029"/>
            <a:ext cx="9698967" cy="1211199"/>
          </a:xfrm>
          <a:prstGeom prst="rect">
            <a:avLst/>
          </a:prstGeom>
        </p:spPr>
        <p:txBody>
          <a:bodyPr anchor="t" rtlCol="false" tIns="0" lIns="0" bIns="0" rIns="0">
            <a:spAutoFit/>
          </a:bodyPr>
          <a:lstStyle/>
          <a:p>
            <a:pPr algn="l">
              <a:lnSpc>
                <a:spcPts val="3182"/>
              </a:lnSpc>
            </a:pPr>
            <a:r>
              <a:rPr lang="en-US" sz="2340" spc="-57">
                <a:solidFill>
                  <a:srgbClr val="FFFFFF"/>
                </a:solidFill>
                <a:latin typeface="HK Grotesk"/>
                <a:ea typeface="HK Grotesk"/>
                <a:cs typeface="HK Grotesk"/>
                <a:sym typeface="HK Grotesk"/>
              </a:rPr>
              <a:t>Three established theories frame the study. Each one explains a different level: the individual member, the organisation, and the wider market.</a:t>
            </a:r>
          </a:p>
        </p:txBody>
      </p:sp>
      <p:grpSp>
        <p:nvGrpSpPr>
          <p:cNvPr name="Group 33" id="33"/>
          <p:cNvGrpSpPr/>
          <p:nvPr/>
        </p:nvGrpSpPr>
        <p:grpSpPr>
          <a:xfrm rot="0">
            <a:off x="11628350" y="1028700"/>
            <a:ext cx="5630950" cy="3021528"/>
            <a:chOff x="0" y="0"/>
            <a:chExt cx="1483049" cy="795793"/>
          </a:xfrm>
        </p:grpSpPr>
        <p:sp>
          <p:nvSpPr>
            <p:cNvPr name="Freeform 34" id="34"/>
            <p:cNvSpPr/>
            <p:nvPr/>
          </p:nvSpPr>
          <p:spPr>
            <a:xfrm flipH="false" flipV="false" rot="0">
              <a:off x="0" y="0"/>
              <a:ext cx="1483049" cy="795793"/>
            </a:xfrm>
            <a:custGeom>
              <a:avLst/>
              <a:gdLst/>
              <a:ahLst/>
              <a:cxnLst/>
              <a:rect r="r" b="b" t="t" l="l"/>
              <a:pathLst>
                <a:path h="795793" w="1483049">
                  <a:moveTo>
                    <a:pt x="137489" y="0"/>
                  </a:moveTo>
                  <a:lnTo>
                    <a:pt x="1345560" y="0"/>
                  </a:lnTo>
                  <a:cubicBezTo>
                    <a:pt x="1382024" y="0"/>
                    <a:pt x="1416995" y="14485"/>
                    <a:pt x="1442779" y="40270"/>
                  </a:cubicBezTo>
                  <a:cubicBezTo>
                    <a:pt x="1468563" y="66054"/>
                    <a:pt x="1483049" y="101024"/>
                    <a:pt x="1483049" y="137489"/>
                  </a:cubicBezTo>
                  <a:lnTo>
                    <a:pt x="1483049" y="658305"/>
                  </a:lnTo>
                  <a:cubicBezTo>
                    <a:pt x="1483049" y="694769"/>
                    <a:pt x="1468563" y="729740"/>
                    <a:pt x="1442779" y="755524"/>
                  </a:cubicBezTo>
                  <a:cubicBezTo>
                    <a:pt x="1416995" y="781308"/>
                    <a:pt x="1382024" y="795793"/>
                    <a:pt x="1345560" y="795793"/>
                  </a:cubicBezTo>
                  <a:lnTo>
                    <a:pt x="137489" y="795793"/>
                  </a:lnTo>
                  <a:cubicBezTo>
                    <a:pt x="101024" y="795793"/>
                    <a:pt x="66054" y="781308"/>
                    <a:pt x="40270" y="755524"/>
                  </a:cubicBezTo>
                  <a:cubicBezTo>
                    <a:pt x="14485" y="729740"/>
                    <a:pt x="0" y="694769"/>
                    <a:pt x="0" y="658305"/>
                  </a:cubicBezTo>
                  <a:lnTo>
                    <a:pt x="0" y="137489"/>
                  </a:lnTo>
                  <a:cubicBezTo>
                    <a:pt x="0" y="101024"/>
                    <a:pt x="14485" y="66054"/>
                    <a:pt x="40270" y="40270"/>
                  </a:cubicBezTo>
                  <a:cubicBezTo>
                    <a:pt x="66054" y="14485"/>
                    <a:pt x="101024" y="0"/>
                    <a:pt x="137489"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35" id="35"/>
            <p:cNvSpPr txBox="true"/>
            <p:nvPr/>
          </p:nvSpPr>
          <p:spPr>
            <a:xfrm>
              <a:off x="0" y="0"/>
              <a:ext cx="1483049" cy="795793"/>
            </a:xfrm>
            <a:prstGeom prst="rect">
              <a:avLst/>
            </a:prstGeom>
          </p:spPr>
          <p:txBody>
            <a:bodyPr anchor="ctr" rtlCol="false" tIns="50800" lIns="50800" bIns="50800" rIns="50800"/>
            <a:lstStyle/>
            <a:p>
              <a:pPr algn="ctr">
                <a:lnSpc>
                  <a:spcPts val="3119"/>
                </a:lnSpc>
              </a:pPr>
            </a:p>
            <a:p>
              <a:pPr algn="ctr">
                <a:lnSpc>
                  <a:spcPts val="3119"/>
                </a:lnSpc>
              </a:pPr>
            </a:p>
          </p:txBody>
        </p:sp>
      </p:grpSp>
      <p:sp>
        <p:nvSpPr>
          <p:cNvPr name="TextBox 36" id="36"/>
          <p:cNvSpPr txBox="true"/>
          <p:nvPr/>
        </p:nvSpPr>
        <p:spPr>
          <a:xfrm rot="0">
            <a:off x="12538272" y="2220044"/>
            <a:ext cx="3811107" cy="1172337"/>
          </a:xfrm>
          <a:prstGeom prst="rect">
            <a:avLst/>
          </a:prstGeom>
        </p:spPr>
        <p:txBody>
          <a:bodyPr anchor="t" rtlCol="false" tIns="0" lIns="0" bIns="0" rIns="0">
            <a:spAutoFit/>
          </a:bodyPr>
          <a:lstStyle/>
          <a:p>
            <a:pPr algn="l" marL="388620" indent="-194310" lvl="1">
              <a:lnSpc>
                <a:spcPts val="2734"/>
              </a:lnSpc>
              <a:buFont typeface="Arial"/>
              <a:buChar char="•"/>
            </a:pPr>
            <a:r>
              <a:rPr lang="en-US" sz="1536" spc="-37">
                <a:solidFill>
                  <a:srgbClr val="FFFFFF"/>
                </a:solidFill>
                <a:latin typeface="HK Grotesk"/>
                <a:ea typeface="HK Grotesk"/>
                <a:cs typeface="HK Grotesk"/>
                <a:sym typeface="HK Grotesk"/>
              </a:rPr>
              <a:t>Diffusion of Innovations</a:t>
            </a:r>
          </a:p>
          <a:p>
            <a:pPr algn="l" marL="388620" indent="-194310" lvl="1">
              <a:lnSpc>
                <a:spcPts val="2734"/>
              </a:lnSpc>
              <a:buFont typeface="Arial"/>
              <a:buChar char="•"/>
            </a:pPr>
            <a:r>
              <a:rPr lang="en-US" sz="1536" spc="-37">
                <a:solidFill>
                  <a:srgbClr val="FFFFFF"/>
                </a:solidFill>
                <a:latin typeface="HK Grotesk"/>
                <a:ea typeface="HK Grotesk"/>
                <a:cs typeface="HK Grotesk"/>
                <a:sym typeface="HK Grotesk"/>
              </a:rPr>
              <a:t>Technology Acceptance Model</a:t>
            </a:r>
          </a:p>
          <a:p>
            <a:pPr algn="l" marL="388620" indent="-194310" lvl="1">
              <a:lnSpc>
                <a:spcPts val="2734"/>
              </a:lnSpc>
              <a:buFont typeface="Arial"/>
              <a:buChar char="•"/>
            </a:pPr>
            <a:r>
              <a:rPr lang="en-US" sz="1536" spc="-37">
                <a:solidFill>
                  <a:srgbClr val="FFFFFF"/>
                </a:solidFill>
                <a:latin typeface="HK Grotesk"/>
                <a:ea typeface="HK Grotesk"/>
                <a:cs typeface="HK Grotesk"/>
                <a:sym typeface="HK Grotesk"/>
              </a:rPr>
              <a:t>Institutional Theory</a:t>
            </a:r>
          </a:p>
        </p:txBody>
      </p:sp>
      <p:sp>
        <p:nvSpPr>
          <p:cNvPr name="TextBox 37" id="37"/>
          <p:cNvSpPr txBox="true"/>
          <p:nvPr/>
        </p:nvSpPr>
        <p:spPr>
          <a:xfrm rot="0">
            <a:off x="12538272" y="1667497"/>
            <a:ext cx="3811107" cy="472440"/>
          </a:xfrm>
          <a:prstGeom prst="rect">
            <a:avLst/>
          </a:prstGeom>
        </p:spPr>
        <p:txBody>
          <a:bodyPr anchor="t" rtlCol="false" tIns="0" lIns="0" bIns="0" rIns="0">
            <a:spAutoFit/>
          </a:bodyPr>
          <a:lstStyle/>
          <a:p>
            <a:pPr algn="l">
              <a:lnSpc>
                <a:spcPts val="3779"/>
              </a:lnSpc>
            </a:pPr>
            <a:r>
              <a:rPr lang="en-US" b="true" sz="3000" spc="-65">
                <a:solidFill>
                  <a:srgbClr val="FFFFFF"/>
                </a:solidFill>
                <a:latin typeface="HK Grotesk Bold"/>
                <a:ea typeface="HK Grotesk Bold"/>
                <a:cs typeface="HK Grotesk Bold"/>
                <a:sym typeface="HK Grotesk Bold"/>
              </a:rPr>
              <a:t>Overview</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10395251" y="1028700"/>
            <a:ext cx="6864049" cy="8229600"/>
            <a:chOff x="0" y="0"/>
            <a:chExt cx="1098203" cy="1316683"/>
          </a:xfrm>
        </p:grpSpPr>
        <p:sp>
          <p:nvSpPr>
            <p:cNvPr name="Freeform 3" id="3"/>
            <p:cNvSpPr/>
            <p:nvPr/>
          </p:nvSpPr>
          <p:spPr>
            <a:xfrm flipH="false" flipV="false" rot="0">
              <a:off x="0" y="0"/>
              <a:ext cx="1098203" cy="1316683"/>
            </a:xfrm>
            <a:custGeom>
              <a:avLst/>
              <a:gdLst/>
              <a:ahLst/>
              <a:cxnLst/>
              <a:rect r="r" b="b" t="t" l="l"/>
              <a:pathLst>
                <a:path h="1316683" w="1098203">
                  <a:moveTo>
                    <a:pt x="89104" y="0"/>
                  </a:moveTo>
                  <a:lnTo>
                    <a:pt x="1009100" y="0"/>
                  </a:lnTo>
                  <a:cubicBezTo>
                    <a:pt x="1032732" y="0"/>
                    <a:pt x="1055395" y="9388"/>
                    <a:pt x="1072106" y="26098"/>
                  </a:cubicBezTo>
                  <a:cubicBezTo>
                    <a:pt x="1088816" y="42808"/>
                    <a:pt x="1098203" y="65472"/>
                    <a:pt x="1098203" y="89104"/>
                  </a:cubicBezTo>
                  <a:lnTo>
                    <a:pt x="1098203" y="1227579"/>
                  </a:lnTo>
                  <a:cubicBezTo>
                    <a:pt x="1098203" y="1276790"/>
                    <a:pt x="1058310" y="1316683"/>
                    <a:pt x="1009100" y="1316683"/>
                  </a:cubicBezTo>
                  <a:lnTo>
                    <a:pt x="89104" y="1316683"/>
                  </a:lnTo>
                  <a:cubicBezTo>
                    <a:pt x="39893" y="1316683"/>
                    <a:pt x="0" y="1276790"/>
                    <a:pt x="0" y="1227579"/>
                  </a:cubicBezTo>
                  <a:lnTo>
                    <a:pt x="0" y="89104"/>
                  </a:lnTo>
                  <a:cubicBezTo>
                    <a:pt x="0" y="39893"/>
                    <a:pt x="39893" y="0"/>
                    <a:pt x="89104" y="0"/>
                  </a:cubicBezTo>
                  <a:close/>
                </a:path>
              </a:pathLst>
            </a:custGeom>
            <a:blipFill>
              <a:blip r:embed="rId2"/>
              <a:stretch>
                <a:fillRect l="0" t="-12555" r="0" b="-12555"/>
              </a:stretch>
            </a:blipFill>
          </p:spPr>
        </p:sp>
      </p:grpSp>
      <p:grpSp>
        <p:nvGrpSpPr>
          <p:cNvPr name="Group 4" id="4"/>
          <p:cNvGrpSpPr/>
          <p:nvPr/>
        </p:nvGrpSpPr>
        <p:grpSpPr>
          <a:xfrm rot="0">
            <a:off x="7826875" y="6120793"/>
            <a:ext cx="6610889" cy="2554807"/>
            <a:chOff x="0" y="0"/>
            <a:chExt cx="1741140" cy="672871"/>
          </a:xfrm>
        </p:grpSpPr>
        <p:sp>
          <p:nvSpPr>
            <p:cNvPr name="Freeform 5" id="5"/>
            <p:cNvSpPr/>
            <p:nvPr/>
          </p:nvSpPr>
          <p:spPr>
            <a:xfrm flipH="false" flipV="false" rot="0">
              <a:off x="0" y="0"/>
              <a:ext cx="1741139" cy="672871"/>
            </a:xfrm>
            <a:custGeom>
              <a:avLst/>
              <a:gdLst/>
              <a:ahLst/>
              <a:cxnLst/>
              <a:rect r="r" b="b" t="t" l="l"/>
              <a:pathLst>
                <a:path h="672871" w="1741139">
                  <a:moveTo>
                    <a:pt x="94858" y="0"/>
                  </a:moveTo>
                  <a:lnTo>
                    <a:pt x="1646281" y="0"/>
                  </a:lnTo>
                  <a:cubicBezTo>
                    <a:pt x="1698670" y="0"/>
                    <a:pt x="1741139" y="42469"/>
                    <a:pt x="1741139" y="94858"/>
                  </a:cubicBezTo>
                  <a:lnTo>
                    <a:pt x="1741139" y="578013"/>
                  </a:lnTo>
                  <a:cubicBezTo>
                    <a:pt x="1741139" y="630402"/>
                    <a:pt x="1698670" y="672871"/>
                    <a:pt x="1646281" y="672871"/>
                  </a:cubicBezTo>
                  <a:lnTo>
                    <a:pt x="94858" y="672871"/>
                  </a:lnTo>
                  <a:cubicBezTo>
                    <a:pt x="42469" y="672871"/>
                    <a:pt x="0" y="630402"/>
                    <a:pt x="0" y="578013"/>
                  </a:cubicBezTo>
                  <a:lnTo>
                    <a:pt x="0" y="94858"/>
                  </a:lnTo>
                  <a:cubicBezTo>
                    <a:pt x="0" y="42469"/>
                    <a:pt x="42469" y="0"/>
                    <a:pt x="94858" y="0"/>
                  </a:cubicBezTo>
                  <a:close/>
                </a:path>
              </a:pathLst>
            </a:custGeom>
            <a:solidFill>
              <a:srgbClr val="FFFFFF"/>
            </a:soli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6" id="6"/>
            <p:cNvSpPr txBox="true"/>
            <p:nvPr/>
          </p:nvSpPr>
          <p:spPr>
            <a:xfrm>
              <a:off x="0" y="0"/>
              <a:ext cx="1741140" cy="672871"/>
            </a:xfrm>
            <a:prstGeom prst="rect">
              <a:avLst/>
            </a:prstGeom>
          </p:spPr>
          <p:txBody>
            <a:bodyPr anchor="ctr" rtlCol="false" tIns="50800" lIns="50800" bIns="50800" rIns="50800"/>
            <a:lstStyle/>
            <a:p>
              <a:pPr algn="ctr">
                <a:lnSpc>
                  <a:spcPts val="3119"/>
                </a:lnSpc>
              </a:pPr>
            </a:p>
            <a:p>
              <a:pPr algn="ctr">
                <a:lnSpc>
                  <a:spcPts val="3119"/>
                </a:lnSpc>
              </a:pPr>
            </a:p>
          </p:txBody>
        </p:sp>
      </p:grpSp>
      <p:sp>
        <p:nvSpPr>
          <p:cNvPr name="TextBox 7" id="7"/>
          <p:cNvSpPr txBox="true"/>
          <p:nvPr/>
        </p:nvSpPr>
        <p:spPr>
          <a:xfrm rot="0">
            <a:off x="8425801" y="7103328"/>
            <a:ext cx="5701977" cy="1100963"/>
          </a:xfrm>
          <a:prstGeom prst="rect">
            <a:avLst/>
          </a:prstGeom>
        </p:spPr>
        <p:txBody>
          <a:bodyPr anchor="t" rtlCol="false" tIns="0" lIns="0" bIns="0" rIns="0">
            <a:spAutoFit/>
          </a:bodyPr>
          <a:lstStyle/>
          <a:p>
            <a:pPr algn="l">
              <a:lnSpc>
                <a:spcPts val="2828"/>
              </a:lnSpc>
            </a:pPr>
            <a:r>
              <a:rPr lang="en-US" sz="2080" spc="-52">
                <a:solidFill>
                  <a:srgbClr val="000000"/>
                </a:solidFill>
                <a:latin typeface="HK Grotesk"/>
                <a:ea typeface="HK Grotesk"/>
                <a:cs typeface="HK Grotesk"/>
                <a:sym typeface="HK Grotesk"/>
              </a:rPr>
              <a:t>Household survey of 400 members in 40 cooperatives, analysed with multilevel logistic regression.</a:t>
            </a:r>
          </a:p>
        </p:txBody>
      </p:sp>
      <p:sp>
        <p:nvSpPr>
          <p:cNvPr name="TextBox 8" id="8"/>
          <p:cNvSpPr txBox="true"/>
          <p:nvPr/>
        </p:nvSpPr>
        <p:spPr>
          <a:xfrm rot="0">
            <a:off x="8425801" y="6478004"/>
            <a:ext cx="4204449" cy="408813"/>
          </a:xfrm>
          <a:prstGeom prst="rect">
            <a:avLst/>
          </a:prstGeom>
        </p:spPr>
        <p:txBody>
          <a:bodyPr anchor="t" rtlCol="false" tIns="0" lIns="0" bIns="0" rIns="0">
            <a:spAutoFit/>
          </a:bodyPr>
          <a:lstStyle/>
          <a:p>
            <a:pPr algn="l">
              <a:lnSpc>
                <a:spcPts val="3276"/>
              </a:lnSpc>
            </a:pPr>
            <a:r>
              <a:rPr lang="en-US" b="true" sz="2600" spc="-57">
                <a:solidFill>
                  <a:srgbClr val="000000"/>
                </a:solidFill>
                <a:latin typeface="HK Grotesk Bold"/>
                <a:ea typeface="HK Grotesk Bold"/>
                <a:cs typeface="HK Grotesk Bold"/>
                <a:sym typeface="HK Grotesk Bold"/>
              </a:rPr>
              <a:t>Quantitative Methods</a:t>
            </a:r>
          </a:p>
        </p:txBody>
      </p:sp>
      <p:grpSp>
        <p:nvGrpSpPr>
          <p:cNvPr name="Group 9" id="9"/>
          <p:cNvGrpSpPr/>
          <p:nvPr/>
        </p:nvGrpSpPr>
        <p:grpSpPr>
          <a:xfrm rot="0">
            <a:off x="1028700" y="6120793"/>
            <a:ext cx="6610889" cy="2554807"/>
            <a:chOff x="0" y="0"/>
            <a:chExt cx="1741140" cy="672871"/>
          </a:xfrm>
        </p:grpSpPr>
        <p:sp>
          <p:nvSpPr>
            <p:cNvPr name="Freeform 10" id="10"/>
            <p:cNvSpPr/>
            <p:nvPr/>
          </p:nvSpPr>
          <p:spPr>
            <a:xfrm flipH="false" flipV="false" rot="0">
              <a:off x="0" y="0"/>
              <a:ext cx="1741139" cy="672871"/>
            </a:xfrm>
            <a:custGeom>
              <a:avLst/>
              <a:gdLst/>
              <a:ahLst/>
              <a:cxnLst/>
              <a:rect r="r" b="b" t="t" l="l"/>
              <a:pathLst>
                <a:path h="672871" w="1741139">
                  <a:moveTo>
                    <a:pt x="94858" y="0"/>
                  </a:moveTo>
                  <a:lnTo>
                    <a:pt x="1646281" y="0"/>
                  </a:lnTo>
                  <a:cubicBezTo>
                    <a:pt x="1698670" y="0"/>
                    <a:pt x="1741139" y="42469"/>
                    <a:pt x="1741139" y="94858"/>
                  </a:cubicBezTo>
                  <a:lnTo>
                    <a:pt x="1741139" y="578013"/>
                  </a:lnTo>
                  <a:cubicBezTo>
                    <a:pt x="1741139" y="630402"/>
                    <a:pt x="1698670" y="672871"/>
                    <a:pt x="1646281" y="672871"/>
                  </a:cubicBezTo>
                  <a:lnTo>
                    <a:pt x="94858" y="672871"/>
                  </a:lnTo>
                  <a:cubicBezTo>
                    <a:pt x="42469" y="672871"/>
                    <a:pt x="0" y="630402"/>
                    <a:pt x="0" y="578013"/>
                  </a:cubicBezTo>
                  <a:lnTo>
                    <a:pt x="0" y="94858"/>
                  </a:lnTo>
                  <a:cubicBezTo>
                    <a:pt x="0" y="42469"/>
                    <a:pt x="42469" y="0"/>
                    <a:pt x="94858"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11" id="11"/>
            <p:cNvSpPr txBox="true"/>
            <p:nvPr/>
          </p:nvSpPr>
          <p:spPr>
            <a:xfrm>
              <a:off x="0" y="0"/>
              <a:ext cx="1741140" cy="672871"/>
            </a:xfrm>
            <a:prstGeom prst="rect">
              <a:avLst/>
            </a:prstGeom>
          </p:spPr>
          <p:txBody>
            <a:bodyPr anchor="ctr" rtlCol="false" tIns="50800" lIns="50800" bIns="50800" rIns="50800"/>
            <a:lstStyle/>
            <a:p>
              <a:pPr algn="ctr">
                <a:lnSpc>
                  <a:spcPts val="3119"/>
                </a:lnSpc>
              </a:pPr>
            </a:p>
            <a:p>
              <a:pPr algn="ctr">
                <a:lnSpc>
                  <a:spcPts val="3119"/>
                </a:lnSpc>
              </a:pPr>
            </a:p>
          </p:txBody>
        </p:sp>
      </p:grpSp>
      <p:sp>
        <p:nvSpPr>
          <p:cNvPr name="TextBox 12" id="12"/>
          <p:cNvSpPr txBox="true"/>
          <p:nvPr/>
        </p:nvSpPr>
        <p:spPr>
          <a:xfrm rot="0">
            <a:off x="1627626" y="7127090"/>
            <a:ext cx="5701977" cy="1100963"/>
          </a:xfrm>
          <a:prstGeom prst="rect">
            <a:avLst/>
          </a:prstGeom>
        </p:spPr>
        <p:txBody>
          <a:bodyPr anchor="t" rtlCol="false" tIns="0" lIns="0" bIns="0" rIns="0">
            <a:spAutoFit/>
          </a:bodyPr>
          <a:lstStyle/>
          <a:p>
            <a:pPr algn="l">
              <a:lnSpc>
                <a:spcPts val="2828"/>
              </a:lnSpc>
            </a:pPr>
            <a:r>
              <a:rPr lang="en-US" sz="2080" spc="-52">
                <a:solidFill>
                  <a:srgbClr val="FFFFFF"/>
                </a:solidFill>
                <a:latin typeface="HK Grotesk"/>
                <a:ea typeface="HK Grotesk"/>
                <a:cs typeface="HK Grotesk"/>
                <a:sym typeface="HK Grotesk"/>
              </a:rPr>
              <a:t>Thirty-two semi-structured interviews with members, managers and officials, analysed with thematic coding.</a:t>
            </a:r>
          </a:p>
        </p:txBody>
      </p:sp>
      <p:sp>
        <p:nvSpPr>
          <p:cNvPr name="TextBox 13" id="13"/>
          <p:cNvSpPr txBox="true"/>
          <p:nvPr/>
        </p:nvSpPr>
        <p:spPr>
          <a:xfrm rot="0">
            <a:off x="1627626" y="6501766"/>
            <a:ext cx="4204449" cy="408813"/>
          </a:xfrm>
          <a:prstGeom prst="rect">
            <a:avLst/>
          </a:prstGeom>
        </p:spPr>
        <p:txBody>
          <a:bodyPr anchor="t" rtlCol="false" tIns="0" lIns="0" bIns="0" rIns="0">
            <a:spAutoFit/>
          </a:bodyPr>
          <a:lstStyle/>
          <a:p>
            <a:pPr algn="l">
              <a:lnSpc>
                <a:spcPts val="3276"/>
              </a:lnSpc>
            </a:pPr>
            <a:r>
              <a:rPr lang="en-US" b="true" sz="2600" spc="-57">
                <a:solidFill>
                  <a:srgbClr val="FFFFFF"/>
                </a:solidFill>
                <a:latin typeface="HK Grotesk Bold"/>
                <a:ea typeface="HK Grotesk Bold"/>
                <a:cs typeface="HK Grotesk Bold"/>
                <a:sym typeface="HK Grotesk Bold"/>
              </a:rPr>
              <a:t>Qualitative Methods</a:t>
            </a:r>
          </a:p>
        </p:txBody>
      </p:sp>
      <p:sp>
        <p:nvSpPr>
          <p:cNvPr name="TextBox 14" id="14"/>
          <p:cNvSpPr txBox="true"/>
          <p:nvPr/>
        </p:nvSpPr>
        <p:spPr>
          <a:xfrm rot="0">
            <a:off x="1028700" y="3328675"/>
            <a:ext cx="8115300" cy="2125599"/>
          </a:xfrm>
          <a:prstGeom prst="rect">
            <a:avLst/>
          </a:prstGeom>
        </p:spPr>
        <p:txBody>
          <a:bodyPr anchor="t" rtlCol="false" tIns="0" lIns="0" bIns="0" rIns="0">
            <a:spAutoFit/>
          </a:bodyPr>
          <a:lstStyle/>
          <a:p>
            <a:pPr algn="l">
              <a:lnSpc>
                <a:spcPts val="3182"/>
              </a:lnSpc>
            </a:pPr>
            <a:r>
              <a:rPr lang="en-US" sz="2340" spc="-57">
                <a:solidFill>
                  <a:srgbClr val="FFFFFF"/>
                </a:solidFill>
                <a:latin typeface="HK Grotesk"/>
                <a:ea typeface="HK Grotesk"/>
                <a:cs typeface="HK Grotesk"/>
                <a:sym typeface="HK Grotesk"/>
              </a:rPr>
              <a:t>A sequential mixed-methods design. Interviews come first and shape the survey, so the questionnaire uses the words members use themselves.</a:t>
            </a:r>
          </a:p>
        </p:txBody>
      </p:sp>
      <p:grpSp>
        <p:nvGrpSpPr>
          <p:cNvPr name="Group 15" id="15"/>
          <p:cNvGrpSpPr/>
          <p:nvPr/>
        </p:nvGrpSpPr>
        <p:grpSpPr>
          <a:xfrm rot="0">
            <a:off x="279200" y="387555"/>
            <a:ext cx="2155619" cy="2155619"/>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17" id="17"/>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18" id="18"/>
          <p:cNvSpPr txBox="true"/>
          <p:nvPr/>
        </p:nvSpPr>
        <p:spPr>
          <a:xfrm rot="0">
            <a:off x="1028700" y="1314450"/>
            <a:ext cx="8238451" cy="1142873"/>
          </a:xfrm>
          <a:prstGeom prst="rect">
            <a:avLst/>
          </a:prstGeom>
        </p:spPr>
        <p:txBody>
          <a:bodyPr anchor="t" rtlCol="false" tIns="0" lIns="0" bIns="0" rIns="0">
            <a:spAutoFit/>
          </a:bodyPr>
          <a:lstStyle/>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Methodology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9408177" y="659663"/>
            <a:ext cx="2155619" cy="215561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5" id="5"/>
          <p:cNvSpPr txBox="true"/>
          <p:nvPr/>
        </p:nvSpPr>
        <p:spPr>
          <a:xfrm rot="0">
            <a:off x="10157677" y="1315483"/>
            <a:ext cx="7101623" cy="2285746"/>
          </a:xfrm>
          <a:prstGeom prst="rect">
            <a:avLst/>
          </a:prstGeom>
        </p:spPr>
        <p:txBody>
          <a:bodyPr anchor="t" rtlCol="false" tIns="0" lIns="0" bIns="0" rIns="0">
            <a:spAutoFit/>
          </a:bodyPr>
          <a:lstStyle/>
          <a:p>
            <a:pPr algn="l">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Qualitative Data</a:t>
            </a:r>
          </a:p>
        </p:txBody>
      </p:sp>
      <p:sp>
        <p:nvSpPr>
          <p:cNvPr name="TextBox 6" id="6"/>
          <p:cNvSpPr txBox="true"/>
          <p:nvPr/>
        </p:nvSpPr>
        <p:spPr>
          <a:xfrm rot="0">
            <a:off x="10157677" y="5158995"/>
            <a:ext cx="7101623" cy="2125599"/>
          </a:xfrm>
          <a:prstGeom prst="rect">
            <a:avLst/>
          </a:prstGeom>
        </p:spPr>
        <p:txBody>
          <a:bodyPr anchor="t" rtlCol="false" tIns="0" lIns="0" bIns="0" rIns="0">
            <a:spAutoFit/>
          </a:bodyPr>
          <a:lstStyle/>
          <a:p>
            <a:pPr algn="l">
              <a:lnSpc>
                <a:spcPts val="3182"/>
              </a:lnSpc>
            </a:pPr>
            <a:r>
              <a:rPr lang="en-US" sz="2340" spc="-57">
                <a:solidFill>
                  <a:srgbClr val="FFFFFF"/>
                </a:solidFill>
                <a:latin typeface="HK Grotesk"/>
                <a:ea typeface="HK Grotesk"/>
                <a:cs typeface="HK Grotesk"/>
                <a:sym typeface="HK Grotesk"/>
              </a:rPr>
              <a:t>Interview participants are chosen to cover the range of roles inside a cooperative. Each group sees adoption from a different side.</a:t>
            </a:r>
          </a:p>
        </p:txBody>
      </p:sp>
      <p:sp>
        <p:nvSpPr>
          <p:cNvPr name="TextBox 7" id="7"/>
          <p:cNvSpPr txBox="true"/>
          <p:nvPr/>
        </p:nvSpPr>
        <p:spPr>
          <a:xfrm rot="0">
            <a:off x="10157677" y="7742301"/>
            <a:ext cx="7101623" cy="1515999"/>
          </a:xfrm>
          <a:prstGeom prst="rect">
            <a:avLst/>
          </a:prstGeom>
        </p:spPr>
        <p:txBody>
          <a:bodyPr anchor="t" rtlCol="false" tIns="0" lIns="0" bIns="0" rIns="0">
            <a:spAutoFit/>
          </a:bodyPr>
          <a:lstStyle/>
          <a:p>
            <a:pPr algn="l">
              <a:lnSpc>
                <a:spcPts val="3182"/>
              </a:lnSpc>
            </a:pPr>
            <a:r>
              <a:rPr lang="en-US" sz="2340" spc="-57">
                <a:solidFill>
                  <a:srgbClr val="FFFFFF"/>
                </a:solidFill>
                <a:latin typeface="HK Grotesk"/>
                <a:ea typeface="HK Grotesk"/>
                <a:cs typeface="HK Grotesk"/>
                <a:sym typeface="HK Grotesk"/>
              </a:rPr>
              <a:t>All interviews are recorded with consent and transcribed in Bahasa Indonesia.</a:t>
            </a:r>
          </a:p>
        </p:txBody>
      </p:sp>
      <p:grpSp>
        <p:nvGrpSpPr>
          <p:cNvPr name="Group 8" id="8"/>
          <p:cNvGrpSpPr/>
          <p:nvPr/>
        </p:nvGrpSpPr>
        <p:grpSpPr>
          <a:xfrm rot="0">
            <a:off x="1028700" y="5366834"/>
            <a:ext cx="3315174" cy="2816090"/>
            <a:chOff x="0" y="0"/>
            <a:chExt cx="552217" cy="469083"/>
          </a:xfrm>
        </p:grpSpPr>
        <p:sp>
          <p:nvSpPr>
            <p:cNvPr name="Freeform 9" id="9"/>
            <p:cNvSpPr/>
            <p:nvPr/>
          </p:nvSpPr>
          <p:spPr>
            <a:xfrm flipH="false" flipV="false" rot="0">
              <a:off x="0" y="0"/>
              <a:ext cx="552217" cy="469083"/>
            </a:xfrm>
            <a:custGeom>
              <a:avLst/>
              <a:gdLst/>
              <a:ahLst/>
              <a:cxnLst/>
              <a:rect r="r" b="b" t="t" l="l"/>
              <a:pathLst>
                <a:path h="469083" w="552217">
                  <a:moveTo>
                    <a:pt x="81735" y="0"/>
                  </a:moveTo>
                  <a:lnTo>
                    <a:pt x="470481" y="0"/>
                  </a:lnTo>
                  <a:cubicBezTo>
                    <a:pt x="515622" y="0"/>
                    <a:pt x="552217" y="36594"/>
                    <a:pt x="552217" y="81735"/>
                  </a:cubicBezTo>
                  <a:lnTo>
                    <a:pt x="552217" y="387348"/>
                  </a:lnTo>
                  <a:cubicBezTo>
                    <a:pt x="552217" y="409025"/>
                    <a:pt x="543605" y="429815"/>
                    <a:pt x="528277" y="445143"/>
                  </a:cubicBezTo>
                  <a:cubicBezTo>
                    <a:pt x="512948" y="460472"/>
                    <a:pt x="492159" y="469083"/>
                    <a:pt x="470481" y="469083"/>
                  </a:cubicBezTo>
                  <a:lnTo>
                    <a:pt x="81735" y="469083"/>
                  </a:lnTo>
                  <a:cubicBezTo>
                    <a:pt x="60058" y="469083"/>
                    <a:pt x="39268" y="460472"/>
                    <a:pt x="23940" y="445143"/>
                  </a:cubicBezTo>
                  <a:cubicBezTo>
                    <a:pt x="8611" y="429815"/>
                    <a:pt x="0" y="409025"/>
                    <a:pt x="0" y="387348"/>
                  </a:cubicBezTo>
                  <a:lnTo>
                    <a:pt x="0" y="81735"/>
                  </a:lnTo>
                  <a:cubicBezTo>
                    <a:pt x="0" y="60058"/>
                    <a:pt x="8611" y="39268"/>
                    <a:pt x="23940" y="23940"/>
                  </a:cubicBezTo>
                  <a:cubicBezTo>
                    <a:pt x="39268" y="8611"/>
                    <a:pt x="60058" y="0"/>
                    <a:pt x="81735" y="0"/>
                  </a:cubicBezTo>
                  <a:close/>
                </a:path>
              </a:pathLst>
            </a:custGeom>
            <a:blipFill>
              <a:blip r:embed="rId6"/>
              <a:stretch>
                <a:fillRect t="-8861" b="-8861"/>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0" id="10"/>
          <p:cNvGrpSpPr/>
          <p:nvPr/>
        </p:nvGrpSpPr>
        <p:grpSpPr>
          <a:xfrm rot="0">
            <a:off x="1028700" y="1295442"/>
            <a:ext cx="3315174" cy="2816090"/>
            <a:chOff x="0" y="0"/>
            <a:chExt cx="552217" cy="469083"/>
          </a:xfrm>
        </p:grpSpPr>
        <p:sp>
          <p:nvSpPr>
            <p:cNvPr name="Freeform 11" id="11"/>
            <p:cNvSpPr/>
            <p:nvPr/>
          </p:nvSpPr>
          <p:spPr>
            <a:xfrm flipH="true" flipV="false" rot="0">
              <a:off x="0" y="0"/>
              <a:ext cx="552217" cy="469083"/>
            </a:xfrm>
            <a:custGeom>
              <a:avLst/>
              <a:gdLst/>
              <a:ahLst/>
              <a:cxnLst/>
              <a:rect r="r" b="b" t="t" l="l"/>
              <a:pathLst>
                <a:path h="469083" w="552217">
                  <a:moveTo>
                    <a:pt x="470481" y="0"/>
                  </a:moveTo>
                  <a:lnTo>
                    <a:pt x="81735" y="0"/>
                  </a:lnTo>
                  <a:cubicBezTo>
                    <a:pt x="36594" y="0"/>
                    <a:pt x="0" y="36594"/>
                    <a:pt x="0" y="81735"/>
                  </a:cubicBezTo>
                  <a:lnTo>
                    <a:pt x="0" y="387348"/>
                  </a:lnTo>
                  <a:cubicBezTo>
                    <a:pt x="0" y="409025"/>
                    <a:pt x="8611" y="429815"/>
                    <a:pt x="23940" y="445143"/>
                  </a:cubicBezTo>
                  <a:cubicBezTo>
                    <a:pt x="39268" y="460472"/>
                    <a:pt x="60058" y="469083"/>
                    <a:pt x="81735" y="469083"/>
                  </a:cubicBezTo>
                  <a:lnTo>
                    <a:pt x="470481" y="469083"/>
                  </a:lnTo>
                  <a:cubicBezTo>
                    <a:pt x="492159" y="469083"/>
                    <a:pt x="512948" y="460472"/>
                    <a:pt x="528277" y="445143"/>
                  </a:cubicBezTo>
                  <a:cubicBezTo>
                    <a:pt x="543605" y="429815"/>
                    <a:pt x="552217" y="409025"/>
                    <a:pt x="552217" y="387348"/>
                  </a:cubicBezTo>
                  <a:lnTo>
                    <a:pt x="552217" y="81735"/>
                  </a:lnTo>
                  <a:cubicBezTo>
                    <a:pt x="552217" y="60058"/>
                    <a:pt x="543605" y="39268"/>
                    <a:pt x="528277" y="23940"/>
                  </a:cubicBezTo>
                  <a:cubicBezTo>
                    <a:pt x="512948" y="8611"/>
                    <a:pt x="492159" y="0"/>
                    <a:pt x="470481" y="0"/>
                  </a:cubicBezTo>
                  <a:close/>
                </a:path>
              </a:pathLst>
            </a:custGeom>
            <a:blipFill>
              <a:blip r:embed="rId6"/>
              <a:stretch>
                <a:fillRect t="-8861" b="-8861"/>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2" id="12"/>
          <p:cNvGrpSpPr/>
          <p:nvPr/>
        </p:nvGrpSpPr>
        <p:grpSpPr>
          <a:xfrm rot="0">
            <a:off x="4755072" y="5366834"/>
            <a:ext cx="3315174" cy="2816090"/>
            <a:chOff x="0" y="0"/>
            <a:chExt cx="552217" cy="469083"/>
          </a:xfrm>
        </p:grpSpPr>
        <p:sp>
          <p:nvSpPr>
            <p:cNvPr name="Freeform 13" id="13"/>
            <p:cNvSpPr/>
            <p:nvPr/>
          </p:nvSpPr>
          <p:spPr>
            <a:xfrm flipH="false" flipV="false" rot="0">
              <a:off x="0" y="0"/>
              <a:ext cx="552217" cy="469083"/>
            </a:xfrm>
            <a:custGeom>
              <a:avLst/>
              <a:gdLst/>
              <a:ahLst/>
              <a:cxnLst/>
              <a:rect r="r" b="b" t="t" l="l"/>
              <a:pathLst>
                <a:path h="469083" w="552217">
                  <a:moveTo>
                    <a:pt x="81735" y="0"/>
                  </a:moveTo>
                  <a:lnTo>
                    <a:pt x="470481" y="0"/>
                  </a:lnTo>
                  <a:cubicBezTo>
                    <a:pt x="515622" y="0"/>
                    <a:pt x="552217" y="36594"/>
                    <a:pt x="552217" y="81735"/>
                  </a:cubicBezTo>
                  <a:lnTo>
                    <a:pt x="552217" y="387348"/>
                  </a:lnTo>
                  <a:cubicBezTo>
                    <a:pt x="552217" y="409025"/>
                    <a:pt x="543605" y="429815"/>
                    <a:pt x="528277" y="445143"/>
                  </a:cubicBezTo>
                  <a:cubicBezTo>
                    <a:pt x="512948" y="460472"/>
                    <a:pt x="492159" y="469083"/>
                    <a:pt x="470481" y="469083"/>
                  </a:cubicBezTo>
                  <a:lnTo>
                    <a:pt x="81735" y="469083"/>
                  </a:lnTo>
                  <a:cubicBezTo>
                    <a:pt x="60058" y="469083"/>
                    <a:pt x="39268" y="460472"/>
                    <a:pt x="23940" y="445143"/>
                  </a:cubicBezTo>
                  <a:cubicBezTo>
                    <a:pt x="8611" y="429815"/>
                    <a:pt x="0" y="409025"/>
                    <a:pt x="0" y="387348"/>
                  </a:cubicBezTo>
                  <a:lnTo>
                    <a:pt x="0" y="81735"/>
                  </a:lnTo>
                  <a:cubicBezTo>
                    <a:pt x="0" y="60058"/>
                    <a:pt x="8611" y="39268"/>
                    <a:pt x="23940" y="23940"/>
                  </a:cubicBezTo>
                  <a:cubicBezTo>
                    <a:pt x="39268" y="8611"/>
                    <a:pt x="60058" y="0"/>
                    <a:pt x="81735" y="0"/>
                  </a:cubicBezTo>
                  <a:close/>
                </a:path>
              </a:pathLst>
            </a:custGeom>
            <a:blipFill>
              <a:blip r:embed="rId6"/>
              <a:stretch>
                <a:fillRect t="-8861" b="-8861"/>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4" id="14"/>
          <p:cNvGrpSpPr/>
          <p:nvPr/>
        </p:nvGrpSpPr>
        <p:grpSpPr>
          <a:xfrm rot="0">
            <a:off x="4755072" y="1295442"/>
            <a:ext cx="3315174" cy="2816090"/>
            <a:chOff x="0" y="0"/>
            <a:chExt cx="552217" cy="469083"/>
          </a:xfrm>
        </p:grpSpPr>
        <p:sp>
          <p:nvSpPr>
            <p:cNvPr name="Freeform 15" id="15"/>
            <p:cNvSpPr/>
            <p:nvPr/>
          </p:nvSpPr>
          <p:spPr>
            <a:xfrm flipH="true" flipV="false" rot="0">
              <a:off x="0" y="0"/>
              <a:ext cx="552217" cy="469083"/>
            </a:xfrm>
            <a:custGeom>
              <a:avLst/>
              <a:gdLst/>
              <a:ahLst/>
              <a:cxnLst/>
              <a:rect r="r" b="b" t="t" l="l"/>
              <a:pathLst>
                <a:path h="469083" w="552217">
                  <a:moveTo>
                    <a:pt x="470481" y="0"/>
                  </a:moveTo>
                  <a:lnTo>
                    <a:pt x="81735" y="0"/>
                  </a:lnTo>
                  <a:cubicBezTo>
                    <a:pt x="36594" y="0"/>
                    <a:pt x="0" y="36594"/>
                    <a:pt x="0" y="81735"/>
                  </a:cubicBezTo>
                  <a:lnTo>
                    <a:pt x="0" y="387348"/>
                  </a:lnTo>
                  <a:cubicBezTo>
                    <a:pt x="0" y="409025"/>
                    <a:pt x="8611" y="429815"/>
                    <a:pt x="23940" y="445143"/>
                  </a:cubicBezTo>
                  <a:cubicBezTo>
                    <a:pt x="39268" y="460472"/>
                    <a:pt x="60058" y="469083"/>
                    <a:pt x="81735" y="469083"/>
                  </a:cubicBezTo>
                  <a:lnTo>
                    <a:pt x="470481" y="469083"/>
                  </a:lnTo>
                  <a:cubicBezTo>
                    <a:pt x="492159" y="469083"/>
                    <a:pt x="512948" y="460472"/>
                    <a:pt x="528277" y="445143"/>
                  </a:cubicBezTo>
                  <a:cubicBezTo>
                    <a:pt x="543605" y="429815"/>
                    <a:pt x="552217" y="409025"/>
                    <a:pt x="552217" y="387348"/>
                  </a:cubicBezTo>
                  <a:lnTo>
                    <a:pt x="552217" y="81735"/>
                  </a:lnTo>
                  <a:cubicBezTo>
                    <a:pt x="552217" y="60058"/>
                    <a:pt x="543605" y="39268"/>
                    <a:pt x="528277" y="23940"/>
                  </a:cubicBezTo>
                  <a:cubicBezTo>
                    <a:pt x="512948" y="8611"/>
                    <a:pt x="492159" y="0"/>
                    <a:pt x="470481" y="0"/>
                  </a:cubicBezTo>
                  <a:close/>
                </a:path>
              </a:pathLst>
            </a:custGeom>
            <a:blipFill>
              <a:blip r:embed="rId6"/>
              <a:stretch>
                <a:fillRect t="-8861" b="-8861"/>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sp>
        <p:nvSpPr>
          <p:cNvPr name="TextBox 16" id="16"/>
          <p:cNvSpPr txBox="true"/>
          <p:nvPr/>
        </p:nvSpPr>
        <p:spPr>
          <a:xfrm rot="0">
            <a:off x="1028700" y="8814491"/>
            <a:ext cx="3285424" cy="265206"/>
          </a:xfrm>
          <a:prstGeom prst="rect">
            <a:avLst/>
          </a:prstGeom>
        </p:spPr>
        <p:txBody>
          <a:bodyPr anchor="t" rtlCol="false" tIns="0" lIns="0" bIns="0" rIns="0">
            <a:spAutoFit/>
          </a:bodyPr>
          <a:lstStyle/>
          <a:p>
            <a:pPr algn="l" marL="0" indent="0" lvl="0">
              <a:lnSpc>
                <a:spcPts val="2153"/>
              </a:lnSpc>
              <a:spcBef>
                <a:spcPct val="0"/>
              </a:spcBef>
            </a:pPr>
            <a:r>
              <a:rPr lang="en-US" sz="1722" spc="-51">
                <a:solidFill>
                  <a:srgbClr val="FFFFFF"/>
                </a:solidFill>
                <a:latin typeface="HK Grotesk"/>
                <a:ea typeface="HK Grotesk"/>
                <a:cs typeface="HK Grotesk"/>
                <a:sym typeface="HK Grotesk"/>
              </a:rPr>
              <a:t>4 interviews</a:t>
            </a:r>
          </a:p>
        </p:txBody>
      </p:sp>
      <p:sp>
        <p:nvSpPr>
          <p:cNvPr name="TextBox 17" id="17"/>
          <p:cNvSpPr txBox="true"/>
          <p:nvPr/>
        </p:nvSpPr>
        <p:spPr>
          <a:xfrm rot="0">
            <a:off x="1028700" y="4743099"/>
            <a:ext cx="3285424" cy="230410"/>
          </a:xfrm>
          <a:prstGeom prst="rect">
            <a:avLst/>
          </a:prstGeom>
        </p:spPr>
        <p:txBody>
          <a:bodyPr anchor="t" rtlCol="false" tIns="0" lIns="0" bIns="0" rIns="0">
            <a:spAutoFit/>
          </a:bodyPr>
          <a:lstStyle/>
          <a:p>
            <a:pPr algn="l" marL="0" indent="0" lvl="0">
              <a:lnSpc>
                <a:spcPts val="1860"/>
              </a:lnSpc>
              <a:spcBef>
                <a:spcPct val="0"/>
              </a:spcBef>
            </a:pPr>
            <a:r>
              <a:rPr lang="en-US" sz="1488" spc="-44">
                <a:solidFill>
                  <a:srgbClr val="FFFFFF"/>
                </a:solidFill>
                <a:latin typeface="HK Grotesk"/>
                <a:ea typeface="HK Grotesk"/>
                <a:cs typeface="HK Grotesk"/>
                <a:sym typeface="HK Grotesk"/>
              </a:rPr>
              <a:t>16 interviews</a:t>
            </a:r>
          </a:p>
        </p:txBody>
      </p:sp>
      <p:sp>
        <p:nvSpPr>
          <p:cNvPr name="TextBox 18" id="18"/>
          <p:cNvSpPr txBox="true"/>
          <p:nvPr/>
        </p:nvSpPr>
        <p:spPr>
          <a:xfrm rot="0">
            <a:off x="4755072" y="8814491"/>
            <a:ext cx="3315174" cy="265206"/>
          </a:xfrm>
          <a:prstGeom prst="rect">
            <a:avLst/>
          </a:prstGeom>
        </p:spPr>
        <p:txBody>
          <a:bodyPr anchor="t" rtlCol="false" tIns="0" lIns="0" bIns="0" rIns="0">
            <a:spAutoFit/>
          </a:bodyPr>
          <a:lstStyle/>
          <a:p>
            <a:pPr algn="l" marL="0" indent="0" lvl="0">
              <a:lnSpc>
                <a:spcPts val="2153"/>
              </a:lnSpc>
              <a:spcBef>
                <a:spcPct val="0"/>
              </a:spcBef>
            </a:pPr>
            <a:r>
              <a:rPr lang="en-US" sz="1722" spc="-51">
                <a:solidFill>
                  <a:srgbClr val="FFFFFF"/>
                </a:solidFill>
                <a:latin typeface="HK Grotesk"/>
                <a:ea typeface="HK Grotesk"/>
                <a:cs typeface="HK Grotesk"/>
                <a:sym typeface="HK Grotesk"/>
              </a:rPr>
              <a:t>4 interviews</a:t>
            </a:r>
          </a:p>
        </p:txBody>
      </p:sp>
      <p:sp>
        <p:nvSpPr>
          <p:cNvPr name="TextBox 19" id="19"/>
          <p:cNvSpPr txBox="true"/>
          <p:nvPr/>
        </p:nvSpPr>
        <p:spPr>
          <a:xfrm rot="0">
            <a:off x="4755072" y="4743099"/>
            <a:ext cx="3315174" cy="230410"/>
          </a:xfrm>
          <a:prstGeom prst="rect">
            <a:avLst/>
          </a:prstGeom>
        </p:spPr>
        <p:txBody>
          <a:bodyPr anchor="t" rtlCol="false" tIns="0" lIns="0" bIns="0" rIns="0">
            <a:spAutoFit/>
          </a:bodyPr>
          <a:lstStyle/>
          <a:p>
            <a:pPr algn="l" marL="0" indent="0" lvl="0">
              <a:lnSpc>
                <a:spcPts val="1860"/>
              </a:lnSpc>
              <a:spcBef>
                <a:spcPct val="0"/>
              </a:spcBef>
            </a:pPr>
            <a:r>
              <a:rPr lang="en-US" sz="1488" spc="-44">
                <a:solidFill>
                  <a:srgbClr val="FFFFFF"/>
                </a:solidFill>
                <a:latin typeface="HK Grotesk"/>
                <a:ea typeface="HK Grotesk"/>
                <a:cs typeface="HK Grotesk"/>
                <a:sym typeface="HK Grotesk"/>
              </a:rPr>
              <a:t>8 interviews</a:t>
            </a:r>
          </a:p>
        </p:txBody>
      </p:sp>
      <p:sp>
        <p:nvSpPr>
          <p:cNvPr name="TextBox 20" id="20"/>
          <p:cNvSpPr txBox="true"/>
          <p:nvPr/>
        </p:nvSpPr>
        <p:spPr>
          <a:xfrm rot="0">
            <a:off x="1028700" y="8383817"/>
            <a:ext cx="3285424" cy="363651"/>
          </a:xfrm>
          <a:prstGeom prst="rect">
            <a:avLst/>
          </a:prstGeom>
        </p:spPr>
        <p:txBody>
          <a:bodyPr anchor="t" rtlCol="false" tIns="0" lIns="0" bIns="0" rIns="0">
            <a:spAutoFit/>
          </a:bodyPr>
          <a:lstStyle/>
          <a:p>
            <a:pPr algn="l" marL="0" indent="0" lvl="0">
              <a:lnSpc>
                <a:spcPts val="2960"/>
              </a:lnSpc>
              <a:spcBef>
                <a:spcPct val="0"/>
              </a:spcBef>
            </a:pPr>
            <a:r>
              <a:rPr lang="en-US" b="true" sz="2368" spc="-71">
                <a:solidFill>
                  <a:srgbClr val="FFFFFF"/>
                </a:solidFill>
                <a:latin typeface="HK Grotesk Bold"/>
                <a:ea typeface="HK Grotesk Bold"/>
                <a:cs typeface="HK Grotesk Bold"/>
                <a:sym typeface="HK Grotesk Bold"/>
              </a:rPr>
              <a:t>Field officers</a:t>
            </a:r>
          </a:p>
        </p:txBody>
      </p:sp>
      <p:sp>
        <p:nvSpPr>
          <p:cNvPr name="TextBox 21" id="21"/>
          <p:cNvSpPr txBox="true"/>
          <p:nvPr/>
        </p:nvSpPr>
        <p:spPr>
          <a:xfrm rot="0">
            <a:off x="1028700" y="4312424"/>
            <a:ext cx="3285424" cy="365960"/>
          </a:xfrm>
          <a:prstGeom prst="rect">
            <a:avLst/>
          </a:prstGeom>
        </p:spPr>
        <p:txBody>
          <a:bodyPr anchor="t" rtlCol="false" tIns="0" lIns="0" bIns="0" rIns="0">
            <a:spAutoFit/>
          </a:bodyPr>
          <a:lstStyle/>
          <a:p>
            <a:pPr algn="l" marL="0" indent="0" lvl="0">
              <a:lnSpc>
                <a:spcPts val="2960"/>
              </a:lnSpc>
              <a:spcBef>
                <a:spcPct val="0"/>
              </a:spcBef>
            </a:pPr>
            <a:r>
              <a:rPr lang="en-US" b="true" sz="2368" spc="-71">
                <a:solidFill>
                  <a:srgbClr val="FFFFFF"/>
                </a:solidFill>
                <a:latin typeface="HK Grotesk Bold"/>
                <a:ea typeface="HK Grotesk Bold"/>
                <a:cs typeface="HK Grotesk Bold"/>
                <a:sym typeface="HK Grotesk Bold"/>
              </a:rPr>
              <a:t>Members</a:t>
            </a:r>
          </a:p>
        </p:txBody>
      </p:sp>
      <p:sp>
        <p:nvSpPr>
          <p:cNvPr name="TextBox 22" id="22"/>
          <p:cNvSpPr txBox="true"/>
          <p:nvPr/>
        </p:nvSpPr>
        <p:spPr>
          <a:xfrm rot="0">
            <a:off x="4755072" y="8383817"/>
            <a:ext cx="3315174" cy="363651"/>
          </a:xfrm>
          <a:prstGeom prst="rect">
            <a:avLst/>
          </a:prstGeom>
        </p:spPr>
        <p:txBody>
          <a:bodyPr anchor="t" rtlCol="false" tIns="0" lIns="0" bIns="0" rIns="0">
            <a:spAutoFit/>
          </a:bodyPr>
          <a:lstStyle/>
          <a:p>
            <a:pPr algn="l" marL="0" indent="0" lvl="0">
              <a:lnSpc>
                <a:spcPts val="2960"/>
              </a:lnSpc>
              <a:spcBef>
                <a:spcPct val="0"/>
              </a:spcBef>
            </a:pPr>
            <a:r>
              <a:rPr lang="en-US" b="true" sz="2368" spc="-71">
                <a:solidFill>
                  <a:srgbClr val="FFFFFF"/>
                </a:solidFill>
                <a:latin typeface="HK Grotesk Bold"/>
                <a:ea typeface="HK Grotesk Bold"/>
                <a:cs typeface="HK Grotesk Bold"/>
                <a:sym typeface="HK Grotesk Bold"/>
              </a:rPr>
              <a:t>Officials</a:t>
            </a:r>
          </a:p>
        </p:txBody>
      </p:sp>
      <p:sp>
        <p:nvSpPr>
          <p:cNvPr name="TextBox 23" id="23"/>
          <p:cNvSpPr txBox="true"/>
          <p:nvPr/>
        </p:nvSpPr>
        <p:spPr>
          <a:xfrm rot="0">
            <a:off x="4755072" y="4312424"/>
            <a:ext cx="3315174" cy="363651"/>
          </a:xfrm>
          <a:prstGeom prst="rect">
            <a:avLst/>
          </a:prstGeom>
        </p:spPr>
        <p:txBody>
          <a:bodyPr anchor="t" rtlCol="false" tIns="0" lIns="0" bIns="0" rIns="0">
            <a:spAutoFit/>
          </a:bodyPr>
          <a:lstStyle/>
          <a:p>
            <a:pPr algn="l" marL="0" indent="0" lvl="0">
              <a:lnSpc>
                <a:spcPts val="2960"/>
              </a:lnSpc>
              <a:spcBef>
                <a:spcPct val="0"/>
              </a:spcBef>
            </a:pPr>
            <a:r>
              <a:rPr lang="en-US" b="true" sz="2368" spc="-71">
                <a:solidFill>
                  <a:srgbClr val="FFFFFF"/>
                </a:solidFill>
                <a:latin typeface="HK Grotesk Bold"/>
                <a:ea typeface="HK Grotesk Bold"/>
                <a:cs typeface="HK Grotesk Bold"/>
                <a:sym typeface="HK Grotesk Bold"/>
              </a:rPr>
              <a:t>Managers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9408177" y="659663"/>
            <a:ext cx="2155619" cy="215561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5" id="5"/>
          <p:cNvSpPr txBox="true"/>
          <p:nvPr/>
        </p:nvSpPr>
        <p:spPr>
          <a:xfrm rot="0">
            <a:off x="10157677" y="1315483"/>
            <a:ext cx="7101623" cy="2171458"/>
          </a:xfrm>
          <a:prstGeom prst="rect">
            <a:avLst/>
          </a:prstGeom>
        </p:spPr>
        <p:txBody>
          <a:bodyPr anchor="t" rtlCol="false" tIns="0" lIns="0" bIns="0" rIns="0">
            <a:spAutoFit/>
          </a:bodyPr>
          <a:lstStyle/>
          <a:p>
            <a:pPr algn="l" marL="0" indent="0" lvl="0">
              <a:lnSpc>
                <a:spcPts val="8549"/>
              </a:lnSpc>
            </a:pPr>
            <a:r>
              <a:rPr lang="en-US" b="true" sz="9499" spc="-37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Quantitative Data</a:t>
            </a:r>
          </a:p>
        </p:txBody>
      </p:sp>
      <p:sp>
        <p:nvSpPr>
          <p:cNvPr name="TextBox 6" id="6"/>
          <p:cNvSpPr txBox="true"/>
          <p:nvPr/>
        </p:nvSpPr>
        <p:spPr>
          <a:xfrm rot="0">
            <a:off x="10157677" y="4082957"/>
            <a:ext cx="7101623" cy="2125599"/>
          </a:xfrm>
          <a:prstGeom prst="rect">
            <a:avLst/>
          </a:prstGeom>
        </p:spPr>
        <p:txBody>
          <a:bodyPr anchor="t" rtlCol="false" tIns="0" lIns="0" bIns="0" rIns="0">
            <a:spAutoFit/>
          </a:bodyPr>
          <a:lstStyle/>
          <a:p>
            <a:pPr algn="l">
              <a:lnSpc>
                <a:spcPts val="3182"/>
              </a:lnSpc>
            </a:pPr>
            <a:r>
              <a:rPr lang="en-US" sz="2340" spc="-57">
                <a:solidFill>
                  <a:srgbClr val="FFFFFF"/>
                </a:solidFill>
                <a:latin typeface="HK Grotesk"/>
                <a:ea typeface="HK Grotesk"/>
                <a:cs typeface="HK Grotesk"/>
                <a:sym typeface="HK Grotesk"/>
              </a:rPr>
              <a:t>The pilot survey of 60 households already shows a clear gap between cooperatives with and without mobile services. The full survey tests whether the gap remains after controlling for income and distance.</a:t>
            </a:r>
          </a:p>
        </p:txBody>
      </p:sp>
      <p:grpSp>
        <p:nvGrpSpPr>
          <p:cNvPr name="Group 7" id="7"/>
          <p:cNvGrpSpPr/>
          <p:nvPr/>
        </p:nvGrpSpPr>
        <p:grpSpPr>
          <a:xfrm rot="0">
            <a:off x="1028700" y="1028700"/>
            <a:ext cx="7553862" cy="8229600"/>
            <a:chOff x="0" y="0"/>
            <a:chExt cx="1989495" cy="2167467"/>
          </a:xfrm>
        </p:grpSpPr>
        <p:sp>
          <p:nvSpPr>
            <p:cNvPr name="Freeform 8" id="8"/>
            <p:cNvSpPr/>
            <p:nvPr/>
          </p:nvSpPr>
          <p:spPr>
            <a:xfrm flipH="false" flipV="false" rot="0">
              <a:off x="0" y="0"/>
              <a:ext cx="1989495" cy="2167467"/>
            </a:xfrm>
            <a:custGeom>
              <a:avLst/>
              <a:gdLst/>
              <a:ahLst/>
              <a:cxnLst/>
              <a:rect r="r" b="b" t="t" l="l"/>
              <a:pathLst>
                <a:path h="2167467" w="1989495">
                  <a:moveTo>
                    <a:pt x="102490" y="0"/>
                  </a:moveTo>
                  <a:lnTo>
                    <a:pt x="1887005" y="0"/>
                  </a:lnTo>
                  <a:cubicBezTo>
                    <a:pt x="1914187" y="0"/>
                    <a:pt x="1940256" y="10798"/>
                    <a:pt x="1959476" y="30018"/>
                  </a:cubicBezTo>
                  <a:cubicBezTo>
                    <a:pt x="1978697" y="49239"/>
                    <a:pt x="1989495" y="75308"/>
                    <a:pt x="1989495" y="102490"/>
                  </a:cubicBezTo>
                  <a:lnTo>
                    <a:pt x="1989495" y="2064977"/>
                  </a:lnTo>
                  <a:cubicBezTo>
                    <a:pt x="1989495" y="2121581"/>
                    <a:pt x="1943608" y="2167467"/>
                    <a:pt x="1887005" y="2167467"/>
                  </a:cubicBezTo>
                  <a:lnTo>
                    <a:pt x="102490" y="2167467"/>
                  </a:lnTo>
                  <a:cubicBezTo>
                    <a:pt x="75308" y="2167467"/>
                    <a:pt x="49239" y="2156669"/>
                    <a:pt x="30018" y="2137448"/>
                  </a:cubicBezTo>
                  <a:cubicBezTo>
                    <a:pt x="10798" y="2118228"/>
                    <a:pt x="0" y="2092159"/>
                    <a:pt x="0" y="2064977"/>
                  </a:cubicBezTo>
                  <a:lnTo>
                    <a:pt x="0" y="102490"/>
                  </a:lnTo>
                  <a:cubicBezTo>
                    <a:pt x="0" y="75308"/>
                    <a:pt x="10798" y="49239"/>
                    <a:pt x="30018" y="30018"/>
                  </a:cubicBezTo>
                  <a:cubicBezTo>
                    <a:pt x="49239" y="10798"/>
                    <a:pt x="75308" y="0"/>
                    <a:pt x="102490"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9" id="9"/>
            <p:cNvSpPr txBox="true"/>
            <p:nvPr/>
          </p:nvSpPr>
          <p:spPr>
            <a:xfrm>
              <a:off x="0" y="0"/>
              <a:ext cx="1989495" cy="2167467"/>
            </a:xfrm>
            <a:prstGeom prst="rect">
              <a:avLst/>
            </a:prstGeom>
          </p:spPr>
          <p:txBody>
            <a:bodyPr anchor="ctr" rtlCol="false" tIns="50800" lIns="50800" bIns="50800" rIns="50800"/>
            <a:lstStyle/>
            <a:p>
              <a:pPr algn="ctr">
                <a:lnSpc>
                  <a:spcPts val="3119"/>
                </a:lnSpc>
              </a:pPr>
            </a:p>
            <a:p>
              <a:pPr algn="ctr">
                <a:lnSpc>
                  <a:spcPts val="3119"/>
                </a:lnSpc>
              </a:pPr>
            </a:p>
          </p:txBody>
        </p:sp>
      </p:grpSp>
      <p:graphicFrame>
        <p:nvGraphicFramePr>
          <p:cNvPr id="10" name="Chart 9"/>
          <p:cNvGraphicFramePr>
            <a:graphicFrameLocks noGrp="1"/>
          </p:cNvGraphicFramePr>
          <p:nvPr/>
        </p:nvGraphicFramePr>
        <p:xfrm>
          <a:off x="1463040" y="1554480"/>
          <a:ext cx="6675120" cy="7223760"/>
        </p:xfrm>
        <a:graphic>
          <a:graphicData uri="http://schemas.openxmlformats.org/drawingml/2006/chart">
            <c:chart xmlns:c="http://schemas.openxmlformats.org/drawingml/2006/chart" r:id="rId2"/>
          </a:graphicData>
        </a:graphic>
      </p:graphicFrame>
      <p:sp>
        <p:nvSpPr>
          <p:cNvPr id="11" name="TextBox 10"/>
          <p:cNvSpPr txBox="1"/>
          <p:nvPr/>
        </p:nvSpPr>
        <p:spPr>
          <a:xfrm>
            <a:off x="10158984" y="7223760"/>
            <a:ext cx="4023360" cy="1463040"/>
          </a:xfrm>
          <a:prstGeom prst="rect">
            <a:avLst/>
          </a:prstGeom>
          <a:noFill/>
        </p:spPr>
        <p:txBody>
          <a:bodyPr wrap="square" lIns="0" rIns="0" tIns="0" bIns="0">
            <a:spAutoFit/>
          </a:bodyPr>
          <a:lstStyle/>
          <a:p>
            <a:pPr algn="l"/>
            <a:r>
              <a:rPr sz="9600" b="1">
                <a:solidFill>
                  <a:srgbClr val="FFFFFF"/>
                </a:solidFill>
                <a:latin typeface="Open Sauce Bold"/>
              </a:rPr>
              <a:t>400</a:t>
            </a:r>
          </a:p>
        </p:txBody>
      </p:sp>
      <p:sp>
        <p:nvSpPr>
          <p:cNvPr id="12" name="TextBox 11"/>
          <p:cNvSpPr txBox="1"/>
          <p:nvPr/>
        </p:nvSpPr>
        <p:spPr>
          <a:xfrm>
            <a:off x="14264640" y="7406640"/>
            <a:ext cx="3017520" cy="1463040"/>
          </a:xfrm>
          <a:prstGeom prst="rect">
            <a:avLst/>
          </a:prstGeom>
          <a:noFill/>
        </p:spPr>
        <p:txBody>
          <a:bodyPr wrap="square" lIns="0" rIns="0" tIns="0" bIns="0">
            <a:spAutoFit/>
          </a:bodyPr>
          <a:lstStyle/>
          <a:p>
            <a:r>
              <a:rPr sz="1800">
                <a:solidFill>
                  <a:srgbClr val="FFFFFF"/>
                </a:solidFill>
                <a:latin typeface="HK Grotesk Italics"/>
              </a:rPr>
              <a:t>households in the full survey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2892211" y="387555"/>
            <a:ext cx="2155619" cy="215561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5" id="5"/>
          <p:cNvSpPr txBox="true"/>
          <p:nvPr/>
        </p:nvSpPr>
        <p:spPr>
          <a:xfrm rot="0">
            <a:off x="3641711" y="1314450"/>
            <a:ext cx="11754079" cy="1142873"/>
          </a:xfrm>
          <a:prstGeom prst="rect">
            <a:avLst/>
          </a:prstGeom>
        </p:spPr>
        <p:txBody>
          <a:bodyPr anchor="t" rtlCol="false" tIns="0" lIns="0" bIns="0" rIns="0">
            <a:spAutoFit/>
          </a:bodyPr>
          <a:lstStyle/>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Proposed Timeline</a:t>
            </a:r>
          </a:p>
        </p:txBody>
      </p:sp>
      <p:grpSp>
        <p:nvGrpSpPr>
          <p:cNvPr name="Group 6" id="6"/>
          <p:cNvGrpSpPr/>
          <p:nvPr/>
        </p:nvGrpSpPr>
        <p:grpSpPr>
          <a:xfrm rot="0">
            <a:off x="1028700" y="3930099"/>
            <a:ext cx="16230600" cy="3413234"/>
            <a:chOff x="0" y="0"/>
            <a:chExt cx="4274726" cy="898959"/>
          </a:xfrm>
        </p:grpSpPr>
        <p:sp>
          <p:nvSpPr>
            <p:cNvPr name="Freeform 7" id="7"/>
            <p:cNvSpPr/>
            <p:nvPr/>
          </p:nvSpPr>
          <p:spPr>
            <a:xfrm flipH="false" flipV="false" rot="0">
              <a:off x="0" y="0"/>
              <a:ext cx="4274726" cy="898959"/>
            </a:xfrm>
            <a:custGeom>
              <a:avLst/>
              <a:gdLst/>
              <a:ahLst/>
              <a:cxnLst/>
              <a:rect r="r" b="b" t="t" l="l"/>
              <a:pathLst>
                <a:path h="898959" w="4274726">
                  <a:moveTo>
                    <a:pt x="20511" y="0"/>
                  </a:moveTo>
                  <a:lnTo>
                    <a:pt x="4254215" y="0"/>
                  </a:lnTo>
                  <a:cubicBezTo>
                    <a:pt x="4259655" y="0"/>
                    <a:pt x="4264872" y="2161"/>
                    <a:pt x="4268719" y="6007"/>
                  </a:cubicBezTo>
                  <a:cubicBezTo>
                    <a:pt x="4272565" y="9854"/>
                    <a:pt x="4274726" y="15071"/>
                    <a:pt x="4274726" y="20511"/>
                  </a:cubicBezTo>
                  <a:lnTo>
                    <a:pt x="4274726" y="878448"/>
                  </a:lnTo>
                  <a:cubicBezTo>
                    <a:pt x="4274726" y="883888"/>
                    <a:pt x="4272565" y="889105"/>
                    <a:pt x="4268719" y="892951"/>
                  </a:cubicBezTo>
                  <a:cubicBezTo>
                    <a:pt x="4264872" y="896798"/>
                    <a:pt x="4259655" y="898959"/>
                    <a:pt x="4254215" y="898959"/>
                  </a:cubicBezTo>
                  <a:lnTo>
                    <a:pt x="20511" y="898959"/>
                  </a:lnTo>
                  <a:cubicBezTo>
                    <a:pt x="15071" y="898959"/>
                    <a:pt x="9854" y="896798"/>
                    <a:pt x="6007" y="892951"/>
                  </a:cubicBezTo>
                  <a:cubicBezTo>
                    <a:pt x="2161" y="889105"/>
                    <a:pt x="0" y="883888"/>
                    <a:pt x="0" y="878448"/>
                  </a:cubicBezTo>
                  <a:lnTo>
                    <a:pt x="0" y="20511"/>
                  </a:lnTo>
                  <a:cubicBezTo>
                    <a:pt x="0" y="15071"/>
                    <a:pt x="2161" y="9854"/>
                    <a:pt x="6007" y="6007"/>
                  </a:cubicBezTo>
                  <a:cubicBezTo>
                    <a:pt x="9854" y="2161"/>
                    <a:pt x="15071" y="0"/>
                    <a:pt x="20511"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8" id="8"/>
            <p:cNvSpPr txBox="true"/>
            <p:nvPr/>
          </p:nvSpPr>
          <p:spPr>
            <a:xfrm>
              <a:off x="0" y="0"/>
              <a:ext cx="4274726" cy="898959"/>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9" id="9"/>
          <p:cNvGrpSpPr/>
          <p:nvPr/>
        </p:nvGrpSpPr>
        <p:grpSpPr>
          <a:xfrm rot="0">
            <a:off x="1259132" y="3580317"/>
            <a:ext cx="3519226" cy="737665"/>
            <a:chOff x="0" y="0"/>
            <a:chExt cx="926874" cy="194282"/>
          </a:xfrm>
        </p:grpSpPr>
        <p:sp>
          <p:nvSpPr>
            <p:cNvPr name="Freeform 10" id="10"/>
            <p:cNvSpPr/>
            <p:nvPr/>
          </p:nvSpPr>
          <p:spPr>
            <a:xfrm flipH="false" flipV="false" rot="0">
              <a:off x="0" y="0"/>
              <a:ext cx="926874" cy="194282"/>
            </a:xfrm>
            <a:custGeom>
              <a:avLst/>
              <a:gdLst/>
              <a:ahLst/>
              <a:cxnLst/>
              <a:rect r="r" b="b" t="t" l="l"/>
              <a:pathLst>
                <a:path h="194282" w="926874">
                  <a:moveTo>
                    <a:pt x="39598" y="0"/>
                  </a:moveTo>
                  <a:lnTo>
                    <a:pt x="887276" y="0"/>
                  </a:lnTo>
                  <a:cubicBezTo>
                    <a:pt x="897778" y="0"/>
                    <a:pt x="907850" y="4172"/>
                    <a:pt x="915276" y="11598"/>
                  </a:cubicBezTo>
                  <a:cubicBezTo>
                    <a:pt x="922702" y="19024"/>
                    <a:pt x="926874" y="29096"/>
                    <a:pt x="926874" y="39598"/>
                  </a:cubicBezTo>
                  <a:lnTo>
                    <a:pt x="926874" y="154684"/>
                  </a:lnTo>
                  <a:cubicBezTo>
                    <a:pt x="926874" y="165186"/>
                    <a:pt x="922702" y="175258"/>
                    <a:pt x="915276" y="182684"/>
                  </a:cubicBezTo>
                  <a:cubicBezTo>
                    <a:pt x="907850" y="190110"/>
                    <a:pt x="897778" y="194282"/>
                    <a:pt x="887276" y="194282"/>
                  </a:cubicBezTo>
                  <a:lnTo>
                    <a:pt x="39598" y="194282"/>
                  </a:lnTo>
                  <a:cubicBezTo>
                    <a:pt x="29096" y="194282"/>
                    <a:pt x="19024" y="190110"/>
                    <a:pt x="11598" y="182684"/>
                  </a:cubicBezTo>
                  <a:cubicBezTo>
                    <a:pt x="4172" y="175258"/>
                    <a:pt x="0" y="165186"/>
                    <a:pt x="0" y="154684"/>
                  </a:cubicBezTo>
                  <a:lnTo>
                    <a:pt x="0" y="39598"/>
                  </a:lnTo>
                  <a:cubicBezTo>
                    <a:pt x="0" y="29096"/>
                    <a:pt x="4172" y="19024"/>
                    <a:pt x="11598" y="11598"/>
                  </a:cubicBezTo>
                  <a:cubicBezTo>
                    <a:pt x="19024" y="4172"/>
                    <a:pt x="29096" y="0"/>
                    <a:pt x="39598" y="0"/>
                  </a:cubicBezTo>
                  <a:close/>
                </a:path>
              </a:pathLst>
            </a:custGeom>
            <a:solidFill>
              <a:srgbClr val="FFFFFF"/>
            </a:solidFill>
            <a:ln w="19050" cap="sq">
              <a:solidFill>
                <a:srgbClr val="FFFFFF"/>
              </a:solidFill>
              <a:prstDash val="solid"/>
              <a:miter/>
            </a:ln>
          </p:spPr>
        </p:sp>
        <p:sp>
          <p:nvSpPr>
            <p:cNvPr name="TextBox 11" id="11"/>
            <p:cNvSpPr txBox="true"/>
            <p:nvPr/>
          </p:nvSpPr>
          <p:spPr>
            <a:xfrm>
              <a:off x="0" y="-38100"/>
              <a:ext cx="926874" cy="232382"/>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5342550" y="3580317"/>
            <a:ext cx="3519226" cy="737665"/>
            <a:chOff x="0" y="0"/>
            <a:chExt cx="926874" cy="194282"/>
          </a:xfrm>
        </p:grpSpPr>
        <p:sp>
          <p:nvSpPr>
            <p:cNvPr name="Freeform 13" id="13"/>
            <p:cNvSpPr/>
            <p:nvPr/>
          </p:nvSpPr>
          <p:spPr>
            <a:xfrm flipH="false" flipV="false" rot="0">
              <a:off x="0" y="0"/>
              <a:ext cx="926874" cy="194282"/>
            </a:xfrm>
            <a:custGeom>
              <a:avLst/>
              <a:gdLst/>
              <a:ahLst/>
              <a:cxnLst/>
              <a:rect r="r" b="b" t="t" l="l"/>
              <a:pathLst>
                <a:path h="194282" w="926874">
                  <a:moveTo>
                    <a:pt x="39598" y="0"/>
                  </a:moveTo>
                  <a:lnTo>
                    <a:pt x="887276" y="0"/>
                  </a:lnTo>
                  <a:cubicBezTo>
                    <a:pt x="897778" y="0"/>
                    <a:pt x="907850" y="4172"/>
                    <a:pt x="915276" y="11598"/>
                  </a:cubicBezTo>
                  <a:cubicBezTo>
                    <a:pt x="922702" y="19024"/>
                    <a:pt x="926874" y="29096"/>
                    <a:pt x="926874" y="39598"/>
                  </a:cubicBezTo>
                  <a:lnTo>
                    <a:pt x="926874" y="154684"/>
                  </a:lnTo>
                  <a:cubicBezTo>
                    <a:pt x="926874" y="165186"/>
                    <a:pt x="922702" y="175258"/>
                    <a:pt x="915276" y="182684"/>
                  </a:cubicBezTo>
                  <a:cubicBezTo>
                    <a:pt x="907850" y="190110"/>
                    <a:pt x="897778" y="194282"/>
                    <a:pt x="887276" y="194282"/>
                  </a:cubicBezTo>
                  <a:lnTo>
                    <a:pt x="39598" y="194282"/>
                  </a:lnTo>
                  <a:cubicBezTo>
                    <a:pt x="29096" y="194282"/>
                    <a:pt x="19024" y="190110"/>
                    <a:pt x="11598" y="182684"/>
                  </a:cubicBezTo>
                  <a:cubicBezTo>
                    <a:pt x="4172" y="175258"/>
                    <a:pt x="0" y="165186"/>
                    <a:pt x="0" y="154684"/>
                  </a:cubicBezTo>
                  <a:lnTo>
                    <a:pt x="0" y="39598"/>
                  </a:lnTo>
                  <a:cubicBezTo>
                    <a:pt x="0" y="29096"/>
                    <a:pt x="4172" y="19024"/>
                    <a:pt x="11598" y="11598"/>
                  </a:cubicBezTo>
                  <a:cubicBezTo>
                    <a:pt x="19024" y="4172"/>
                    <a:pt x="29096" y="0"/>
                    <a:pt x="39598" y="0"/>
                  </a:cubicBezTo>
                  <a:close/>
                </a:path>
              </a:pathLst>
            </a:custGeom>
            <a:solidFill>
              <a:srgbClr val="FFFFFF"/>
            </a:solidFill>
            <a:ln w="19050" cap="sq">
              <a:solidFill>
                <a:srgbClr val="FFFFFF"/>
              </a:solidFill>
              <a:prstDash val="solid"/>
              <a:miter/>
            </a:ln>
          </p:spPr>
        </p:sp>
        <p:sp>
          <p:nvSpPr>
            <p:cNvPr name="TextBox 14" id="14"/>
            <p:cNvSpPr txBox="true"/>
            <p:nvPr/>
          </p:nvSpPr>
          <p:spPr>
            <a:xfrm>
              <a:off x="0" y="-38100"/>
              <a:ext cx="926874" cy="232382"/>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1419712" y="4926694"/>
            <a:ext cx="3198067" cy="546481"/>
          </a:xfrm>
          <a:prstGeom prst="rect">
            <a:avLst/>
          </a:prstGeom>
        </p:spPr>
        <p:txBody>
          <a:bodyPr anchor="t" rtlCol="false" tIns="0" lIns="0" bIns="0" rIns="0">
            <a:spAutoFit/>
          </a:bodyPr>
          <a:lstStyle/>
          <a:p>
            <a:pPr algn="ctr">
              <a:lnSpc>
                <a:spcPts val="2849"/>
              </a:lnSpc>
            </a:pPr>
            <a:r>
              <a:rPr lang="en-US" sz="2080" spc="-66">
                <a:solidFill>
                  <a:srgbClr val="FFFFFF"/>
                </a:solidFill>
                <a:latin typeface="HK Grotesk"/>
                <a:ea typeface="HK Grotesk"/>
                <a:cs typeface="HK Grotesk"/>
                <a:sym typeface="HK Grotesk"/>
              </a:rPr>
              <a:t>Ethics approval and research permits</a:t>
            </a:r>
          </a:p>
        </p:txBody>
      </p:sp>
      <p:sp>
        <p:nvSpPr>
          <p:cNvPr name="TextBox 16" id="16"/>
          <p:cNvSpPr txBox="true"/>
          <p:nvPr/>
        </p:nvSpPr>
        <p:spPr>
          <a:xfrm rot="0">
            <a:off x="1419712" y="6258334"/>
            <a:ext cx="3198067" cy="546481"/>
          </a:xfrm>
          <a:prstGeom prst="rect">
            <a:avLst/>
          </a:prstGeom>
        </p:spPr>
        <p:txBody>
          <a:bodyPr anchor="t" rtlCol="false" tIns="0" lIns="0" bIns="0" rIns="0">
            <a:spAutoFit/>
          </a:bodyPr>
          <a:lstStyle/>
          <a:p>
            <a:pPr algn="ctr">
              <a:lnSpc>
                <a:spcPts val="2808"/>
              </a:lnSpc>
            </a:pPr>
            <a:r>
              <a:rPr lang="en-US" sz="2049" spc="-65">
                <a:solidFill>
                  <a:srgbClr val="FFFFFF"/>
                </a:solidFill>
                <a:latin typeface="HK Grotesk"/>
                <a:ea typeface="HK Grotesk"/>
                <a:cs typeface="HK Grotesk"/>
                <a:sym typeface="HK Grotesk"/>
              </a:rPr>
              <a:t>Recruit and train four field assistants</a:t>
            </a:r>
          </a:p>
        </p:txBody>
      </p:sp>
      <p:sp>
        <p:nvSpPr>
          <p:cNvPr name="TextBox 17" id="17"/>
          <p:cNvSpPr txBox="true"/>
          <p:nvPr/>
        </p:nvSpPr>
        <p:spPr>
          <a:xfrm rot="0">
            <a:off x="5526986" y="4788581"/>
            <a:ext cx="3149840" cy="822706"/>
          </a:xfrm>
          <a:prstGeom prst="rect">
            <a:avLst/>
          </a:prstGeom>
        </p:spPr>
        <p:txBody>
          <a:bodyPr anchor="t" rtlCol="false" tIns="0" lIns="0" bIns="0" rIns="0">
            <a:spAutoFit/>
          </a:bodyPr>
          <a:lstStyle/>
          <a:p>
            <a:pPr algn="ctr">
              <a:lnSpc>
                <a:spcPts val="2849"/>
              </a:lnSpc>
            </a:pPr>
            <a:r>
              <a:rPr lang="en-US" sz="2080" spc="-66">
                <a:solidFill>
                  <a:srgbClr val="FFFFFF"/>
                </a:solidFill>
                <a:latin typeface="HK Grotesk"/>
                <a:ea typeface="HK Grotesk"/>
                <a:cs typeface="HK Grotesk"/>
                <a:sym typeface="HK Grotesk"/>
              </a:rPr>
              <a:t>Interviews in four districts</a:t>
            </a:r>
          </a:p>
        </p:txBody>
      </p:sp>
      <p:sp>
        <p:nvSpPr>
          <p:cNvPr name="TextBox 18" id="18"/>
          <p:cNvSpPr txBox="true"/>
          <p:nvPr/>
        </p:nvSpPr>
        <p:spPr>
          <a:xfrm rot="0">
            <a:off x="5526986" y="6258334"/>
            <a:ext cx="3149840" cy="546481"/>
          </a:xfrm>
          <a:prstGeom prst="rect">
            <a:avLst/>
          </a:prstGeom>
        </p:spPr>
        <p:txBody>
          <a:bodyPr anchor="t" rtlCol="false" tIns="0" lIns="0" bIns="0" rIns="0">
            <a:spAutoFit/>
          </a:bodyPr>
          <a:lstStyle/>
          <a:p>
            <a:pPr algn="ctr">
              <a:lnSpc>
                <a:spcPts val="2849"/>
              </a:lnSpc>
            </a:pPr>
            <a:r>
              <a:rPr lang="en-US" sz="2080" spc="-66">
                <a:solidFill>
                  <a:srgbClr val="FFFFFF"/>
                </a:solidFill>
                <a:latin typeface="HK Grotesk"/>
                <a:ea typeface="HK Grotesk"/>
                <a:cs typeface="HK Grotesk"/>
                <a:sym typeface="HK Grotesk"/>
              </a:rPr>
              <a:t>Transcription and thematic coding</a:t>
            </a:r>
          </a:p>
        </p:txBody>
      </p:sp>
      <p:grpSp>
        <p:nvGrpSpPr>
          <p:cNvPr name="Group 19" id="19"/>
          <p:cNvGrpSpPr/>
          <p:nvPr/>
        </p:nvGrpSpPr>
        <p:grpSpPr>
          <a:xfrm rot="0">
            <a:off x="9425967" y="3580317"/>
            <a:ext cx="3519226" cy="737665"/>
            <a:chOff x="0" y="0"/>
            <a:chExt cx="926874" cy="194282"/>
          </a:xfrm>
        </p:grpSpPr>
        <p:sp>
          <p:nvSpPr>
            <p:cNvPr name="Freeform 20" id="20"/>
            <p:cNvSpPr/>
            <p:nvPr/>
          </p:nvSpPr>
          <p:spPr>
            <a:xfrm flipH="false" flipV="false" rot="0">
              <a:off x="0" y="0"/>
              <a:ext cx="926874" cy="194282"/>
            </a:xfrm>
            <a:custGeom>
              <a:avLst/>
              <a:gdLst/>
              <a:ahLst/>
              <a:cxnLst/>
              <a:rect r="r" b="b" t="t" l="l"/>
              <a:pathLst>
                <a:path h="194282" w="926874">
                  <a:moveTo>
                    <a:pt x="39598" y="0"/>
                  </a:moveTo>
                  <a:lnTo>
                    <a:pt x="887276" y="0"/>
                  </a:lnTo>
                  <a:cubicBezTo>
                    <a:pt x="897778" y="0"/>
                    <a:pt x="907850" y="4172"/>
                    <a:pt x="915276" y="11598"/>
                  </a:cubicBezTo>
                  <a:cubicBezTo>
                    <a:pt x="922702" y="19024"/>
                    <a:pt x="926874" y="29096"/>
                    <a:pt x="926874" y="39598"/>
                  </a:cubicBezTo>
                  <a:lnTo>
                    <a:pt x="926874" y="154684"/>
                  </a:lnTo>
                  <a:cubicBezTo>
                    <a:pt x="926874" y="165186"/>
                    <a:pt x="922702" y="175258"/>
                    <a:pt x="915276" y="182684"/>
                  </a:cubicBezTo>
                  <a:cubicBezTo>
                    <a:pt x="907850" y="190110"/>
                    <a:pt x="897778" y="194282"/>
                    <a:pt x="887276" y="194282"/>
                  </a:cubicBezTo>
                  <a:lnTo>
                    <a:pt x="39598" y="194282"/>
                  </a:lnTo>
                  <a:cubicBezTo>
                    <a:pt x="29096" y="194282"/>
                    <a:pt x="19024" y="190110"/>
                    <a:pt x="11598" y="182684"/>
                  </a:cubicBezTo>
                  <a:cubicBezTo>
                    <a:pt x="4172" y="175258"/>
                    <a:pt x="0" y="165186"/>
                    <a:pt x="0" y="154684"/>
                  </a:cubicBezTo>
                  <a:lnTo>
                    <a:pt x="0" y="39598"/>
                  </a:lnTo>
                  <a:cubicBezTo>
                    <a:pt x="0" y="29096"/>
                    <a:pt x="4172" y="19024"/>
                    <a:pt x="11598" y="11598"/>
                  </a:cubicBezTo>
                  <a:cubicBezTo>
                    <a:pt x="19024" y="4172"/>
                    <a:pt x="29096" y="0"/>
                    <a:pt x="39598" y="0"/>
                  </a:cubicBezTo>
                  <a:close/>
                </a:path>
              </a:pathLst>
            </a:custGeom>
            <a:solidFill>
              <a:srgbClr val="FFFFFF"/>
            </a:solidFill>
            <a:ln w="19050" cap="sq">
              <a:solidFill>
                <a:srgbClr val="FFFFFF"/>
              </a:solidFill>
              <a:prstDash val="solid"/>
              <a:miter/>
            </a:ln>
          </p:spPr>
        </p:sp>
        <p:sp>
          <p:nvSpPr>
            <p:cNvPr name="TextBox 21" id="21"/>
            <p:cNvSpPr txBox="true"/>
            <p:nvPr/>
          </p:nvSpPr>
          <p:spPr>
            <a:xfrm>
              <a:off x="0" y="-38100"/>
              <a:ext cx="926874" cy="232382"/>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3509642" y="3580317"/>
            <a:ext cx="3519226" cy="737665"/>
            <a:chOff x="0" y="0"/>
            <a:chExt cx="926874" cy="194282"/>
          </a:xfrm>
        </p:grpSpPr>
        <p:sp>
          <p:nvSpPr>
            <p:cNvPr name="Freeform 23" id="23"/>
            <p:cNvSpPr/>
            <p:nvPr/>
          </p:nvSpPr>
          <p:spPr>
            <a:xfrm flipH="false" flipV="false" rot="0">
              <a:off x="0" y="0"/>
              <a:ext cx="926874" cy="194282"/>
            </a:xfrm>
            <a:custGeom>
              <a:avLst/>
              <a:gdLst/>
              <a:ahLst/>
              <a:cxnLst/>
              <a:rect r="r" b="b" t="t" l="l"/>
              <a:pathLst>
                <a:path h="194282" w="926874">
                  <a:moveTo>
                    <a:pt x="39598" y="0"/>
                  </a:moveTo>
                  <a:lnTo>
                    <a:pt x="887276" y="0"/>
                  </a:lnTo>
                  <a:cubicBezTo>
                    <a:pt x="897778" y="0"/>
                    <a:pt x="907850" y="4172"/>
                    <a:pt x="915276" y="11598"/>
                  </a:cubicBezTo>
                  <a:cubicBezTo>
                    <a:pt x="922702" y="19024"/>
                    <a:pt x="926874" y="29096"/>
                    <a:pt x="926874" y="39598"/>
                  </a:cubicBezTo>
                  <a:lnTo>
                    <a:pt x="926874" y="154684"/>
                  </a:lnTo>
                  <a:cubicBezTo>
                    <a:pt x="926874" y="165186"/>
                    <a:pt x="922702" y="175258"/>
                    <a:pt x="915276" y="182684"/>
                  </a:cubicBezTo>
                  <a:cubicBezTo>
                    <a:pt x="907850" y="190110"/>
                    <a:pt x="897778" y="194282"/>
                    <a:pt x="887276" y="194282"/>
                  </a:cubicBezTo>
                  <a:lnTo>
                    <a:pt x="39598" y="194282"/>
                  </a:lnTo>
                  <a:cubicBezTo>
                    <a:pt x="29096" y="194282"/>
                    <a:pt x="19024" y="190110"/>
                    <a:pt x="11598" y="182684"/>
                  </a:cubicBezTo>
                  <a:cubicBezTo>
                    <a:pt x="4172" y="175258"/>
                    <a:pt x="0" y="165186"/>
                    <a:pt x="0" y="154684"/>
                  </a:cubicBezTo>
                  <a:lnTo>
                    <a:pt x="0" y="39598"/>
                  </a:lnTo>
                  <a:cubicBezTo>
                    <a:pt x="0" y="29096"/>
                    <a:pt x="4172" y="19024"/>
                    <a:pt x="11598" y="11598"/>
                  </a:cubicBezTo>
                  <a:cubicBezTo>
                    <a:pt x="19024" y="4172"/>
                    <a:pt x="29096" y="0"/>
                    <a:pt x="39598" y="0"/>
                  </a:cubicBezTo>
                  <a:close/>
                </a:path>
              </a:pathLst>
            </a:custGeom>
            <a:solidFill>
              <a:srgbClr val="FFFFFF"/>
            </a:solidFill>
            <a:ln w="19050" cap="sq">
              <a:solidFill>
                <a:srgbClr val="FFFFFF"/>
              </a:solidFill>
              <a:prstDash val="solid"/>
              <a:miter/>
            </a:ln>
          </p:spPr>
        </p:sp>
        <p:sp>
          <p:nvSpPr>
            <p:cNvPr name="TextBox 24" id="24"/>
            <p:cNvSpPr txBox="true"/>
            <p:nvPr/>
          </p:nvSpPr>
          <p:spPr>
            <a:xfrm>
              <a:off x="0" y="-38100"/>
              <a:ext cx="926874" cy="232382"/>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1259132" y="3774905"/>
            <a:ext cx="3519226" cy="367538"/>
          </a:xfrm>
          <a:prstGeom prst="rect">
            <a:avLst/>
          </a:prstGeom>
        </p:spPr>
        <p:txBody>
          <a:bodyPr anchor="t" rtlCol="false" tIns="0" lIns="0" bIns="0" rIns="0">
            <a:spAutoFit/>
          </a:bodyPr>
          <a:lstStyle/>
          <a:p>
            <a:pPr algn="ctr" marL="0" indent="0" lvl="0">
              <a:lnSpc>
                <a:spcPts val="2716"/>
              </a:lnSpc>
              <a:spcBef>
                <a:spcPct val="0"/>
              </a:spcBef>
            </a:pPr>
            <a:r>
              <a:rPr lang="en-US" b="true" sz="2800" spc="-56">
                <a:solidFill>
                  <a:srgbClr val="000000"/>
                </a:solidFill>
                <a:latin typeface="HK Grotesk Bold"/>
                <a:ea typeface="HK Grotesk Bold"/>
                <a:cs typeface="HK Grotesk Bold"/>
                <a:sym typeface="HK Grotesk Bold"/>
              </a:rPr>
              <a:t>Jan - Mar</a:t>
            </a:r>
          </a:p>
        </p:txBody>
      </p:sp>
      <p:sp>
        <p:nvSpPr>
          <p:cNvPr name="TextBox 26" id="26"/>
          <p:cNvSpPr txBox="true"/>
          <p:nvPr/>
        </p:nvSpPr>
        <p:spPr>
          <a:xfrm rot="0">
            <a:off x="5342293" y="3774905"/>
            <a:ext cx="3519226" cy="367538"/>
          </a:xfrm>
          <a:prstGeom prst="rect">
            <a:avLst/>
          </a:prstGeom>
        </p:spPr>
        <p:txBody>
          <a:bodyPr anchor="t" rtlCol="false" tIns="0" lIns="0" bIns="0" rIns="0">
            <a:spAutoFit/>
          </a:bodyPr>
          <a:lstStyle/>
          <a:p>
            <a:pPr algn="ctr" marL="0" indent="0" lvl="0">
              <a:lnSpc>
                <a:spcPts val="2716"/>
              </a:lnSpc>
              <a:spcBef>
                <a:spcPct val="0"/>
              </a:spcBef>
            </a:pPr>
            <a:r>
              <a:rPr lang="en-US" b="true" sz="2800" spc="-56">
                <a:solidFill>
                  <a:srgbClr val="000000"/>
                </a:solidFill>
                <a:latin typeface="HK Grotesk Bold"/>
                <a:ea typeface="HK Grotesk Bold"/>
                <a:cs typeface="HK Grotesk Bold"/>
                <a:sym typeface="HK Grotesk Bold"/>
              </a:rPr>
              <a:t>Apr - Jun</a:t>
            </a:r>
          </a:p>
        </p:txBody>
      </p:sp>
      <p:sp>
        <p:nvSpPr>
          <p:cNvPr name="TextBox 27" id="27"/>
          <p:cNvSpPr txBox="true"/>
          <p:nvPr/>
        </p:nvSpPr>
        <p:spPr>
          <a:xfrm rot="0">
            <a:off x="9425967" y="3774905"/>
            <a:ext cx="3519226" cy="367538"/>
          </a:xfrm>
          <a:prstGeom prst="rect">
            <a:avLst/>
          </a:prstGeom>
        </p:spPr>
        <p:txBody>
          <a:bodyPr anchor="t" rtlCol="false" tIns="0" lIns="0" bIns="0" rIns="0">
            <a:spAutoFit/>
          </a:bodyPr>
          <a:lstStyle/>
          <a:p>
            <a:pPr algn="ctr" marL="0" indent="0" lvl="0">
              <a:lnSpc>
                <a:spcPts val="2716"/>
              </a:lnSpc>
              <a:spcBef>
                <a:spcPct val="0"/>
              </a:spcBef>
            </a:pPr>
            <a:r>
              <a:rPr lang="en-US" b="true" sz="2800" spc="-56">
                <a:solidFill>
                  <a:srgbClr val="000000"/>
                </a:solidFill>
                <a:latin typeface="HK Grotesk Bold"/>
                <a:ea typeface="HK Grotesk Bold"/>
                <a:cs typeface="HK Grotesk Bold"/>
                <a:sym typeface="HK Grotesk Bold"/>
              </a:rPr>
              <a:t>Jul - Sep</a:t>
            </a:r>
          </a:p>
        </p:txBody>
      </p:sp>
      <p:sp>
        <p:nvSpPr>
          <p:cNvPr name="TextBox 28" id="28"/>
          <p:cNvSpPr txBox="true"/>
          <p:nvPr/>
        </p:nvSpPr>
        <p:spPr>
          <a:xfrm rot="0">
            <a:off x="13509642" y="3774905"/>
            <a:ext cx="3519226" cy="367538"/>
          </a:xfrm>
          <a:prstGeom prst="rect">
            <a:avLst/>
          </a:prstGeom>
        </p:spPr>
        <p:txBody>
          <a:bodyPr anchor="t" rtlCol="false" tIns="0" lIns="0" bIns="0" rIns="0">
            <a:spAutoFit/>
          </a:bodyPr>
          <a:lstStyle/>
          <a:p>
            <a:pPr algn="ctr" marL="0" indent="0" lvl="0">
              <a:lnSpc>
                <a:spcPts val="2716"/>
              </a:lnSpc>
              <a:spcBef>
                <a:spcPct val="0"/>
              </a:spcBef>
            </a:pPr>
            <a:r>
              <a:rPr lang="en-US" b="true" sz="2800" spc="-56">
                <a:solidFill>
                  <a:srgbClr val="000000"/>
                </a:solidFill>
                <a:latin typeface="HK Grotesk Bold"/>
                <a:ea typeface="HK Grotesk Bold"/>
                <a:cs typeface="HK Grotesk Bold"/>
                <a:sym typeface="HK Grotesk Bold"/>
              </a:rPr>
              <a:t>Oct - Dec</a:t>
            </a:r>
          </a:p>
        </p:txBody>
      </p:sp>
      <p:sp>
        <p:nvSpPr>
          <p:cNvPr name="TextBox 29" id="29"/>
          <p:cNvSpPr txBox="true"/>
          <p:nvPr/>
        </p:nvSpPr>
        <p:spPr>
          <a:xfrm rot="0">
            <a:off x="9802741" y="4788581"/>
            <a:ext cx="2765678" cy="822706"/>
          </a:xfrm>
          <a:prstGeom prst="rect">
            <a:avLst/>
          </a:prstGeom>
        </p:spPr>
        <p:txBody>
          <a:bodyPr anchor="t" rtlCol="false" tIns="0" lIns="0" bIns="0" rIns="0">
            <a:spAutoFit/>
          </a:bodyPr>
          <a:lstStyle/>
          <a:p>
            <a:pPr algn="ctr">
              <a:lnSpc>
                <a:spcPts val="2849"/>
              </a:lnSpc>
            </a:pPr>
            <a:r>
              <a:rPr lang="en-US" sz="2080" spc="-66">
                <a:solidFill>
                  <a:srgbClr val="FFFFFF"/>
                </a:solidFill>
                <a:latin typeface="HK Grotesk"/>
                <a:ea typeface="HK Grotesk"/>
                <a:cs typeface="HK Grotesk"/>
                <a:sym typeface="HK Grotesk"/>
              </a:rPr>
              <a:t>Survey design and pilot test</a:t>
            </a:r>
          </a:p>
        </p:txBody>
      </p:sp>
      <p:sp>
        <p:nvSpPr>
          <p:cNvPr name="TextBox 30" id="30"/>
          <p:cNvSpPr txBox="true"/>
          <p:nvPr/>
        </p:nvSpPr>
        <p:spPr>
          <a:xfrm rot="0">
            <a:off x="9802741" y="6258334"/>
            <a:ext cx="2765678" cy="546481"/>
          </a:xfrm>
          <a:prstGeom prst="rect">
            <a:avLst/>
          </a:prstGeom>
        </p:spPr>
        <p:txBody>
          <a:bodyPr anchor="t" rtlCol="false" tIns="0" lIns="0" bIns="0" rIns="0">
            <a:spAutoFit/>
          </a:bodyPr>
          <a:lstStyle/>
          <a:p>
            <a:pPr algn="ctr">
              <a:lnSpc>
                <a:spcPts val="2849"/>
              </a:lnSpc>
            </a:pPr>
            <a:r>
              <a:rPr lang="en-US" sz="2080" spc="-66">
                <a:solidFill>
                  <a:srgbClr val="FFFFFF"/>
                </a:solidFill>
                <a:latin typeface="HK Grotesk"/>
                <a:ea typeface="HK Grotesk"/>
                <a:cs typeface="HK Grotesk"/>
                <a:sym typeface="HK Grotesk"/>
              </a:rPr>
              <a:t>Household survey, 400 respondents</a:t>
            </a:r>
          </a:p>
        </p:txBody>
      </p:sp>
      <p:sp>
        <p:nvSpPr>
          <p:cNvPr name="TextBox 31" id="31"/>
          <p:cNvSpPr txBox="true"/>
          <p:nvPr/>
        </p:nvSpPr>
        <p:spPr>
          <a:xfrm rot="0">
            <a:off x="14018368" y="4788581"/>
            <a:ext cx="2499720" cy="822706"/>
          </a:xfrm>
          <a:prstGeom prst="rect">
            <a:avLst/>
          </a:prstGeom>
        </p:spPr>
        <p:txBody>
          <a:bodyPr anchor="t" rtlCol="false" tIns="0" lIns="0" bIns="0" rIns="0">
            <a:spAutoFit/>
          </a:bodyPr>
          <a:lstStyle/>
          <a:p>
            <a:pPr algn="ctr">
              <a:lnSpc>
                <a:spcPts val="2849"/>
              </a:lnSpc>
            </a:pPr>
            <a:r>
              <a:rPr lang="en-US" sz="2080" spc="-66">
                <a:solidFill>
                  <a:srgbClr val="FFFFFF"/>
                </a:solidFill>
                <a:latin typeface="HK Grotesk"/>
                <a:ea typeface="HK Grotesk"/>
                <a:cs typeface="HK Grotesk"/>
                <a:sym typeface="HK Grotesk"/>
              </a:rPr>
              <a:t>Statistical analysis</a:t>
            </a:r>
          </a:p>
        </p:txBody>
      </p:sp>
      <p:sp>
        <p:nvSpPr>
          <p:cNvPr name="TextBox 32" id="32"/>
          <p:cNvSpPr txBox="true"/>
          <p:nvPr/>
        </p:nvSpPr>
        <p:spPr>
          <a:xfrm rot="0">
            <a:off x="13727870" y="6258334"/>
            <a:ext cx="3082769" cy="546481"/>
          </a:xfrm>
          <a:prstGeom prst="rect">
            <a:avLst/>
          </a:prstGeom>
        </p:spPr>
        <p:txBody>
          <a:bodyPr anchor="t" rtlCol="false" tIns="0" lIns="0" bIns="0" rIns="0">
            <a:spAutoFit/>
          </a:bodyPr>
          <a:lstStyle/>
          <a:p>
            <a:pPr algn="ctr">
              <a:lnSpc>
                <a:spcPts val="2849"/>
              </a:lnSpc>
            </a:pPr>
            <a:r>
              <a:rPr lang="en-US" sz="2080" spc="-66">
                <a:solidFill>
                  <a:srgbClr val="FFFFFF"/>
                </a:solidFill>
                <a:latin typeface="HK Grotesk"/>
                <a:ea typeface="HK Grotesk"/>
                <a:cs typeface="HK Grotesk"/>
                <a:sym typeface="HK Grotesk"/>
              </a:rPr>
              <a:t>Report, policy brief and seminar</a:t>
            </a:r>
          </a:p>
        </p:txBody>
      </p:sp>
      <p:sp>
        <p:nvSpPr>
          <p:cNvPr name="AutoShape 33" id="33"/>
          <p:cNvSpPr/>
          <p:nvPr/>
        </p:nvSpPr>
        <p:spPr>
          <a:xfrm>
            <a:off x="1358772" y="5925222"/>
            <a:ext cx="15670095" cy="0"/>
          </a:xfrm>
          <a:prstGeom prst="line">
            <a:avLst/>
          </a:prstGeom>
          <a:ln cap="flat" w="19050">
            <a:solidFill>
              <a:srgbClr val="FFFFFF"/>
            </a:solidFill>
            <a:prstDash val="solid"/>
            <a:headEnd type="none" len="sm" w="sm"/>
            <a:tailEnd type="none" len="sm" w="sm"/>
          </a:ln>
        </p:spPr>
      </p:sp>
      <p:sp>
        <p:nvSpPr>
          <p:cNvPr name="AutoShape 34" id="34"/>
          <p:cNvSpPr/>
          <p:nvPr/>
        </p:nvSpPr>
        <p:spPr>
          <a:xfrm flipV="true">
            <a:off x="5008612" y="5060569"/>
            <a:ext cx="0" cy="1757018"/>
          </a:xfrm>
          <a:prstGeom prst="line">
            <a:avLst/>
          </a:prstGeom>
          <a:ln cap="flat" w="19050">
            <a:solidFill>
              <a:srgbClr val="FFFFFF"/>
            </a:solidFill>
            <a:prstDash val="solid"/>
            <a:headEnd type="none" len="sm" w="sm"/>
            <a:tailEnd type="none" len="sm" w="sm"/>
          </a:ln>
        </p:spPr>
      </p:sp>
      <p:sp>
        <p:nvSpPr>
          <p:cNvPr name="AutoShape 35" id="35"/>
          <p:cNvSpPr/>
          <p:nvPr/>
        </p:nvSpPr>
        <p:spPr>
          <a:xfrm flipV="true">
            <a:off x="9239784" y="5060569"/>
            <a:ext cx="0" cy="1757018"/>
          </a:xfrm>
          <a:prstGeom prst="line">
            <a:avLst/>
          </a:prstGeom>
          <a:ln cap="flat" w="19050">
            <a:solidFill>
              <a:srgbClr val="FFFFFF"/>
            </a:solidFill>
            <a:prstDash val="solid"/>
            <a:headEnd type="none" len="sm" w="sm"/>
            <a:tailEnd type="none" len="sm" w="sm"/>
          </a:ln>
        </p:spPr>
      </p:sp>
      <p:sp>
        <p:nvSpPr>
          <p:cNvPr name="AutoShape 36" id="36"/>
          <p:cNvSpPr/>
          <p:nvPr/>
        </p:nvSpPr>
        <p:spPr>
          <a:xfrm flipV="true">
            <a:off x="13470956" y="5060569"/>
            <a:ext cx="0" cy="1757018"/>
          </a:xfrm>
          <a:prstGeom prst="line">
            <a:avLst/>
          </a:prstGeom>
          <a:ln cap="flat" w="19050">
            <a:solidFill>
              <a:srgbClr val="FFFFFF"/>
            </a:solidFill>
            <a:prstDash val="solid"/>
            <a:headEnd type="none" len="sm" w="sm"/>
            <a:tailEnd type="none" len="sm" w="sm"/>
          </a:ln>
        </p:spPr>
      </p:sp>
      <p:sp>
        <p:nvSpPr>
          <p:cNvPr name="TextBox 37" id="37"/>
          <p:cNvSpPr txBox="true"/>
          <p:nvPr/>
        </p:nvSpPr>
        <p:spPr>
          <a:xfrm rot="0">
            <a:off x="1028700" y="8351901"/>
            <a:ext cx="16230600" cy="906399"/>
          </a:xfrm>
          <a:prstGeom prst="rect">
            <a:avLst/>
          </a:prstGeom>
        </p:spPr>
        <p:txBody>
          <a:bodyPr anchor="t" rtlCol="false" tIns="0" lIns="0" bIns="0" rIns="0">
            <a:spAutoFit/>
          </a:bodyPr>
          <a:lstStyle/>
          <a:p>
            <a:pPr algn="l">
              <a:lnSpc>
                <a:spcPts val="3182"/>
              </a:lnSpc>
            </a:pPr>
            <a:r>
              <a:rPr lang="en-US" sz="2340" spc="-57">
                <a:solidFill>
                  <a:srgbClr val="FFFFFF"/>
                </a:solidFill>
                <a:latin typeface="HK Grotesk"/>
                <a:ea typeface="HK Grotesk"/>
                <a:cs typeface="HK Grotesk"/>
                <a:sym typeface="HK Grotesk"/>
              </a:rPr>
              <a:t>Fieldwork avoids the harvest months, when members are hard to reach. A two-week buffer is included before each deadline.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sp>
        <p:nvSpPr>
          <p:cNvPr name="TextBox 2" id="2"/>
          <p:cNvSpPr txBox="true"/>
          <p:nvPr/>
        </p:nvSpPr>
        <p:spPr>
          <a:xfrm rot="0">
            <a:off x="1028700" y="3838206"/>
            <a:ext cx="7101623" cy="2125599"/>
          </a:xfrm>
          <a:prstGeom prst="rect">
            <a:avLst/>
          </a:prstGeom>
        </p:spPr>
        <p:txBody>
          <a:bodyPr anchor="t" rtlCol="false" tIns="0" lIns="0" bIns="0" rIns="0">
            <a:spAutoFit/>
          </a:bodyPr>
          <a:lstStyle/>
          <a:p>
            <a:pPr algn="l">
              <a:lnSpc>
                <a:spcPts val="3182"/>
              </a:lnSpc>
            </a:pPr>
            <a:r>
              <a:rPr lang="en-US" sz="2340" spc="-57">
                <a:solidFill>
                  <a:srgbClr val="FFFFFF"/>
                </a:solidFill>
                <a:latin typeface="HK Grotesk"/>
                <a:ea typeface="HK Grotesk"/>
                <a:cs typeface="HK Grotesk"/>
                <a:sym typeface="HK Grotesk"/>
              </a:rPr>
              <a:t>We expect trust in the manager to matter more than age or education. If confirmed, training managers is a cheaper policy lever than subsidising phones.</a:t>
            </a:r>
          </a:p>
        </p:txBody>
      </p:sp>
      <p:sp>
        <p:nvSpPr>
          <p:cNvPr name="TextBox 3" id="3"/>
          <p:cNvSpPr txBox="true"/>
          <p:nvPr/>
        </p:nvSpPr>
        <p:spPr>
          <a:xfrm rot="0">
            <a:off x="4251854" y="7132701"/>
            <a:ext cx="3878469" cy="2125599"/>
          </a:xfrm>
          <a:prstGeom prst="rect">
            <a:avLst/>
          </a:prstGeom>
        </p:spPr>
        <p:txBody>
          <a:bodyPr anchor="t" rtlCol="false" tIns="0" lIns="0" bIns="0" rIns="0">
            <a:spAutoFit/>
          </a:bodyPr>
          <a:lstStyle/>
          <a:p>
            <a:pPr algn="l">
              <a:lnSpc>
                <a:spcPts val="3182"/>
              </a:lnSpc>
            </a:pPr>
            <a:r>
              <a:rPr lang="en-US" sz="2340" i="true" spc="-57">
                <a:solidFill>
                  <a:srgbClr val="FFFFFF"/>
                </a:solidFill>
                <a:latin typeface="HK Grotesk Italics"/>
                <a:ea typeface="HK Grotesk Italics"/>
                <a:cs typeface="HK Grotesk Italics"/>
                <a:sym typeface="HK Grotesk Italics"/>
              </a:rPr>
              <a:t>of pilot respondents said they would use the app if their manager recommended it.</a:t>
            </a:r>
          </a:p>
        </p:txBody>
      </p:sp>
      <p:grpSp>
        <p:nvGrpSpPr>
          <p:cNvPr name="Group 4" id="4"/>
          <p:cNvGrpSpPr/>
          <p:nvPr/>
        </p:nvGrpSpPr>
        <p:grpSpPr>
          <a:xfrm rot="0">
            <a:off x="279200" y="387555"/>
            <a:ext cx="2155619" cy="2155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6" id="6"/>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7" id="7"/>
          <p:cNvSpPr txBox="true"/>
          <p:nvPr/>
        </p:nvSpPr>
        <p:spPr>
          <a:xfrm rot="0">
            <a:off x="1028700" y="1314450"/>
            <a:ext cx="7597481" cy="2285746"/>
          </a:xfrm>
          <a:prstGeom prst="rect">
            <a:avLst/>
          </a:prstGeom>
        </p:spPr>
        <p:txBody>
          <a:bodyPr anchor="t" rtlCol="false" tIns="0" lIns="0" bIns="0" rIns="0">
            <a:spAutoFit/>
          </a:bodyPr>
          <a:lstStyle/>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Expected Findings</a:t>
            </a:r>
          </a:p>
        </p:txBody>
      </p:sp>
      <p:sp>
        <p:nvSpPr>
          <p:cNvPr name="TextBox 8" id="8"/>
          <p:cNvSpPr txBox="true"/>
          <p:nvPr/>
        </p:nvSpPr>
        <p:spPr>
          <a:xfrm rot="0">
            <a:off x="1028700" y="7700057"/>
            <a:ext cx="3292424" cy="1324261"/>
          </a:xfrm>
          <a:prstGeom prst="rect">
            <a:avLst/>
          </a:prstGeom>
        </p:spPr>
        <p:txBody>
          <a:bodyPr anchor="t" rtlCol="false" tIns="0" lIns="0" bIns="0" rIns="0">
            <a:spAutoFit/>
          </a:bodyPr>
          <a:lstStyle/>
          <a:p>
            <a:pPr algn="l" marL="0" indent="0" lvl="0">
              <a:lnSpc>
                <a:spcPts val="9620"/>
              </a:lnSpc>
            </a:pPr>
            <a:r>
              <a:rPr lang="en-US" b="true" sz="10689" spc="-427">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65%</a:t>
            </a:r>
          </a:p>
        </p:txBody>
      </p:sp>
      <p:grpSp>
        <p:nvGrpSpPr>
          <p:cNvPr name="Group 9" id="9"/>
          <p:cNvGrpSpPr/>
          <p:nvPr/>
        </p:nvGrpSpPr>
        <p:grpSpPr>
          <a:xfrm rot="0">
            <a:off x="9308199" y="1028700"/>
            <a:ext cx="7951101" cy="8229600"/>
            <a:chOff x="0" y="0"/>
            <a:chExt cx="2094117" cy="2167467"/>
          </a:xfrm>
        </p:grpSpPr>
        <p:sp>
          <p:nvSpPr>
            <p:cNvPr name="Freeform 10" id="10"/>
            <p:cNvSpPr/>
            <p:nvPr/>
          </p:nvSpPr>
          <p:spPr>
            <a:xfrm flipH="false" flipV="false" rot="0">
              <a:off x="0" y="0"/>
              <a:ext cx="2094117" cy="2167467"/>
            </a:xfrm>
            <a:custGeom>
              <a:avLst/>
              <a:gdLst/>
              <a:ahLst/>
              <a:cxnLst/>
              <a:rect r="r" b="b" t="t" l="l"/>
              <a:pathLst>
                <a:path h="2167467" w="2094117">
                  <a:moveTo>
                    <a:pt x="97369" y="0"/>
                  </a:moveTo>
                  <a:lnTo>
                    <a:pt x="1996748" y="0"/>
                  </a:lnTo>
                  <a:cubicBezTo>
                    <a:pt x="2050523" y="0"/>
                    <a:pt x="2094117" y="43594"/>
                    <a:pt x="2094117" y="97369"/>
                  </a:cubicBezTo>
                  <a:lnTo>
                    <a:pt x="2094117" y="2070097"/>
                  </a:lnTo>
                  <a:cubicBezTo>
                    <a:pt x="2094117" y="2123873"/>
                    <a:pt x="2050523" y="2167467"/>
                    <a:pt x="1996748" y="2167467"/>
                  </a:cubicBezTo>
                  <a:lnTo>
                    <a:pt x="97369" y="2167467"/>
                  </a:lnTo>
                  <a:cubicBezTo>
                    <a:pt x="71545" y="2167467"/>
                    <a:pt x="46779" y="2157208"/>
                    <a:pt x="28519" y="2138948"/>
                  </a:cubicBezTo>
                  <a:cubicBezTo>
                    <a:pt x="10259" y="2120688"/>
                    <a:pt x="0" y="2095921"/>
                    <a:pt x="0" y="2070097"/>
                  </a:cubicBezTo>
                  <a:lnTo>
                    <a:pt x="0" y="97369"/>
                  </a:lnTo>
                  <a:cubicBezTo>
                    <a:pt x="0" y="43594"/>
                    <a:pt x="43594" y="0"/>
                    <a:pt x="97369" y="0"/>
                  </a:cubicBezTo>
                  <a:close/>
                </a:path>
              </a:pathLst>
            </a:custGeom>
            <a:solidFill>
              <a:srgbClr val="FFFFFF"/>
            </a:soli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11" id="11"/>
            <p:cNvSpPr txBox="true"/>
            <p:nvPr/>
          </p:nvSpPr>
          <p:spPr>
            <a:xfrm>
              <a:off x="0" y="0"/>
              <a:ext cx="2094117" cy="2167467"/>
            </a:xfrm>
            <a:prstGeom prst="rect">
              <a:avLst/>
            </a:prstGeom>
          </p:spPr>
          <p:txBody>
            <a:bodyPr anchor="ctr" rtlCol="false" tIns="50800" lIns="50800" bIns="50800" rIns="50800"/>
            <a:lstStyle/>
            <a:p>
              <a:pPr algn="ctr">
                <a:lnSpc>
                  <a:spcPts val="3119"/>
                </a:lnSpc>
              </a:pPr>
            </a:p>
            <a:p>
              <a:pPr algn="ctr">
                <a:lnSpc>
                  <a:spcPts val="3119"/>
                </a:lnSpc>
              </a:pPr>
            </a:p>
          </p:txBody>
        </p:sp>
      </p:grpSp>
      <p:graphicFrame>
        <p:nvGraphicFramePr>
          <p:cNvPr id="12" name="Chart 11"/>
          <p:cNvGraphicFramePr>
            <a:graphicFrameLocks noGrp="1"/>
          </p:cNvGraphicFramePr>
          <p:nvPr/>
        </p:nvGraphicFramePr>
        <p:xfrm>
          <a:off x="9692640" y="1463040"/>
          <a:ext cx="7223760" cy="7315200"/>
        </p:xfrm>
        <a:graphic>
          <a:graphicData uri="http://schemas.openxmlformats.org/drawingml/2006/chart">
            <c:chart xmlns:c="http://schemas.openxmlformats.org/drawingml/2006/chart" r:id="rId2"/>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284196" y="829468"/>
            <a:ext cx="18856392" cy="988179"/>
            <a:chOff x="0" y="0"/>
            <a:chExt cx="4966293" cy="260261"/>
          </a:xfrm>
        </p:grpSpPr>
        <p:sp>
          <p:nvSpPr>
            <p:cNvPr name="Freeform 3" id="3"/>
            <p:cNvSpPr/>
            <p:nvPr/>
          </p:nvSpPr>
          <p:spPr>
            <a:xfrm flipH="false" flipV="false" rot="0">
              <a:off x="0" y="0"/>
              <a:ext cx="4966293" cy="260261"/>
            </a:xfrm>
            <a:custGeom>
              <a:avLst/>
              <a:gdLst/>
              <a:ahLst/>
              <a:cxnLst/>
              <a:rect r="r" b="b" t="t" l="l"/>
              <a:pathLst>
                <a:path h="260261" w="4966293">
                  <a:moveTo>
                    <a:pt x="0" y="0"/>
                  </a:moveTo>
                  <a:lnTo>
                    <a:pt x="4966293" y="0"/>
                  </a:lnTo>
                  <a:lnTo>
                    <a:pt x="4966293" y="260261"/>
                  </a:lnTo>
                  <a:lnTo>
                    <a:pt x="0" y="260261"/>
                  </a:lnTo>
                  <a:close/>
                </a:path>
              </a:pathLst>
            </a:custGeom>
            <a:solidFill>
              <a:srgbClr val="FFFFFF"/>
            </a:solidFill>
          </p:spPr>
        </p:sp>
        <p:sp>
          <p:nvSpPr>
            <p:cNvPr name="TextBox 4" id="4"/>
            <p:cNvSpPr txBox="true"/>
            <p:nvPr/>
          </p:nvSpPr>
          <p:spPr>
            <a:xfrm>
              <a:off x="0" y="-38100"/>
              <a:ext cx="4966293" cy="298361"/>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339249" y="4895159"/>
            <a:ext cx="17762815" cy="3006344"/>
          </a:xfrm>
          <a:prstGeom prst="rect">
            <a:avLst/>
          </a:prstGeom>
        </p:spPr>
        <p:txBody>
          <a:bodyPr anchor="t" rtlCol="false" tIns="0" lIns="0" bIns="0" rIns="0">
            <a:spAutoFit/>
          </a:bodyPr>
          <a:lstStyle/>
          <a:p>
            <a:pPr algn="ctr" marL="0" indent="0" lvl="0">
              <a:lnSpc>
                <a:spcPts val="23672"/>
              </a:lnSpc>
            </a:pPr>
            <a:r>
              <a:rPr lang="en-US" b="true" sz="26302" spc="-1052">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Thank You</a:t>
            </a:r>
          </a:p>
        </p:txBody>
      </p:sp>
      <p:grpSp>
        <p:nvGrpSpPr>
          <p:cNvPr name="Group 6" id="6"/>
          <p:cNvGrpSpPr/>
          <p:nvPr/>
        </p:nvGrpSpPr>
        <p:grpSpPr>
          <a:xfrm rot="0">
            <a:off x="7720219" y="8377948"/>
            <a:ext cx="9539081" cy="880352"/>
            <a:chOff x="0" y="0"/>
            <a:chExt cx="2512351" cy="231862"/>
          </a:xfrm>
        </p:grpSpPr>
        <p:sp>
          <p:nvSpPr>
            <p:cNvPr name="Freeform 7" id="7"/>
            <p:cNvSpPr/>
            <p:nvPr/>
          </p:nvSpPr>
          <p:spPr>
            <a:xfrm flipH="false" flipV="false" rot="0">
              <a:off x="0" y="0"/>
              <a:ext cx="2512351" cy="231862"/>
            </a:xfrm>
            <a:custGeom>
              <a:avLst/>
              <a:gdLst/>
              <a:ahLst/>
              <a:cxnLst/>
              <a:rect r="r" b="b" t="t" l="l"/>
              <a:pathLst>
                <a:path h="231862" w="2512351">
                  <a:moveTo>
                    <a:pt x="81160" y="0"/>
                  </a:moveTo>
                  <a:lnTo>
                    <a:pt x="2431191" y="0"/>
                  </a:lnTo>
                  <a:cubicBezTo>
                    <a:pt x="2452716" y="0"/>
                    <a:pt x="2473359" y="8551"/>
                    <a:pt x="2488579" y="23771"/>
                  </a:cubicBezTo>
                  <a:cubicBezTo>
                    <a:pt x="2503800" y="38992"/>
                    <a:pt x="2512351" y="59635"/>
                    <a:pt x="2512351" y="81160"/>
                  </a:cubicBezTo>
                  <a:lnTo>
                    <a:pt x="2512351" y="150702"/>
                  </a:lnTo>
                  <a:cubicBezTo>
                    <a:pt x="2512351" y="195526"/>
                    <a:pt x="2476014" y="231862"/>
                    <a:pt x="2431191" y="231862"/>
                  </a:cubicBezTo>
                  <a:lnTo>
                    <a:pt x="81160" y="231862"/>
                  </a:lnTo>
                  <a:cubicBezTo>
                    <a:pt x="59635" y="231862"/>
                    <a:pt x="38992" y="223311"/>
                    <a:pt x="23771" y="208091"/>
                  </a:cubicBezTo>
                  <a:cubicBezTo>
                    <a:pt x="8551" y="192870"/>
                    <a:pt x="0" y="172227"/>
                    <a:pt x="0" y="150702"/>
                  </a:cubicBezTo>
                  <a:lnTo>
                    <a:pt x="0" y="81160"/>
                  </a:lnTo>
                  <a:cubicBezTo>
                    <a:pt x="0" y="36337"/>
                    <a:pt x="36337" y="0"/>
                    <a:pt x="81160"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8" id="8"/>
            <p:cNvSpPr txBox="true"/>
            <p:nvPr/>
          </p:nvSpPr>
          <p:spPr>
            <a:xfrm>
              <a:off x="0" y="0"/>
              <a:ext cx="2512351" cy="231862"/>
            </a:xfrm>
            <a:prstGeom prst="rect">
              <a:avLst/>
            </a:prstGeom>
          </p:spPr>
          <p:txBody>
            <a:bodyPr anchor="ctr" rtlCol="false" tIns="50800" lIns="50800" bIns="50800" rIns="50800"/>
            <a:lstStyle/>
            <a:p>
              <a:pPr algn="ctr">
                <a:lnSpc>
                  <a:spcPts val="3119"/>
                </a:lnSpc>
              </a:pPr>
            </a:p>
          </p:txBody>
        </p:sp>
      </p:grpSp>
      <p:sp>
        <p:nvSpPr>
          <p:cNvPr name="TextBox 9" id="9"/>
          <p:cNvSpPr txBox="true"/>
          <p:nvPr/>
        </p:nvSpPr>
        <p:spPr>
          <a:xfrm rot="0">
            <a:off x="7876892" y="8622077"/>
            <a:ext cx="9225735" cy="390525"/>
          </a:xfrm>
          <a:prstGeom prst="rect">
            <a:avLst/>
          </a:prstGeom>
        </p:spPr>
        <p:txBody>
          <a:bodyPr anchor="t" rtlCol="false" tIns="0" lIns="0" bIns="0" rIns="0">
            <a:spAutoFit/>
          </a:bodyPr>
          <a:lstStyle/>
          <a:p>
            <a:pPr algn="ctr" marL="0" indent="0" lvl="0">
              <a:lnSpc>
                <a:spcPts val="3119"/>
              </a:lnSpc>
            </a:pPr>
            <a:r>
              <a:rPr lang="en-US" sz="2599" spc="-67">
                <a:solidFill>
                  <a:srgbClr val="FFFFFF"/>
                </a:solidFill>
                <a:latin typeface="Open Sauce"/>
                <a:ea typeface="Open Sauce"/>
                <a:cs typeface="Open Sauce"/>
                <a:sym typeface="Open Sauce"/>
              </a:rPr>
              <a:t>Research Proposal - Faculty of Economics 2026</a:t>
            </a:r>
          </a:p>
        </p:txBody>
      </p:sp>
      <p:sp>
        <p:nvSpPr>
          <p:cNvPr name="TextBox 10" id="10"/>
          <p:cNvSpPr txBox="true"/>
          <p:nvPr/>
        </p:nvSpPr>
        <p:spPr>
          <a:xfrm rot="0">
            <a:off x="1028700" y="8426815"/>
            <a:ext cx="6240758" cy="781050"/>
          </a:xfrm>
          <a:prstGeom prst="rect">
            <a:avLst/>
          </a:prstGeom>
        </p:spPr>
        <p:txBody>
          <a:bodyPr anchor="t" rtlCol="false" tIns="0" lIns="0" bIns="0" rIns="0">
            <a:spAutoFit/>
          </a:bodyPr>
          <a:lstStyle/>
          <a:p>
            <a:pPr algn="l" marL="0" indent="0" lvl="0">
              <a:lnSpc>
                <a:spcPts val="3119"/>
              </a:lnSpc>
            </a:pPr>
            <a:r>
              <a:rPr lang="en-US" sz="2599" spc="-67">
                <a:solidFill>
                  <a:srgbClr val="FFFFFF"/>
                </a:solidFill>
                <a:latin typeface="Open Sauce"/>
                <a:ea typeface="Open Sauce"/>
                <a:cs typeface="Open Sauce"/>
                <a:sym typeface="Open Sauce"/>
              </a:rPr>
              <a:t>Questions and suggestions are welcome: kurnia@example.ac.id</a:t>
            </a:r>
          </a:p>
        </p:txBody>
      </p:sp>
      <p:sp>
        <p:nvSpPr>
          <p:cNvPr name="TextBox 11" id="11"/>
          <p:cNvSpPr txBox="true"/>
          <p:nvPr/>
        </p:nvSpPr>
        <p:spPr>
          <a:xfrm rot="0">
            <a:off x="1365688" y="1176238"/>
            <a:ext cx="3525349" cy="313690"/>
          </a:xfrm>
          <a:prstGeom prst="rect">
            <a:avLst/>
          </a:prstGeom>
        </p:spPr>
        <p:txBody>
          <a:bodyPr anchor="t" rtlCol="false" tIns="0" lIns="0" bIns="0" rIns="0">
            <a:spAutoFit/>
          </a:bodyPr>
          <a:lstStyle/>
          <a:p>
            <a:pPr algn="l">
              <a:lnSpc>
                <a:spcPts val="2419"/>
              </a:lnSpc>
              <a:spcBef>
                <a:spcPct val="0"/>
              </a:spcBef>
            </a:pPr>
            <a:r>
              <a:rPr lang="en-US" b="true" sz="2199" spc="-35">
                <a:solidFill>
                  <a:srgbClr val="000000"/>
                </a:solidFill>
                <a:latin typeface="Open Sauce Bold"/>
                <a:ea typeface="Open Sauce Bold"/>
                <a:cs typeface="Open Sauce Bold"/>
                <a:sym typeface="Open Sauce Bold"/>
              </a:rPr>
              <a:t>Universitas Nusantara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DAHV1FbOXBc</dc:identifier>
  <dcterms:modified xsi:type="dcterms:W3CDTF">2011-08-01T06:04:30Z</dcterms:modified>
  <cp:revision>1</cp:revision>
  <dc:title>Black and White Modern Research Proposal Presentation</dc:title>
</cp:coreProperties>
</file>