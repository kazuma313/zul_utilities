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uce Bold" charset="1" panose="00000800000000000000"/>
      <p:regular r:id="rId21"/>
    </p:embeddedFont>
    <p:embeddedFont>
      <p:font typeface="Open Sauce" charset="1" panose="00000500000000000000"/>
      <p:regular r:id="rId22"/>
    </p:embeddedFont>
    <p:embeddedFont>
      <p:font typeface="HK Grotesk" charset="1" panose="00000500000000000000"/>
      <p:regular r:id="rId23"/>
    </p:embeddedFont>
    <p:embeddedFont>
      <p:font typeface="HK Grotesk Italics" charset="1" panose="00000500000000000000"/>
      <p:regular r:id="rId24"/>
    </p:embeddedFont>
    <p:embeddedFont>
      <p:font typeface="HK Grotesk Bold" charset="1" panose="00000800000000000000"/>
      <p:regular r:id="rId25"/>
    </p:embeddedFont>
    <p:embeddedFont>
      <p:font typeface="Open Sans" charset="1" panose="020B0606030504020204"/>
      <p:regular r:id="rId26"/>
    </p:embeddedFont>
    <p:embeddedFont>
      <p:font typeface="Open Sans Italics" charset="1" panose="020B06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23.jpeg" Type="http://schemas.openxmlformats.org/officeDocument/2006/relationships/image"/><Relationship Id="rId4" Target="../media/image24.jpeg" Type="http://schemas.openxmlformats.org/officeDocument/2006/relationships/image"/><Relationship Id="rId5" Target="../media/image2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4196" y="829468"/>
            <a:ext cx="18856392" cy="988179"/>
            <a:chOff x="0" y="0"/>
            <a:chExt cx="4966293" cy="260261"/>
          </a:xfrm>
        </p:grpSpPr>
        <p:sp>
          <p:nvSpPr>
            <p:cNvPr name="Freeform 3" id="3"/>
            <p:cNvSpPr/>
            <p:nvPr/>
          </p:nvSpPr>
          <p:spPr>
            <a:xfrm flipH="false" flipV="false" rot="0">
              <a:off x="0" y="0"/>
              <a:ext cx="4966293" cy="260261"/>
            </a:xfrm>
            <a:custGeom>
              <a:avLst/>
              <a:gdLst/>
              <a:ahLst/>
              <a:cxnLst/>
              <a:rect r="r" b="b" t="t" l="l"/>
              <a:pathLst>
                <a:path h="260261" w="4966293">
                  <a:moveTo>
                    <a:pt x="0" y="0"/>
                  </a:moveTo>
                  <a:lnTo>
                    <a:pt x="4966293" y="0"/>
                  </a:lnTo>
                  <a:lnTo>
                    <a:pt x="4966293" y="260261"/>
                  </a:lnTo>
                  <a:lnTo>
                    <a:pt x="0" y="260261"/>
                  </a:lnTo>
                  <a:close/>
                </a:path>
              </a:pathLst>
            </a:custGeom>
            <a:solidFill>
              <a:srgbClr val="FFFFFF"/>
            </a:solidFill>
          </p:spPr>
        </p:sp>
        <p:sp>
          <p:nvSpPr>
            <p:cNvPr name="TextBox 4" id="4"/>
            <p:cNvSpPr txBox="true"/>
            <p:nvPr/>
          </p:nvSpPr>
          <p:spPr>
            <a:xfrm>
              <a:off x="0" y="-38100"/>
              <a:ext cx="4966293" cy="2983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36338" y="6497366"/>
            <a:ext cx="16959343" cy="1811845"/>
          </a:xfrm>
          <a:prstGeom prst="rect">
            <a:avLst/>
          </a:prstGeom>
        </p:spPr>
        <p:txBody>
          <a:bodyPr anchor="t" rtlCol="false" tIns="0" lIns="0" bIns="0" rIns="0">
            <a:spAutoFit/>
          </a:bodyPr>
          <a:lstStyle/>
          <a:p>
            <a:pPr algn="ctr" marL="0" indent="0" lvl="0">
              <a:lnSpc>
                <a:spcPts val="13121"/>
              </a:lnSpc>
            </a:pPr>
            <a:r>
              <a:rPr lang="en-US" b="true" sz="14579" spc="-583">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Research Proposal</a:t>
            </a:r>
          </a:p>
        </p:txBody>
      </p:sp>
      <p:sp>
        <p:nvSpPr>
          <p:cNvPr name="TextBox 6" id="6"/>
          <p:cNvSpPr txBox="true"/>
          <p:nvPr/>
        </p:nvSpPr>
        <p:spPr>
          <a:xfrm rot="0">
            <a:off x="973833" y="8398138"/>
            <a:ext cx="14817945" cy="1095579"/>
          </a:xfrm>
          <a:prstGeom prst="rect">
            <a:avLst/>
          </a:prstGeom>
        </p:spPr>
        <p:txBody>
          <a:bodyPr anchor="t" rtlCol="false" tIns="0" lIns="0" bIns="0" rIns="0">
            <a:spAutoFit/>
          </a:bodyPr>
          <a:lstStyle/>
          <a:p>
            <a:pPr algn="l" marL="0" indent="0" lvl="0">
              <a:lnSpc>
                <a:spcPts val="8011"/>
              </a:lnSpc>
            </a:pPr>
            <a:r>
              <a:rPr lang="en-US" sz="8901" spc="-356">
                <a:gradFill>
                  <a:gsLst>
                    <a:gs pos="0">
                      <a:srgbClr val="FFFFFF">
                        <a:alpha val="100000"/>
                      </a:srgbClr>
                    </a:gs>
                    <a:gs pos="50000">
                      <a:srgbClr val="FFFFFF">
                        <a:alpha val="100000"/>
                      </a:srgbClr>
                    </a:gs>
                    <a:gs pos="100000">
                      <a:srgbClr val="FFFFFF">
                        <a:alpha val="44500"/>
                      </a:srgbClr>
                    </a:gs>
                  </a:gsLst>
                  <a:lin ang="5400000"/>
                </a:gradFill>
                <a:latin typeface="Open Sauce"/>
                <a:ea typeface="Open Sauce"/>
                <a:cs typeface="Open Sauce"/>
                <a:sym typeface="Open Sauce"/>
              </a:rPr>
              <a:t>Presentation</a:t>
            </a:r>
          </a:p>
        </p:txBody>
      </p:sp>
      <p:grpSp>
        <p:nvGrpSpPr>
          <p:cNvPr name="Group 7" id="7"/>
          <p:cNvGrpSpPr/>
          <p:nvPr/>
        </p:nvGrpSpPr>
        <p:grpSpPr>
          <a:xfrm rot="0">
            <a:off x="7720219" y="8377948"/>
            <a:ext cx="9539081" cy="880352"/>
            <a:chOff x="0" y="0"/>
            <a:chExt cx="2512351" cy="231862"/>
          </a:xfrm>
        </p:grpSpPr>
        <p:sp>
          <p:nvSpPr>
            <p:cNvPr name="Freeform 8" id="8"/>
            <p:cNvSpPr/>
            <p:nvPr/>
          </p:nvSpPr>
          <p:spPr>
            <a:xfrm flipH="false" flipV="false" rot="0">
              <a:off x="0" y="0"/>
              <a:ext cx="2512351" cy="231862"/>
            </a:xfrm>
            <a:custGeom>
              <a:avLst/>
              <a:gdLst/>
              <a:ahLst/>
              <a:cxnLst/>
              <a:rect r="r" b="b" t="t" l="l"/>
              <a:pathLst>
                <a:path h="231862" w="2512351">
                  <a:moveTo>
                    <a:pt x="81160" y="0"/>
                  </a:moveTo>
                  <a:lnTo>
                    <a:pt x="2431191" y="0"/>
                  </a:lnTo>
                  <a:cubicBezTo>
                    <a:pt x="2452716" y="0"/>
                    <a:pt x="2473359" y="8551"/>
                    <a:pt x="2488579" y="23771"/>
                  </a:cubicBezTo>
                  <a:cubicBezTo>
                    <a:pt x="2503800" y="38992"/>
                    <a:pt x="2512351" y="59635"/>
                    <a:pt x="2512351" y="81160"/>
                  </a:cubicBezTo>
                  <a:lnTo>
                    <a:pt x="2512351" y="150702"/>
                  </a:lnTo>
                  <a:cubicBezTo>
                    <a:pt x="2512351" y="195526"/>
                    <a:pt x="2476014" y="231862"/>
                    <a:pt x="2431191" y="231862"/>
                  </a:cubicBezTo>
                  <a:lnTo>
                    <a:pt x="81160" y="231862"/>
                  </a:lnTo>
                  <a:cubicBezTo>
                    <a:pt x="59635" y="231862"/>
                    <a:pt x="38992" y="223311"/>
                    <a:pt x="23771" y="208091"/>
                  </a:cubicBezTo>
                  <a:cubicBezTo>
                    <a:pt x="8551" y="192870"/>
                    <a:pt x="0" y="172227"/>
                    <a:pt x="0" y="150702"/>
                  </a:cubicBezTo>
                  <a:lnTo>
                    <a:pt x="0" y="81160"/>
                  </a:lnTo>
                  <a:cubicBezTo>
                    <a:pt x="0" y="36337"/>
                    <a:pt x="36337" y="0"/>
                    <a:pt x="8116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2512351" cy="231862"/>
            </a:xfrm>
            <a:prstGeom prst="rect">
              <a:avLst/>
            </a:prstGeom>
          </p:spPr>
          <p:txBody>
            <a:bodyPr anchor="ctr" rtlCol="false" tIns="50800" lIns="50800" bIns="50800" rIns="50800"/>
            <a:lstStyle/>
            <a:p>
              <a:pPr algn="ctr">
                <a:lnSpc>
                  <a:spcPts val="3119"/>
                </a:lnSpc>
              </a:pPr>
            </a:p>
          </p:txBody>
        </p:sp>
      </p:grpSp>
      <p:sp>
        <p:nvSpPr>
          <p:cNvPr name="TextBox 10" id="10"/>
          <p:cNvSpPr txBox="true"/>
          <p:nvPr/>
        </p:nvSpPr>
        <p:spPr>
          <a:xfrm rot="0">
            <a:off x="7876892" y="8622077"/>
            <a:ext cx="9225735" cy="390525"/>
          </a:xfrm>
          <a:prstGeom prst="rect">
            <a:avLst/>
          </a:prstGeom>
        </p:spPr>
        <p:txBody>
          <a:bodyPr anchor="t" rtlCol="false" tIns="0" lIns="0" bIns="0" rIns="0">
            <a:spAutoFit/>
          </a:bodyPr>
          <a:lstStyle/>
          <a:p>
            <a:pPr algn="ctr" marL="0" indent="0" lvl="0">
              <a:lnSpc>
                <a:spcPts val="3119"/>
              </a:lnSpc>
            </a:pPr>
            <a:r>
              <a:rPr lang="en-US" sz="2599" spc="-67">
                <a:solidFill>
                  <a:srgbClr val="FFFFFF"/>
                </a:solidFill>
                <a:latin typeface="Open Sauce"/>
                <a:ea typeface="Open Sauce"/>
                <a:cs typeface="Open Sauce"/>
                <a:sym typeface="Open Sauce"/>
              </a:rPr>
              <a:t>Product Research Proposal for Borcelle Company</a:t>
            </a:r>
          </a:p>
        </p:txBody>
      </p:sp>
      <p:sp>
        <p:nvSpPr>
          <p:cNvPr name="TextBox 11" id="11"/>
          <p:cNvSpPr txBox="true"/>
          <p:nvPr/>
        </p:nvSpPr>
        <p:spPr>
          <a:xfrm rot="0">
            <a:off x="1028700" y="1176238"/>
            <a:ext cx="3525349"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000000"/>
                </a:solidFill>
                <a:latin typeface="Open Sauce Bold"/>
                <a:ea typeface="Open Sauce Bold"/>
                <a:cs typeface="Open Sauce Bold"/>
                <a:sym typeface="Open Sauce Bold"/>
              </a:rPr>
              <a:t>Bo</a:t>
            </a:r>
            <a:r>
              <a:rPr lang="en-US" b="true" sz="2199" spc="-35">
                <a:solidFill>
                  <a:srgbClr val="000000"/>
                </a:solidFill>
                <a:latin typeface="Open Sauce Bold"/>
                <a:ea typeface="Open Sauce Bold"/>
                <a:cs typeface="Open Sauce Bold"/>
                <a:sym typeface="Open Sauce Bold"/>
              </a:rPr>
              <a:t>rcelle Company</a:t>
            </a:r>
          </a:p>
        </p:txBody>
      </p:sp>
      <p:sp>
        <p:nvSpPr>
          <p:cNvPr name="TextBox 12" id="12"/>
          <p:cNvSpPr txBox="true"/>
          <p:nvPr/>
        </p:nvSpPr>
        <p:spPr>
          <a:xfrm rot="0">
            <a:off x="1028700" y="5018543"/>
            <a:ext cx="5618225" cy="313690"/>
          </a:xfrm>
          <a:prstGeom prst="rect">
            <a:avLst/>
          </a:prstGeom>
        </p:spPr>
        <p:txBody>
          <a:bodyPr anchor="t" rtlCol="false" tIns="0" lIns="0" bIns="0" rIns="0">
            <a:spAutoFit/>
          </a:bodyPr>
          <a:lstStyle/>
          <a:p>
            <a:pPr algn="l">
              <a:lnSpc>
                <a:spcPts val="2419"/>
              </a:lnSpc>
              <a:spcBef>
                <a:spcPct val="0"/>
              </a:spcBef>
            </a:pPr>
            <a:r>
              <a:rPr lang="en-US" sz="2199" spc="-35">
                <a:solidFill>
                  <a:srgbClr val="FFFFFF"/>
                </a:solidFill>
                <a:latin typeface="Open Sauce"/>
                <a:ea typeface="Open Sauce"/>
                <a:cs typeface="Open Sauce"/>
                <a:sym typeface="Open Sauce"/>
              </a:rPr>
              <a:t>Presented By:</a:t>
            </a:r>
          </a:p>
        </p:txBody>
      </p:sp>
      <p:sp>
        <p:nvSpPr>
          <p:cNvPr name="TextBox 13" id="13"/>
          <p:cNvSpPr txBox="true"/>
          <p:nvPr/>
        </p:nvSpPr>
        <p:spPr>
          <a:xfrm rot="0">
            <a:off x="1028700" y="5351283"/>
            <a:ext cx="5618225"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FFFFFF"/>
                </a:solidFill>
                <a:latin typeface="Open Sauce Bold"/>
                <a:ea typeface="Open Sauce Bold"/>
                <a:cs typeface="Open Sauce Bold"/>
                <a:sym typeface="Open Sauce Bold"/>
              </a:rPr>
              <a:t>Drew Feig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Hello !</a:t>
            </a:r>
          </a:p>
        </p:txBody>
      </p:sp>
      <p:grpSp>
        <p:nvGrpSpPr>
          <p:cNvPr name="Group 6" id="6"/>
          <p:cNvGrpSpPr/>
          <p:nvPr/>
        </p:nvGrpSpPr>
        <p:grpSpPr>
          <a:xfrm rot="0">
            <a:off x="1028700" y="3401448"/>
            <a:ext cx="16230600" cy="5856852"/>
            <a:chOff x="0" y="0"/>
            <a:chExt cx="4274726" cy="1542545"/>
          </a:xfrm>
        </p:grpSpPr>
        <p:sp>
          <p:nvSpPr>
            <p:cNvPr name="Freeform 7" id="7"/>
            <p:cNvSpPr/>
            <p:nvPr/>
          </p:nvSpPr>
          <p:spPr>
            <a:xfrm flipH="false" flipV="false" rot="0">
              <a:off x="0" y="0"/>
              <a:ext cx="4274726" cy="1542545"/>
            </a:xfrm>
            <a:custGeom>
              <a:avLst/>
              <a:gdLst/>
              <a:ahLst/>
              <a:cxnLst/>
              <a:rect r="r" b="b" t="t" l="l"/>
              <a:pathLst>
                <a:path h="1542545" w="4274726">
                  <a:moveTo>
                    <a:pt x="47700" y="0"/>
                  </a:moveTo>
                  <a:lnTo>
                    <a:pt x="4227026" y="0"/>
                  </a:lnTo>
                  <a:cubicBezTo>
                    <a:pt x="4239677" y="0"/>
                    <a:pt x="4251809" y="5025"/>
                    <a:pt x="4260755" y="13971"/>
                  </a:cubicBezTo>
                  <a:cubicBezTo>
                    <a:pt x="4269700" y="22916"/>
                    <a:pt x="4274726" y="35049"/>
                    <a:pt x="4274726" y="47700"/>
                  </a:cubicBezTo>
                  <a:lnTo>
                    <a:pt x="4274726" y="1494846"/>
                  </a:lnTo>
                  <a:cubicBezTo>
                    <a:pt x="4274726" y="1507496"/>
                    <a:pt x="4269700" y="1519629"/>
                    <a:pt x="4260755" y="1528574"/>
                  </a:cubicBezTo>
                  <a:cubicBezTo>
                    <a:pt x="4251809" y="1537520"/>
                    <a:pt x="4239677" y="1542545"/>
                    <a:pt x="4227026" y="1542545"/>
                  </a:cubicBezTo>
                  <a:lnTo>
                    <a:pt x="47700" y="1542545"/>
                  </a:lnTo>
                  <a:cubicBezTo>
                    <a:pt x="35049" y="1542545"/>
                    <a:pt x="22916" y="1537520"/>
                    <a:pt x="13971" y="1528574"/>
                  </a:cubicBezTo>
                  <a:cubicBezTo>
                    <a:pt x="5025" y="1519629"/>
                    <a:pt x="0" y="1507496"/>
                    <a:pt x="0" y="1494846"/>
                  </a:cubicBezTo>
                  <a:lnTo>
                    <a:pt x="0" y="47700"/>
                  </a:lnTo>
                  <a:cubicBezTo>
                    <a:pt x="0" y="35049"/>
                    <a:pt x="5025" y="22916"/>
                    <a:pt x="13971" y="13971"/>
                  </a:cubicBezTo>
                  <a:cubicBezTo>
                    <a:pt x="22916" y="5025"/>
                    <a:pt x="35049" y="0"/>
                    <a:pt x="4770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1542545"/>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9" id="9"/>
          <p:cNvSpPr txBox="true"/>
          <p:nvPr/>
        </p:nvSpPr>
        <p:spPr>
          <a:xfrm rot="0">
            <a:off x="1774048" y="4295725"/>
            <a:ext cx="8843436" cy="18207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0" id="10"/>
          <p:cNvSpPr txBox="true"/>
          <p:nvPr/>
        </p:nvSpPr>
        <p:spPr>
          <a:xfrm rot="0">
            <a:off x="5804756" y="1318450"/>
            <a:ext cx="11454544" cy="906399"/>
          </a:xfrm>
          <a:prstGeom prst="rect">
            <a:avLst/>
          </a:prstGeom>
        </p:spPr>
        <p:txBody>
          <a:bodyPr anchor="t" rtlCol="false" tIns="0" lIns="0" bIns="0" rIns="0">
            <a:spAutoFit/>
          </a:bodyPr>
          <a:lstStyle/>
          <a:p>
            <a:pPr algn="l">
              <a:lnSpc>
                <a:spcPts val="2448"/>
              </a:lnSpc>
            </a:pPr>
            <a:r>
              <a:rPr lang="en-US" sz="1800" i="true" spc="-44">
                <a:solidFill>
                  <a:srgbClr val="FFFFFF"/>
                </a:solidFill>
                <a:latin typeface="HK Grotesk Italics"/>
                <a:ea typeface="HK Grotesk Italics"/>
                <a:cs typeface="HK Grotesk Italics"/>
                <a:sym typeface="HK Grotesk Italics"/>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sp>
        <p:nvSpPr>
          <p:cNvPr name="TextBox 11" id="11"/>
          <p:cNvSpPr txBox="true"/>
          <p:nvPr/>
        </p:nvSpPr>
        <p:spPr>
          <a:xfrm rot="0">
            <a:off x="1774048" y="6514650"/>
            <a:ext cx="8843436" cy="18207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12" id="12"/>
          <p:cNvGrpSpPr/>
          <p:nvPr/>
        </p:nvGrpSpPr>
        <p:grpSpPr>
          <a:xfrm rot="0">
            <a:off x="11492840" y="3971141"/>
            <a:ext cx="4992890" cy="4717467"/>
            <a:chOff x="0" y="0"/>
            <a:chExt cx="798830" cy="754764"/>
          </a:xfrm>
        </p:grpSpPr>
        <p:sp>
          <p:nvSpPr>
            <p:cNvPr name="Freeform 13" id="13"/>
            <p:cNvSpPr/>
            <p:nvPr/>
          </p:nvSpPr>
          <p:spPr>
            <a:xfrm flipH="false" flipV="false" rot="0">
              <a:off x="0" y="0"/>
              <a:ext cx="798830" cy="754764"/>
            </a:xfrm>
            <a:custGeom>
              <a:avLst/>
              <a:gdLst/>
              <a:ahLst/>
              <a:cxnLst/>
              <a:rect r="r" b="b" t="t" l="l"/>
              <a:pathLst>
                <a:path h="754764" w="798830">
                  <a:moveTo>
                    <a:pt x="122497" y="0"/>
                  </a:moveTo>
                  <a:lnTo>
                    <a:pt x="676334" y="0"/>
                  </a:lnTo>
                  <a:cubicBezTo>
                    <a:pt x="708822" y="0"/>
                    <a:pt x="739979" y="12906"/>
                    <a:pt x="762952" y="35878"/>
                  </a:cubicBezTo>
                  <a:cubicBezTo>
                    <a:pt x="785924" y="58851"/>
                    <a:pt x="798830" y="90008"/>
                    <a:pt x="798830" y="122497"/>
                  </a:cubicBezTo>
                  <a:lnTo>
                    <a:pt x="798830" y="632268"/>
                  </a:lnTo>
                  <a:cubicBezTo>
                    <a:pt x="798830" y="699921"/>
                    <a:pt x="743987" y="754764"/>
                    <a:pt x="676334" y="754764"/>
                  </a:cubicBezTo>
                  <a:lnTo>
                    <a:pt x="122497" y="754764"/>
                  </a:lnTo>
                  <a:cubicBezTo>
                    <a:pt x="54844" y="754764"/>
                    <a:pt x="0" y="699921"/>
                    <a:pt x="0" y="632268"/>
                  </a:cubicBezTo>
                  <a:lnTo>
                    <a:pt x="0" y="122497"/>
                  </a:lnTo>
                  <a:cubicBezTo>
                    <a:pt x="0" y="54844"/>
                    <a:pt x="54844" y="0"/>
                    <a:pt x="122497" y="0"/>
                  </a:cubicBezTo>
                  <a:close/>
                </a:path>
              </a:pathLst>
            </a:custGeom>
            <a:blipFill>
              <a:blip r:embed="rId2"/>
              <a:stretch>
                <a:fillRect l="-20862" t="0" r="-20862"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28681" y="873766"/>
            <a:ext cx="838118" cy="83811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5" id="5"/>
          <p:cNvGrpSpPr/>
          <p:nvPr/>
        </p:nvGrpSpPr>
        <p:grpSpPr>
          <a:xfrm rot="0">
            <a:off x="9417046" y="4405324"/>
            <a:ext cx="838118" cy="83811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8" id="8"/>
          <p:cNvGrpSpPr/>
          <p:nvPr/>
        </p:nvGrpSpPr>
        <p:grpSpPr>
          <a:xfrm rot="0">
            <a:off x="828681" y="2123387"/>
            <a:ext cx="838118" cy="83811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0" id="1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11" id="11"/>
          <p:cNvGrpSpPr/>
          <p:nvPr/>
        </p:nvGrpSpPr>
        <p:grpSpPr>
          <a:xfrm rot="0">
            <a:off x="9417046" y="5654944"/>
            <a:ext cx="838118" cy="8381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3" id="13"/>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14" id="14"/>
          <p:cNvGrpSpPr/>
          <p:nvPr/>
        </p:nvGrpSpPr>
        <p:grpSpPr>
          <a:xfrm rot="0">
            <a:off x="1028700" y="1028700"/>
            <a:ext cx="7597481" cy="983513"/>
            <a:chOff x="0" y="0"/>
            <a:chExt cx="2000983" cy="259032"/>
          </a:xfrm>
        </p:grpSpPr>
        <p:sp>
          <p:nvSpPr>
            <p:cNvPr name="Freeform 15" id="15"/>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6" id="16"/>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7" id="17"/>
          <p:cNvGrpSpPr/>
          <p:nvPr/>
        </p:nvGrpSpPr>
        <p:grpSpPr>
          <a:xfrm rot="0">
            <a:off x="9661819" y="4525926"/>
            <a:ext cx="7597481" cy="983513"/>
            <a:chOff x="0" y="0"/>
            <a:chExt cx="2000983" cy="259032"/>
          </a:xfrm>
        </p:grpSpPr>
        <p:sp>
          <p:nvSpPr>
            <p:cNvPr name="Freeform 18" id="18"/>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9" id="19"/>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0" id="20"/>
          <p:cNvGrpSpPr/>
          <p:nvPr/>
        </p:nvGrpSpPr>
        <p:grpSpPr>
          <a:xfrm rot="0">
            <a:off x="1028700" y="2278320"/>
            <a:ext cx="7597481" cy="983513"/>
            <a:chOff x="0" y="0"/>
            <a:chExt cx="2000983" cy="259032"/>
          </a:xfrm>
        </p:grpSpPr>
        <p:sp>
          <p:nvSpPr>
            <p:cNvPr name="Freeform 21" id="21"/>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22" id="22"/>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3" id="23"/>
          <p:cNvGrpSpPr/>
          <p:nvPr/>
        </p:nvGrpSpPr>
        <p:grpSpPr>
          <a:xfrm rot="0">
            <a:off x="9661819" y="5775546"/>
            <a:ext cx="7597481" cy="983513"/>
            <a:chOff x="0" y="0"/>
            <a:chExt cx="2000983" cy="259032"/>
          </a:xfrm>
        </p:grpSpPr>
        <p:sp>
          <p:nvSpPr>
            <p:cNvPr name="Freeform 24" id="24"/>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25" id="25"/>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6" id="26"/>
          <p:cNvGrpSpPr/>
          <p:nvPr/>
        </p:nvGrpSpPr>
        <p:grpSpPr>
          <a:xfrm rot="0">
            <a:off x="828681" y="3373007"/>
            <a:ext cx="838118" cy="83811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28" id="28"/>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29" id="29"/>
          <p:cNvGrpSpPr/>
          <p:nvPr/>
        </p:nvGrpSpPr>
        <p:grpSpPr>
          <a:xfrm rot="0">
            <a:off x="9417046" y="6904564"/>
            <a:ext cx="838118" cy="83811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31" id="31"/>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32" id="32"/>
          <p:cNvGrpSpPr/>
          <p:nvPr/>
        </p:nvGrpSpPr>
        <p:grpSpPr>
          <a:xfrm rot="0">
            <a:off x="1028700" y="3527941"/>
            <a:ext cx="7597481" cy="983513"/>
            <a:chOff x="0" y="0"/>
            <a:chExt cx="2000983" cy="259032"/>
          </a:xfrm>
        </p:grpSpPr>
        <p:sp>
          <p:nvSpPr>
            <p:cNvPr name="Freeform 33" id="33"/>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4" id="34"/>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35" id="35"/>
          <p:cNvGrpSpPr/>
          <p:nvPr/>
        </p:nvGrpSpPr>
        <p:grpSpPr>
          <a:xfrm rot="0">
            <a:off x="9661819" y="7025167"/>
            <a:ext cx="7597481" cy="983513"/>
            <a:chOff x="0" y="0"/>
            <a:chExt cx="2000983" cy="259032"/>
          </a:xfrm>
        </p:grpSpPr>
        <p:sp>
          <p:nvSpPr>
            <p:cNvPr name="Freeform 36" id="36"/>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7" id="37"/>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38" id="38"/>
          <p:cNvGrpSpPr/>
          <p:nvPr/>
        </p:nvGrpSpPr>
        <p:grpSpPr>
          <a:xfrm rot="0">
            <a:off x="828681" y="4622627"/>
            <a:ext cx="838118" cy="838118"/>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0" id="4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41" id="41"/>
          <p:cNvGrpSpPr/>
          <p:nvPr/>
        </p:nvGrpSpPr>
        <p:grpSpPr>
          <a:xfrm rot="0">
            <a:off x="9417046" y="8154184"/>
            <a:ext cx="838118" cy="838118"/>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3" id="43"/>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44" id="44"/>
          <p:cNvGrpSpPr/>
          <p:nvPr/>
        </p:nvGrpSpPr>
        <p:grpSpPr>
          <a:xfrm rot="0">
            <a:off x="1028700" y="4777561"/>
            <a:ext cx="7597481" cy="983513"/>
            <a:chOff x="0" y="0"/>
            <a:chExt cx="2000983" cy="259032"/>
          </a:xfrm>
        </p:grpSpPr>
        <p:sp>
          <p:nvSpPr>
            <p:cNvPr name="Freeform 45" id="45"/>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46" id="46"/>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47" id="47"/>
          <p:cNvGrpSpPr/>
          <p:nvPr/>
        </p:nvGrpSpPr>
        <p:grpSpPr>
          <a:xfrm rot="0">
            <a:off x="9661819" y="8274787"/>
            <a:ext cx="7597481" cy="983513"/>
            <a:chOff x="0" y="0"/>
            <a:chExt cx="2000983" cy="259032"/>
          </a:xfrm>
        </p:grpSpPr>
        <p:sp>
          <p:nvSpPr>
            <p:cNvPr name="Freeform 48" id="48"/>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49" id="49"/>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50" id="50"/>
          <p:cNvGrpSpPr/>
          <p:nvPr/>
        </p:nvGrpSpPr>
        <p:grpSpPr>
          <a:xfrm rot="0">
            <a:off x="279200" y="6561282"/>
            <a:ext cx="2155619" cy="2155619"/>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52" id="52"/>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3" id="53"/>
          <p:cNvSpPr txBox="true"/>
          <p:nvPr/>
        </p:nvSpPr>
        <p:spPr>
          <a:xfrm rot="0">
            <a:off x="1028700" y="7095869"/>
            <a:ext cx="7597481" cy="2362199"/>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Agenda Overview</a:t>
            </a:r>
          </a:p>
        </p:txBody>
      </p:sp>
      <p:sp>
        <p:nvSpPr>
          <p:cNvPr name="TextBox 54" id="54"/>
          <p:cNvSpPr txBox="true"/>
          <p:nvPr/>
        </p:nvSpPr>
        <p:spPr>
          <a:xfrm rot="0">
            <a:off x="1622044" y="1274103"/>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01</a:t>
            </a:r>
          </a:p>
        </p:txBody>
      </p:sp>
      <p:sp>
        <p:nvSpPr>
          <p:cNvPr name="TextBox 55" id="55"/>
          <p:cNvSpPr txBox="true"/>
          <p:nvPr/>
        </p:nvSpPr>
        <p:spPr>
          <a:xfrm rot="0">
            <a:off x="10255164" y="477132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05</a:t>
            </a:r>
          </a:p>
        </p:txBody>
      </p:sp>
      <p:sp>
        <p:nvSpPr>
          <p:cNvPr name="TextBox 56" id="56"/>
          <p:cNvSpPr txBox="true"/>
          <p:nvPr/>
        </p:nvSpPr>
        <p:spPr>
          <a:xfrm rot="0">
            <a:off x="1622044" y="2523723"/>
            <a:ext cx="1110568" cy="540333"/>
          </a:xfrm>
          <a:prstGeom prst="rect">
            <a:avLst/>
          </a:prstGeom>
        </p:spPr>
        <p:txBody>
          <a:bodyPr anchor="t" rtlCol="false" tIns="0" lIns="0" bIns="0" rIns="0">
            <a:spAutoFit/>
          </a:bodyPr>
          <a:lstStyle/>
          <a:p>
            <a:pPr algn="ctr">
              <a:lnSpc>
                <a:spcPts val="4057"/>
              </a:lnSpc>
            </a:pPr>
            <a:r>
              <a:rPr lang="en-US" b="true" sz="3863" spc="-204">
                <a:solidFill>
                  <a:srgbClr val="000000"/>
                </a:solidFill>
                <a:latin typeface="HK Grotesk Bold"/>
                <a:ea typeface="HK Grotesk Bold"/>
                <a:cs typeface="HK Grotesk Bold"/>
                <a:sym typeface="HK Grotesk Bold"/>
              </a:rPr>
              <a:t>02</a:t>
            </a:r>
          </a:p>
        </p:txBody>
      </p:sp>
      <p:sp>
        <p:nvSpPr>
          <p:cNvPr name="TextBox 57" id="57"/>
          <p:cNvSpPr txBox="true"/>
          <p:nvPr/>
        </p:nvSpPr>
        <p:spPr>
          <a:xfrm rot="0">
            <a:off x="10255164" y="602094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06</a:t>
            </a:r>
          </a:p>
        </p:txBody>
      </p:sp>
      <p:sp>
        <p:nvSpPr>
          <p:cNvPr name="TextBox 58" id="58"/>
          <p:cNvSpPr txBox="true"/>
          <p:nvPr/>
        </p:nvSpPr>
        <p:spPr>
          <a:xfrm rot="0">
            <a:off x="2926561" y="1273775"/>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Background of the study</a:t>
            </a:r>
          </a:p>
        </p:txBody>
      </p:sp>
      <p:sp>
        <p:nvSpPr>
          <p:cNvPr name="TextBox 59" id="59"/>
          <p:cNvSpPr txBox="true"/>
          <p:nvPr/>
        </p:nvSpPr>
        <p:spPr>
          <a:xfrm rot="0">
            <a:off x="11559681" y="4771001"/>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Q</a:t>
            </a:r>
            <a:r>
              <a:rPr lang="en-US" sz="3000" spc="-3">
                <a:solidFill>
                  <a:srgbClr val="FFFFFF"/>
                </a:solidFill>
                <a:latin typeface="HK Grotesk"/>
                <a:ea typeface="HK Grotesk"/>
                <a:cs typeface="HK Grotesk"/>
                <a:sym typeface="HK Grotesk"/>
              </a:rPr>
              <a:t>ualitative</a:t>
            </a:r>
          </a:p>
        </p:txBody>
      </p:sp>
      <p:sp>
        <p:nvSpPr>
          <p:cNvPr name="TextBox 60" id="60"/>
          <p:cNvSpPr txBox="true"/>
          <p:nvPr/>
        </p:nvSpPr>
        <p:spPr>
          <a:xfrm rot="0">
            <a:off x="2926561" y="2523396"/>
            <a:ext cx="4742252" cy="472440"/>
          </a:xfrm>
          <a:prstGeom prst="rect">
            <a:avLst/>
          </a:prstGeom>
        </p:spPr>
        <p:txBody>
          <a:bodyPr anchor="t" rtlCol="false" tIns="0" lIns="0" bIns="0" rIns="0">
            <a:spAutoFit/>
          </a:bodyPr>
          <a:lstStyle/>
          <a:p>
            <a:pPr algn="l">
              <a:lnSpc>
                <a:spcPts val="3779"/>
              </a:lnSpc>
            </a:pPr>
            <a:r>
              <a:rPr lang="en-US" sz="3000" spc="-3">
                <a:solidFill>
                  <a:srgbClr val="000000"/>
                </a:solidFill>
                <a:latin typeface="HK Grotesk"/>
                <a:ea typeface="HK Grotesk"/>
                <a:cs typeface="HK Grotesk"/>
                <a:sym typeface="HK Grotesk"/>
              </a:rPr>
              <a:t>Problem Statement</a:t>
            </a:r>
          </a:p>
        </p:txBody>
      </p:sp>
      <p:sp>
        <p:nvSpPr>
          <p:cNvPr name="TextBox 61" id="61"/>
          <p:cNvSpPr txBox="true"/>
          <p:nvPr/>
        </p:nvSpPr>
        <p:spPr>
          <a:xfrm rot="0">
            <a:off x="11559681" y="6020622"/>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Q</a:t>
            </a:r>
            <a:r>
              <a:rPr lang="en-US" sz="3000" spc="-3">
                <a:solidFill>
                  <a:srgbClr val="FFFFFF"/>
                </a:solidFill>
                <a:latin typeface="HK Grotesk"/>
                <a:ea typeface="HK Grotesk"/>
                <a:cs typeface="HK Grotesk"/>
                <a:sym typeface="HK Grotesk"/>
              </a:rPr>
              <a:t>uantitative</a:t>
            </a:r>
          </a:p>
        </p:txBody>
      </p:sp>
      <p:sp>
        <p:nvSpPr>
          <p:cNvPr name="TextBox 62" id="62"/>
          <p:cNvSpPr txBox="true"/>
          <p:nvPr/>
        </p:nvSpPr>
        <p:spPr>
          <a:xfrm rot="0">
            <a:off x="1622044" y="3773343"/>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03</a:t>
            </a:r>
          </a:p>
        </p:txBody>
      </p:sp>
      <p:sp>
        <p:nvSpPr>
          <p:cNvPr name="TextBox 63" id="63"/>
          <p:cNvSpPr txBox="true"/>
          <p:nvPr/>
        </p:nvSpPr>
        <p:spPr>
          <a:xfrm rot="0">
            <a:off x="10255164" y="727056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07</a:t>
            </a:r>
          </a:p>
        </p:txBody>
      </p:sp>
      <p:sp>
        <p:nvSpPr>
          <p:cNvPr name="TextBox 64" id="64"/>
          <p:cNvSpPr txBox="true"/>
          <p:nvPr/>
        </p:nvSpPr>
        <p:spPr>
          <a:xfrm rot="0">
            <a:off x="2926561" y="3773016"/>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F</a:t>
            </a:r>
            <a:r>
              <a:rPr lang="en-US" sz="3000" spc="-3">
                <a:solidFill>
                  <a:srgbClr val="FFFFFF"/>
                </a:solidFill>
                <a:latin typeface="HK Grotesk"/>
                <a:ea typeface="HK Grotesk"/>
                <a:cs typeface="HK Grotesk"/>
                <a:sym typeface="HK Grotesk"/>
              </a:rPr>
              <a:t>ramework</a:t>
            </a:r>
          </a:p>
        </p:txBody>
      </p:sp>
      <p:sp>
        <p:nvSpPr>
          <p:cNvPr name="TextBox 65" id="65"/>
          <p:cNvSpPr txBox="true"/>
          <p:nvPr/>
        </p:nvSpPr>
        <p:spPr>
          <a:xfrm rot="0">
            <a:off x="11559681" y="7270242"/>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P</a:t>
            </a:r>
            <a:r>
              <a:rPr lang="en-US" sz="3000" spc="-3">
                <a:solidFill>
                  <a:srgbClr val="FFFFFF"/>
                </a:solidFill>
                <a:latin typeface="HK Grotesk"/>
                <a:ea typeface="HK Grotesk"/>
                <a:cs typeface="HK Grotesk"/>
                <a:sym typeface="HK Grotesk"/>
              </a:rPr>
              <a:t>roposed Timeline</a:t>
            </a:r>
          </a:p>
        </p:txBody>
      </p:sp>
      <p:sp>
        <p:nvSpPr>
          <p:cNvPr name="TextBox 66" id="66"/>
          <p:cNvSpPr txBox="true"/>
          <p:nvPr/>
        </p:nvSpPr>
        <p:spPr>
          <a:xfrm rot="0">
            <a:off x="1622044" y="5022964"/>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04</a:t>
            </a:r>
          </a:p>
        </p:txBody>
      </p:sp>
      <p:sp>
        <p:nvSpPr>
          <p:cNvPr name="TextBox 67" id="67"/>
          <p:cNvSpPr txBox="true"/>
          <p:nvPr/>
        </p:nvSpPr>
        <p:spPr>
          <a:xfrm rot="0">
            <a:off x="10255164" y="8520189"/>
            <a:ext cx="1110568" cy="540333"/>
          </a:xfrm>
          <a:prstGeom prst="rect">
            <a:avLst/>
          </a:prstGeom>
        </p:spPr>
        <p:txBody>
          <a:bodyPr anchor="t" rtlCol="false" tIns="0" lIns="0" bIns="0" rIns="0">
            <a:spAutoFit/>
          </a:bodyPr>
          <a:lstStyle/>
          <a:p>
            <a:pPr algn="ctr">
              <a:lnSpc>
                <a:spcPts val="4057"/>
              </a:lnSpc>
            </a:pPr>
            <a:r>
              <a:rPr lang="en-US" b="true" sz="3863" spc="-204">
                <a:solidFill>
                  <a:srgbClr val="000000"/>
                </a:solidFill>
                <a:latin typeface="HK Grotesk Bold"/>
                <a:ea typeface="HK Grotesk Bold"/>
                <a:cs typeface="HK Grotesk Bold"/>
                <a:sym typeface="HK Grotesk Bold"/>
              </a:rPr>
              <a:t>08</a:t>
            </a:r>
          </a:p>
        </p:txBody>
      </p:sp>
      <p:sp>
        <p:nvSpPr>
          <p:cNvPr name="TextBox 68" id="68"/>
          <p:cNvSpPr txBox="true"/>
          <p:nvPr/>
        </p:nvSpPr>
        <p:spPr>
          <a:xfrm rot="0">
            <a:off x="2926561" y="5022636"/>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Me</a:t>
            </a:r>
            <a:r>
              <a:rPr lang="en-US" sz="3000" spc="-3">
                <a:solidFill>
                  <a:srgbClr val="FFFFFF"/>
                </a:solidFill>
                <a:latin typeface="HK Grotesk"/>
                <a:ea typeface="HK Grotesk"/>
                <a:cs typeface="HK Grotesk"/>
                <a:sym typeface="HK Grotesk"/>
              </a:rPr>
              <a:t>thodology</a:t>
            </a:r>
          </a:p>
        </p:txBody>
      </p:sp>
      <p:sp>
        <p:nvSpPr>
          <p:cNvPr name="TextBox 69" id="69"/>
          <p:cNvSpPr txBox="true"/>
          <p:nvPr/>
        </p:nvSpPr>
        <p:spPr>
          <a:xfrm rot="0">
            <a:off x="11559681" y="8519862"/>
            <a:ext cx="4742252" cy="472440"/>
          </a:xfrm>
          <a:prstGeom prst="rect">
            <a:avLst/>
          </a:prstGeom>
        </p:spPr>
        <p:txBody>
          <a:bodyPr anchor="t" rtlCol="false" tIns="0" lIns="0" bIns="0" rIns="0">
            <a:spAutoFit/>
          </a:bodyPr>
          <a:lstStyle/>
          <a:p>
            <a:pPr algn="l">
              <a:lnSpc>
                <a:spcPts val="3779"/>
              </a:lnSpc>
            </a:pPr>
            <a:r>
              <a:rPr lang="en-US" sz="3000" spc="-3">
                <a:solidFill>
                  <a:srgbClr val="000000"/>
                </a:solidFill>
                <a:latin typeface="HK Grotesk"/>
                <a:ea typeface="HK Grotesk"/>
                <a:cs typeface="HK Grotesk"/>
                <a:sym typeface="HK Grotesk"/>
              </a:rPr>
              <a:t>Analysis</a:t>
            </a:r>
          </a:p>
        </p:txBody>
      </p:sp>
      <p:grpSp>
        <p:nvGrpSpPr>
          <p:cNvPr name="Group 70" id="70"/>
          <p:cNvGrpSpPr/>
          <p:nvPr/>
        </p:nvGrpSpPr>
        <p:grpSpPr>
          <a:xfrm rot="0">
            <a:off x="9661819" y="1028700"/>
            <a:ext cx="7597481" cy="2697018"/>
            <a:chOff x="0" y="0"/>
            <a:chExt cx="1215548" cy="431506"/>
          </a:xfrm>
        </p:grpSpPr>
        <p:sp>
          <p:nvSpPr>
            <p:cNvPr name="Freeform 71" id="71"/>
            <p:cNvSpPr/>
            <p:nvPr/>
          </p:nvSpPr>
          <p:spPr>
            <a:xfrm flipH="false" flipV="false" rot="0">
              <a:off x="0" y="0"/>
              <a:ext cx="1215548" cy="431505"/>
            </a:xfrm>
            <a:custGeom>
              <a:avLst/>
              <a:gdLst/>
              <a:ahLst/>
              <a:cxnLst/>
              <a:rect r="r" b="b" t="t" l="l"/>
              <a:pathLst>
                <a:path h="431505" w="1215548">
                  <a:moveTo>
                    <a:pt x="80502" y="0"/>
                  </a:moveTo>
                  <a:lnTo>
                    <a:pt x="1135046" y="0"/>
                  </a:lnTo>
                  <a:cubicBezTo>
                    <a:pt x="1156396" y="0"/>
                    <a:pt x="1176872" y="8481"/>
                    <a:pt x="1191969" y="23578"/>
                  </a:cubicBezTo>
                  <a:cubicBezTo>
                    <a:pt x="1207066" y="38676"/>
                    <a:pt x="1215548" y="59151"/>
                    <a:pt x="1215548" y="80502"/>
                  </a:cubicBezTo>
                  <a:lnTo>
                    <a:pt x="1215548" y="351004"/>
                  </a:lnTo>
                  <a:cubicBezTo>
                    <a:pt x="1215548" y="372354"/>
                    <a:pt x="1207066" y="392830"/>
                    <a:pt x="1191969" y="407927"/>
                  </a:cubicBezTo>
                  <a:cubicBezTo>
                    <a:pt x="1176872" y="423024"/>
                    <a:pt x="1156396" y="431505"/>
                    <a:pt x="1135046" y="431505"/>
                  </a:cubicBezTo>
                  <a:lnTo>
                    <a:pt x="80502" y="431505"/>
                  </a:lnTo>
                  <a:cubicBezTo>
                    <a:pt x="59151" y="431505"/>
                    <a:pt x="38676" y="423024"/>
                    <a:pt x="23578" y="407927"/>
                  </a:cubicBezTo>
                  <a:cubicBezTo>
                    <a:pt x="8481" y="392830"/>
                    <a:pt x="0" y="372354"/>
                    <a:pt x="0" y="351004"/>
                  </a:cubicBezTo>
                  <a:lnTo>
                    <a:pt x="0" y="80502"/>
                  </a:lnTo>
                  <a:cubicBezTo>
                    <a:pt x="0" y="59151"/>
                    <a:pt x="8481" y="38676"/>
                    <a:pt x="23578" y="23578"/>
                  </a:cubicBezTo>
                  <a:cubicBezTo>
                    <a:pt x="38676" y="8481"/>
                    <a:pt x="59151" y="0"/>
                    <a:pt x="80502" y="0"/>
                  </a:cubicBezTo>
                  <a:close/>
                </a:path>
              </a:pathLst>
            </a:custGeom>
            <a:blipFill>
              <a:blip r:embed="rId2"/>
              <a:stretch>
                <a:fillRect l="0" t="-43985" r="0" b="-43985"/>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4738568"/>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5394388"/>
            <a:ext cx="10464140"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Background of</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the Study</a:t>
            </a:r>
          </a:p>
        </p:txBody>
      </p:sp>
      <p:grpSp>
        <p:nvGrpSpPr>
          <p:cNvPr name="Group 6" id="6"/>
          <p:cNvGrpSpPr/>
          <p:nvPr/>
        </p:nvGrpSpPr>
        <p:grpSpPr>
          <a:xfrm rot="0">
            <a:off x="-715817" y="-265773"/>
            <a:ext cx="20110719" cy="4750522"/>
            <a:chOff x="0" y="0"/>
            <a:chExt cx="3217585" cy="760053"/>
          </a:xfrm>
        </p:grpSpPr>
        <p:sp>
          <p:nvSpPr>
            <p:cNvPr name="Freeform 7" id="7"/>
            <p:cNvSpPr/>
            <p:nvPr/>
          </p:nvSpPr>
          <p:spPr>
            <a:xfrm flipH="false" flipV="false" rot="0">
              <a:off x="0" y="0"/>
              <a:ext cx="3217585" cy="760053"/>
            </a:xfrm>
            <a:custGeom>
              <a:avLst/>
              <a:gdLst/>
              <a:ahLst/>
              <a:cxnLst/>
              <a:rect r="r" b="b" t="t" l="l"/>
              <a:pathLst>
                <a:path h="760053" w="3217585">
                  <a:moveTo>
                    <a:pt x="30412" y="0"/>
                  </a:moveTo>
                  <a:lnTo>
                    <a:pt x="3187173" y="0"/>
                  </a:lnTo>
                  <a:cubicBezTo>
                    <a:pt x="3203969" y="0"/>
                    <a:pt x="3217585" y="13616"/>
                    <a:pt x="3217585" y="30412"/>
                  </a:cubicBezTo>
                  <a:lnTo>
                    <a:pt x="3217585" y="729641"/>
                  </a:lnTo>
                  <a:cubicBezTo>
                    <a:pt x="3217585" y="746437"/>
                    <a:pt x="3203969" y="760053"/>
                    <a:pt x="3187173" y="760053"/>
                  </a:cubicBezTo>
                  <a:lnTo>
                    <a:pt x="30412" y="760053"/>
                  </a:lnTo>
                  <a:cubicBezTo>
                    <a:pt x="22346" y="760053"/>
                    <a:pt x="14611" y="756849"/>
                    <a:pt x="8908" y="751145"/>
                  </a:cubicBezTo>
                  <a:cubicBezTo>
                    <a:pt x="3204" y="745442"/>
                    <a:pt x="0" y="737706"/>
                    <a:pt x="0" y="729641"/>
                  </a:cubicBezTo>
                  <a:lnTo>
                    <a:pt x="0" y="30412"/>
                  </a:lnTo>
                  <a:cubicBezTo>
                    <a:pt x="0" y="13616"/>
                    <a:pt x="13616" y="0"/>
                    <a:pt x="30412" y="0"/>
                  </a:cubicBezTo>
                  <a:close/>
                </a:path>
              </a:pathLst>
            </a:custGeom>
            <a:blipFill>
              <a:blip r:embed="rId2"/>
              <a:stretch>
                <a:fillRect l="0" t="-93721" r="0" b="-42817"/>
              </a:stretch>
            </a:blipFill>
          </p:spPr>
        </p:sp>
      </p:grpSp>
      <p:sp>
        <p:nvSpPr>
          <p:cNvPr name="TextBox 8" id="8"/>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677476"/>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33296"/>
            <a:ext cx="6961448"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Problem</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Sta</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tement</a:t>
            </a:r>
          </a:p>
        </p:txBody>
      </p:sp>
      <p:grpSp>
        <p:nvGrpSpPr>
          <p:cNvPr name="Group 6" id="6"/>
          <p:cNvGrpSpPr/>
          <p:nvPr/>
        </p:nvGrpSpPr>
        <p:grpSpPr>
          <a:xfrm rot="0">
            <a:off x="7760362" y="1028700"/>
            <a:ext cx="2513217" cy="8229600"/>
            <a:chOff x="0" y="0"/>
            <a:chExt cx="402098" cy="1316683"/>
          </a:xfrm>
        </p:grpSpPr>
        <p:sp>
          <p:nvSpPr>
            <p:cNvPr name="Freeform 7" id="7"/>
            <p:cNvSpPr/>
            <p:nvPr/>
          </p:nvSpPr>
          <p:spPr>
            <a:xfrm flipH="false" flipV="false" rot="-198844">
              <a:off x="-26442" y="764"/>
              <a:ext cx="454982" cy="1315154"/>
            </a:xfrm>
            <a:custGeom>
              <a:avLst/>
              <a:gdLst/>
              <a:ahLst/>
              <a:cxnLst/>
              <a:rect r="r" b="b" t="t" l="l"/>
              <a:pathLst>
                <a:path h="1315154" w="454982">
                  <a:moveTo>
                    <a:pt x="265549" y="337"/>
                  </a:moveTo>
                  <a:lnTo>
                    <a:pt x="265549" y="337"/>
                  </a:lnTo>
                  <a:cubicBezTo>
                    <a:pt x="376400" y="6756"/>
                    <a:pt x="461059" y="101822"/>
                    <a:pt x="454640" y="212672"/>
                  </a:cubicBezTo>
                  <a:lnTo>
                    <a:pt x="401769" y="1125727"/>
                  </a:lnTo>
                  <a:cubicBezTo>
                    <a:pt x="398686" y="1178960"/>
                    <a:pt x="374583" y="1228787"/>
                    <a:pt x="334763" y="1264249"/>
                  </a:cubicBezTo>
                  <a:cubicBezTo>
                    <a:pt x="294942" y="1299710"/>
                    <a:pt x="242665" y="1317900"/>
                    <a:pt x="189433" y="1314818"/>
                  </a:cubicBezTo>
                  <a:lnTo>
                    <a:pt x="189433" y="1314818"/>
                  </a:lnTo>
                  <a:cubicBezTo>
                    <a:pt x="78582" y="1308399"/>
                    <a:pt x="-6076" y="1213333"/>
                    <a:pt x="343" y="1102482"/>
                  </a:cubicBezTo>
                  <a:lnTo>
                    <a:pt x="53214" y="189427"/>
                  </a:lnTo>
                  <a:cubicBezTo>
                    <a:pt x="56296" y="136195"/>
                    <a:pt x="80399" y="86367"/>
                    <a:pt x="120220" y="50906"/>
                  </a:cubicBezTo>
                  <a:cubicBezTo>
                    <a:pt x="160040" y="15445"/>
                    <a:pt x="212317" y="-2745"/>
                    <a:pt x="265549" y="337"/>
                  </a:cubicBezTo>
                  <a:close/>
                </a:path>
              </a:pathLst>
            </a:custGeom>
            <a:blipFill>
              <a:blip r:embed="rId2"/>
              <a:stretch>
                <a:fillRect l="-77322" t="-1230" r="-58751" b="-858"/>
              </a:stretch>
            </a:blipFill>
          </p:spPr>
        </p:sp>
      </p:grpSp>
      <p:grpSp>
        <p:nvGrpSpPr>
          <p:cNvPr name="Group 8" id="8"/>
          <p:cNvGrpSpPr/>
          <p:nvPr/>
        </p:nvGrpSpPr>
        <p:grpSpPr>
          <a:xfrm rot="0">
            <a:off x="10648411" y="6703493"/>
            <a:ext cx="6610889" cy="2554807"/>
            <a:chOff x="0" y="0"/>
            <a:chExt cx="1741140" cy="672871"/>
          </a:xfrm>
        </p:grpSpPr>
        <p:sp>
          <p:nvSpPr>
            <p:cNvPr name="Freeform 9" id="9"/>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0" id="10"/>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1" id="11"/>
          <p:cNvGrpSpPr/>
          <p:nvPr/>
        </p:nvGrpSpPr>
        <p:grpSpPr>
          <a:xfrm rot="0">
            <a:off x="10648411" y="3866097"/>
            <a:ext cx="6610889" cy="2554807"/>
            <a:chOff x="0" y="0"/>
            <a:chExt cx="1741140" cy="672871"/>
          </a:xfrm>
        </p:grpSpPr>
        <p:sp>
          <p:nvSpPr>
            <p:cNvPr name="Freeform 12" id="12"/>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3" id="13"/>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4" id="14"/>
          <p:cNvGrpSpPr/>
          <p:nvPr/>
        </p:nvGrpSpPr>
        <p:grpSpPr>
          <a:xfrm rot="0">
            <a:off x="10648411" y="1028700"/>
            <a:ext cx="6610889" cy="2554807"/>
            <a:chOff x="0" y="0"/>
            <a:chExt cx="1741140" cy="672871"/>
          </a:xfrm>
        </p:grpSpPr>
        <p:sp>
          <p:nvSpPr>
            <p:cNvPr name="Freeform 15" id="15"/>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6" id="16"/>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17" id="17"/>
          <p:cNvSpPr txBox="true"/>
          <p:nvPr/>
        </p:nvSpPr>
        <p:spPr>
          <a:xfrm rot="0">
            <a:off x="11247337" y="2058759"/>
            <a:ext cx="5701977" cy="1100963"/>
          </a:xfrm>
          <a:prstGeom prst="rect">
            <a:avLst/>
          </a:prstGeom>
        </p:spPr>
        <p:txBody>
          <a:bodyPr anchor="t" rtlCol="false" tIns="0" lIns="0" bIns="0" rIns="0">
            <a:spAutoFit/>
          </a:bodyPr>
          <a:lstStyle/>
          <a:p>
            <a:pPr algn="l">
              <a:lnSpc>
                <a:spcPts val="2176"/>
              </a:lnSpc>
            </a:pPr>
            <a:r>
              <a:rPr lang="en-US" sz="1600" spc="-40">
                <a:solidFill>
                  <a:srgbClr val="000000"/>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8" id="18"/>
          <p:cNvSpPr txBox="true"/>
          <p:nvPr/>
        </p:nvSpPr>
        <p:spPr>
          <a:xfrm rot="0">
            <a:off x="11247337" y="4872394"/>
            <a:ext cx="5701977" cy="1100963"/>
          </a:xfrm>
          <a:prstGeom prst="rect">
            <a:avLst/>
          </a:prstGeom>
        </p:spPr>
        <p:txBody>
          <a:bodyPr anchor="t" rtlCol="false" tIns="0" lIns="0" bIns="0" rIns="0">
            <a:spAutoFit/>
          </a:bodyPr>
          <a:lstStyle/>
          <a:p>
            <a:pPr algn="l">
              <a:lnSpc>
                <a:spcPts val="2176"/>
              </a:lnSpc>
            </a:pPr>
            <a:r>
              <a:rPr lang="en-US" sz="1600" spc="-4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9" id="19"/>
          <p:cNvSpPr txBox="true"/>
          <p:nvPr/>
        </p:nvSpPr>
        <p:spPr>
          <a:xfrm rot="0">
            <a:off x="11247337" y="1433435"/>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Scope of the Study</a:t>
            </a:r>
          </a:p>
        </p:txBody>
      </p:sp>
      <p:sp>
        <p:nvSpPr>
          <p:cNvPr name="TextBox 20" id="20"/>
          <p:cNvSpPr txBox="true"/>
          <p:nvPr/>
        </p:nvSpPr>
        <p:spPr>
          <a:xfrm rot="0">
            <a:off x="11247337" y="4247070"/>
            <a:ext cx="4204449" cy="408813"/>
          </a:xfrm>
          <a:prstGeom prst="rect">
            <a:avLst/>
          </a:prstGeom>
        </p:spPr>
        <p:txBody>
          <a:bodyPr anchor="t" rtlCol="false" tIns="0" lIns="0" bIns="0" rIns="0">
            <a:spAutoFit/>
          </a:bodyPr>
          <a:lstStyle/>
          <a:p>
            <a:pPr algn="l">
              <a:lnSpc>
                <a:spcPts val="3276"/>
              </a:lnSpc>
            </a:pPr>
            <a:r>
              <a:rPr lang="en-US" sz="2600" spc="-57" b="true">
                <a:solidFill>
                  <a:srgbClr val="FFFFFF"/>
                </a:solidFill>
                <a:latin typeface="HK Grotesk Bold"/>
                <a:ea typeface="HK Grotesk Bold"/>
                <a:cs typeface="HK Grotesk Bold"/>
                <a:sym typeface="HK Grotesk Bold"/>
              </a:rPr>
              <a:t>Relevan</a:t>
            </a:r>
            <a:r>
              <a:rPr lang="en-US" b="true" sz="2600" spc="-57">
                <a:solidFill>
                  <a:srgbClr val="FFFFFF"/>
                </a:solidFill>
                <a:latin typeface="HK Grotesk Bold"/>
                <a:ea typeface="HK Grotesk Bold"/>
                <a:cs typeface="HK Grotesk Bold"/>
                <a:sym typeface="HK Grotesk Bold"/>
              </a:rPr>
              <a:t>ce of the Study</a:t>
            </a:r>
          </a:p>
        </p:txBody>
      </p:sp>
      <p:sp>
        <p:nvSpPr>
          <p:cNvPr name="TextBox 21" id="21"/>
          <p:cNvSpPr txBox="true"/>
          <p:nvPr/>
        </p:nvSpPr>
        <p:spPr>
          <a:xfrm rot="0">
            <a:off x="11247337" y="7686029"/>
            <a:ext cx="5701977" cy="1100963"/>
          </a:xfrm>
          <a:prstGeom prst="rect">
            <a:avLst/>
          </a:prstGeom>
        </p:spPr>
        <p:txBody>
          <a:bodyPr anchor="t" rtlCol="false" tIns="0" lIns="0" bIns="0" rIns="0">
            <a:spAutoFit/>
          </a:bodyPr>
          <a:lstStyle/>
          <a:p>
            <a:pPr algn="l">
              <a:lnSpc>
                <a:spcPts val="2176"/>
              </a:lnSpc>
            </a:pPr>
            <a:r>
              <a:rPr lang="en-US" sz="1600" spc="-40">
                <a:solidFill>
                  <a:srgbClr val="000000"/>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22" id="22"/>
          <p:cNvSpPr txBox="true"/>
          <p:nvPr/>
        </p:nvSpPr>
        <p:spPr>
          <a:xfrm rot="0">
            <a:off x="11247337" y="7060705"/>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Research Question</a:t>
            </a:r>
          </a:p>
        </p:txBody>
      </p:sp>
      <p:sp>
        <p:nvSpPr>
          <p:cNvPr name="TextBox 23" id="23"/>
          <p:cNvSpPr txBox="true"/>
          <p:nvPr/>
        </p:nvSpPr>
        <p:spPr>
          <a:xfrm rot="0">
            <a:off x="1028700" y="6514650"/>
            <a:ext cx="5835752" cy="27351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490200" y="4738134"/>
            <a:ext cx="2980179" cy="3765343"/>
            <a:chOff x="0" y="0"/>
            <a:chExt cx="461708" cy="583350"/>
          </a:xfrm>
        </p:grpSpPr>
        <p:sp>
          <p:nvSpPr>
            <p:cNvPr name="Freeform 3" id="3"/>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2"/>
              <a:stretch>
                <a:fillRect l="-84914" t="-18546" r="-105205" b="-3444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4" id="4"/>
          <p:cNvGrpSpPr/>
          <p:nvPr/>
        </p:nvGrpSpPr>
        <p:grpSpPr>
          <a:xfrm rot="0">
            <a:off x="1138958" y="4738134"/>
            <a:ext cx="2980179" cy="3765343"/>
            <a:chOff x="0" y="0"/>
            <a:chExt cx="461708" cy="583350"/>
          </a:xfrm>
        </p:grpSpPr>
        <p:sp>
          <p:nvSpPr>
            <p:cNvPr name="Freeform 5" id="5"/>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3"/>
              <a:stretch>
                <a:fillRect l="-32891" t="-19601" r="-38850" b="-8442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6" id="6"/>
          <p:cNvGrpSpPr/>
          <p:nvPr/>
        </p:nvGrpSpPr>
        <p:grpSpPr>
          <a:xfrm rot="0">
            <a:off x="7844143" y="4738134"/>
            <a:ext cx="2980179" cy="3765343"/>
            <a:chOff x="0" y="0"/>
            <a:chExt cx="461708" cy="583350"/>
          </a:xfrm>
        </p:grpSpPr>
        <p:sp>
          <p:nvSpPr>
            <p:cNvPr name="Freeform 7" id="7"/>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4"/>
              <a:stretch>
                <a:fillRect l="-83484" t="-586" r="-84887" b="-41149"/>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8" id="8"/>
          <p:cNvGrpSpPr/>
          <p:nvPr/>
        </p:nvGrpSpPr>
        <p:grpSpPr>
          <a:xfrm rot="0">
            <a:off x="4584154" y="7950186"/>
            <a:ext cx="2792271" cy="1308114"/>
            <a:chOff x="0" y="0"/>
            <a:chExt cx="1051018" cy="492377"/>
          </a:xfrm>
        </p:grpSpPr>
        <p:sp>
          <p:nvSpPr>
            <p:cNvPr name="Freeform 9" id="9"/>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1" id="11"/>
          <p:cNvGrpSpPr/>
          <p:nvPr/>
        </p:nvGrpSpPr>
        <p:grpSpPr>
          <a:xfrm rot="0">
            <a:off x="1235245" y="7950186"/>
            <a:ext cx="2792271" cy="1308114"/>
            <a:chOff x="0" y="0"/>
            <a:chExt cx="1051018" cy="492377"/>
          </a:xfrm>
        </p:grpSpPr>
        <p:sp>
          <p:nvSpPr>
            <p:cNvPr name="Freeform 12" id="12"/>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3" id="13"/>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4" id="14"/>
          <p:cNvGrpSpPr/>
          <p:nvPr/>
        </p:nvGrpSpPr>
        <p:grpSpPr>
          <a:xfrm rot="0">
            <a:off x="7935396" y="7950186"/>
            <a:ext cx="2792271" cy="1308114"/>
            <a:chOff x="0" y="0"/>
            <a:chExt cx="1051018" cy="492377"/>
          </a:xfrm>
        </p:grpSpPr>
        <p:sp>
          <p:nvSpPr>
            <p:cNvPr name="Freeform 15" id="15"/>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6" id="16"/>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7" id="17"/>
          <p:cNvGrpSpPr/>
          <p:nvPr/>
        </p:nvGrpSpPr>
        <p:grpSpPr>
          <a:xfrm rot="0">
            <a:off x="11628350" y="4611307"/>
            <a:ext cx="5630950" cy="4646993"/>
            <a:chOff x="0" y="0"/>
            <a:chExt cx="872382" cy="719941"/>
          </a:xfrm>
        </p:grpSpPr>
        <p:sp>
          <p:nvSpPr>
            <p:cNvPr name="Freeform 18" id="18"/>
            <p:cNvSpPr/>
            <p:nvPr/>
          </p:nvSpPr>
          <p:spPr>
            <a:xfrm flipH="false" flipV="false" rot="0">
              <a:off x="0" y="0"/>
              <a:ext cx="872382" cy="719941"/>
            </a:xfrm>
            <a:custGeom>
              <a:avLst/>
              <a:gdLst/>
              <a:ahLst/>
              <a:cxnLst/>
              <a:rect r="r" b="b" t="t" l="l"/>
              <a:pathLst>
                <a:path h="719941" w="872382">
                  <a:moveTo>
                    <a:pt x="137489" y="0"/>
                  </a:moveTo>
                  <a:lnTo>
                    <a:pt x="734893" y="0"/>
                  </a:lnTo>
                  <a:cubicBezTo>
                    <a:pt x="771357" y="0"/>
                    <a:pt x="806328" y="14485"/>
                    <a:pt x="832112" y="40270"/>
                  </a:cubicBezTo>
                  <a:cubicBezTo>
                    <a:pt x="857896" y="66054"/>
                    <a:pt x="872382" y="101024"/>
                    <a:pt x="872382" y="137489"/>
                  </a:cubicBezTo>
                  <a:lnTo>
                    <a:pt x="872382" y="582452"/>
                  </a:lnTo>
                  <a:cubicBezTo>
                    <a:pt x="872382" y="618916"/>
                    <a:pt x="857896" y="653887"/>
                    <a:pt x="832112" y="679671"/>
                  </a:cubicBezTo>
                  <a:cubicBezTo>
                    <a:pt x="806328" y="705455"/>
                    <a:pt x="771357" y="719941"/>
                    <a:pt x="734893" y="719941"/>
                  </a:cubicBezTo>
                  <a:lnTo>
                    <a:pt x="137489" y="719941"/>
                  </a:lnTo>
                  <a:cubicBezTo>
                    <a:pt x="101024" y="719941"/>
                    <a:pt x="66054" y="705455"/>
                    <a:pt x="40270" y="679671"/>
                  </a:cubicBezTo>
                  <a:cubicBezTo>
                    <a:pt x="14485" y="653887"/>
                    <a:pt x="0" y="618916"/>
                    <a:pt x="0" y="582452"/>
                  </a:cubicBezTo>
                  <a:lnTo>
                    <a:pt x="0" y="137489"/>
                  </a:lnTo>
                  <a:cubicBezTo>
                    <a:pt x="0" y="101024"/>
                    <a:pt x="14485" y="66054"/>
                    <a:pt x="40270" y="40270"/>
                  </a:cubicBezTo>
                  <a:cubicBezTo>
                    <a:pt x="66054" y="14485"/>
                    <a:pt x="101024" y="0"/>
                    <a:pt x="137489" y="0"/>
                  </a:cubicBezTo>
                  <a:close/>
                </a:path>
              </a:pathLst>
            </a:custGeom>
            <a:blipFill>
              <a:blip r:embed="rId5"/>
              <a:stretch>
                <a:fillRect l="-11838" t="0" r="-11838" b="0"/>
              </a:stretch>
            </a:blip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grpSp>
      <p:sp>
        <p:nvSpPr>
          <p:cNvPr name="TextBox 19" id="19"/>
          <p:cNvSpPr txBox="true"/>
          <p:nvPr/>
        </p:nvSpPr>
        <p:spPr>
          <a:xfrm rot="0">
            <a:off x="7731183"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Pr</a:t>
            </a:r>
            <a:r>
              <a:rPr lang="en-US" sz="1700" spc="-51" strike="noStrike" u="none">
                <a:solidFill>
                  <a:srgbClr val="000000"/>
                </a:solidFill>
                <a:latin typeface="HK Grotesk"/>
                <a:ea typeface="HK Grotesk"/>
                <a:cs typeface="HK Grotesk"/>
                <a:sym typeface="HK Grotesk"/>
              </a:rPr>
              <a:t>oduct Di</a:t>
            </a:r>
            <a:r>
              <a:rPr lang="en-US" sz="1700" spc="-51" strike="noStrike" u="none">
                <a:solidFill>
                  <a:srgbClr val="000000"/>
                </a:solidFill>
                <a:latin typeface="HK Grotesk"/>
                <a:ea typeface="HK Grotesk"/>
                <a:cs typeface="HK Grotesk"/>
                <a:sym typeface="HK Grotesk"/>
              </a:rPr>
              <a:t>ffere</a:t>
            </a:r>
            <a:r>
              <a:rPr lang="en-US" sz="1700" spc="-51" strike="noStrike" u="none">
                <a:solidFill>
                  <a:srgbClr val="000000"/>
                </a:solidFill>
                <a:latin typeface="HK Grotesk"/>
                <a:ea typeface="HK Grotesk"/>
                <a:cs typeface="HK Grotesk"/>
                <a:sym typeface="HK Grotesk"/>
              </a:rPr>
              <a:t>ntiation</a:t>
            </a:r>
          </a:p>
        </p:txBody>
      </p:sp>
      <p:sp>
        <p:nvSpPr>
          <p:cNvPr name="TextBox 20" id="20"/>
          <p:cNvSpPr txBox="true"/>
          <p:nvPr/>
        </p:nvSpPr>
        <p:spPr>
          <a:xfrm rot="0">
            <a:off x="4379942"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M</a:t>
            </a:r>
            <a:r>
              <a:rPr lang="en-US" sz="1700" spc="-51" strike="noStrike" u="none">
                <a:solidFill>
                  <a:srgbClr val="000000"/>
                </a:solidFill>
                <a:latin typeface="HK Grotesk"/>
                <a:ea typeface="HK Grotesk"/>
                <a:cs typeface="HK Grotesk"/>
                <a:sym typeface="HK Grotesk"/>
              </a:rPr>
              <a:t>arket Segmentation</a:t>
            </a:r>
          </a:p>
        </p:txBody>
      </p:sp>
      <p:sp>
        <p:nvSpPr>
          <p:cNvPr name="TextBox 21" id="21"/>
          <p:cNvSpPr txBox="true"/>
          <p:nvPr/>
        </p:nvSpPr>
        <p:spPr>
          <a:xfrm rot="0">
            <a:off x="1028700"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I</a:t>
            </a:r>
            <a:r>
              <a:rPr lang="en-US" sz="1700" spc="-51" strike="noStrike" u="none">
                <a:solidFill>
                  <a:srgbClr val="000000"/>
                </a:solidFill>
                <a:latin typeface="HK Grotesk"/>
                <a:ea typeface="HK Grotesk"/>
                <a:cs typeface="HK Grotesk"/>
                <a:sym typeface="HK Grotesk"/>
              </a:rPr>
              <a:t>nno</a:t>
            </a:r>
            <a:r>
              <a:rPr lang="en-US" sz="1700" spc="-51" strike="noStrike" u="none">
                <a:solidFill>
                  <a:srgbClr val="000000"/>
                </a:solidFill>
                <a:latin typeface="HK Grotesk"/>
                <a:ea typeface="HK Grotesk"/>
                <a:cs typeface="HK Grotesk"/>
                <a:sym typeface="HK Grotesk"/>
              </a:rPr>
              <a:t>v</a:t>
            </a:r>
            <a:r>
              <a:rPr lang="en-US" sz="1700" spc="-51" strike="noStrike" u="none">
                <a:solidFill>
                  <a:srgbClr val="000000"/>
                </a:solidFill>
                <a:latin typeface="HK Grotesk"/>
                <a:ea typeface="HK Grotesk"/>
                <a:cs typeface="HK Grotesk"/>
                <a:sym typeface="HK Grotesk"/>
              </a:rPr>
              <a:t>at</a:t>
            </a:r>
            <a:r>
              <a:rPr lang="en-US" sz="1700" spc="-51" strike="noStrike" u="none">
                <a:solidFill>
                  <a:srgbClr val="000000"/>
                </a:solidFill>
                <a:latin typeface="HK Grotesk"/>
                <a:ea typeface="HK Grotesk"/>
                <a:cs typeface="HK Grotesk"/>
                <a:sym typeface="HK Grotesk"/>
              </a:rPr>
              <a:t>i</a:t>
            </a:r>
            <a:r>
              <a:rPr lang="en-US" sz="1700" spc="-51" strike="noStrike" u="none">
                <a:solidFill>
                  <a:srgbClr val="000000"/>
                </a:solidFill>
                <a:latin typeface="HK Grotesk"/>
                <a:ea typeface="HK Grotesk"/>
                <a:cs typeface="HK Grotesk"/>
                <a:sym typeface="HK Grotesk"/>
              </a:rPr>
              <a:t>on </a:t>
            </a:r>
            <a:r>
              <a:rPr lang="en-US" sz="1700" spc="-51" strike="noStrike" u="none">
                <a:solidFill>
                  <a:srgbClr val="000000"/>
                </a:solidFill>
                <a:latin typeface="HK Grotesk"/>
                <a:ea typeface="HK Grotesk"/>
                <a:cs typeface="HK Grotesk"/>
                <a:sym typeface="HK Grotesk"/>
              </a:rPr>
              <a:t>A</a:t>
            </a:r>
            <a:r>
              <a:rPr lang="en-US" sz="1700" spc="-51" strike="noStrike" u="none">
                <a:solidFill>
                  <a:srgbClr val="000000"/>
                </a:solidFill>
                <a:latin typeface="HK Grotesk"/>
                <a:ea typeface="HK Grotesk"/>
                <a:cs typeface="HK Grotesk"/>
                <a:sym typeface="HK Grotesk"/>
              </a:rPr>
              <a:t>do</a:t>
            </a:r>
            <a:r>
              <a:rPr lang="en-US" sz="1700" spc="-51" strike="noStrike" u="none">
                <a:solidFill>
                  <a:srgbClr val="000000"/>
                </a:solidFill>
                <a:latin typeface="HK Grotesk"/>
                <a:ea typeface="HK Grotesk"/>
                <a:cs typeface="HK Grotesk"/>
                <a:sym typeface="HK Grotesk"/>
              </a:rPr>
              <a:t>p</a:t>
            </a:r>
            <a:r>
              <a:rPr lang="en-US" sz="1700" spc="-51" strike="noStrike" u="none">
                <a:solidFill>
                  <a:srgbClr val="000000"/>
                </a:solidFill>
                <a:latin typeface="HK Grotesk"/>
                <a:ea typeface="HK Grotesk"/>
                <a:cs typeface="HK Grotesk"/>
                <a:sym typeface="HK Grotesk"/>
              </a:rPr>
              <a:t>tion</a:t>
            </a:r>
          </a:p>
        </p:txBody>
      </p:sp>
      <p:sp>
        <p:nvSpPr>
          <p:cNvPr name="TextBox 22" id="22"/>
          <p:cNvSpPr txBox="true"/>
          <p:nvPr/>
        </p:nvSpPr>
        <p:spPr>
          <a:xfrm rot="0">
            <a:off x="7731183"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The</a:t>
            </a:r>
            <a:r>
              <a:rPr lang="en-US" sz="1300" i="true" spc="-39" strike="noStrike" u="none">
                <a:solidFill>
                  <a:srgbClr val="000000"/>
                </a:solidFill>
                <a:latin typeface="HK Grotesk Italics"/>
                <a:ea typeface="HK Grotesk Italics"/>
                <a:cs typeface="HK Grotesk Italics"/>
                <a:sym typeface="HK Grotesk Italics"/>
              </a:rPr>
              <a:t>ory Maker</a:t>
            </a:r>
          </a:p>
        </p:txBody>
      </p:sp>
      <p:sp>
        <p:nvSpPr>
          <p:cNvPr name="TextBox 23" id="23"/>
          <p:cNvSpPr txBox="true"/>
          <p:nvPr/>
        </p:nvSpPr>
        <p:spPr>
          <a:xfrm rot="0">
            <a:off x="4379942"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The</a:t>
            </a:r>
            <a:r>
              <a:rPr lang="en-US" sz="1300" i="true" spc="-39" strike="noStrike" u="none">
                <a:solidFill>
                  <a:srgbClr val="000000"/>
                </a:solidFill>
                <a:latin typeface="HK Grotesk Italics"/>
                <a:ea typeface="HK Grotesk Italics"/>
                <a:cs typeface="HK Grotesk Italics"/>
                <a:sym typeface="HK Grotesk Italics"/>
              </a:rPr>
              <a:t>ory Maker</a:t>
            </a:r>
          </a:p>
        </p:txBody>
      </p:sp>
      <p:sp>
        <p:nvSpPr>
          <p:cNvPr name="TextBox 24" id="24"/>
          <p:cNvSpPr txBox="true"/>
          <p:nvPr/>
        </p:nvSpPr>
        <p:spPr>
          <a:xfrm rot="0">
            <a:off x="1028700"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The</a:t>
            </a:r>
            <a:r>
              <a:rPr lang="en-US" sz="1300" i="true" spc="-39" strike="noStrike" u="none">
                <a:solidFill>
                  <a:srgbClr val="000000"/>
                </a:solidFill>
                <a:latin typeface="HK Grotesk Italics"/>
                <a:ea typeface="HK Grotesk Italics"/>
                <a:cs typeface="HK Grotesk Italics"/>
                <a:sym typeface="HK Grotesk Italics"/>
              </a:rPr>
              <a:t>ory Maker</a:t>
            </a:r>
          </a:p>
        </p:txBody>
      </p:sp>
      <p:sp>
        <p:nvSpPr>
          <p:cNvPr name="TextBox 25" id="25"/>
          <p:cNvSpPr txBox="true"/>
          <p:nvPr/>
        </p:nvSpPr>
        <p:spPr>
          <a:xfrm rot="0">
            <a:off x="7731183"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Ma</a:t>
            </a:r>
            <a:r>
              <a:rPr lang="en-US" b="true" sz="2500" spc="-75" strike="noStrike" u="none">
                <a:solidFill>
                  <a:srgbClr val="000000"/>
                </a:solidFill>
                <a:latin typeface="HK Grotesk Bold"/>
                <a:ea typeface="HK Grotesk Bold"/>
                <a:cs typeface="HK Grotesk Bold"/>
                <a:sym typeface="HK Grotesk Bold"/>
              </a:rPr>
              <a:t>tt Zhang</a:t>
            </a:r>
          </a:p>
        </p:txBody>
      </p:sp>
      <p:sp>
        <p:nvSpPr>
          <p:cNvPr name="TextBox 26" id="26"/>
          <p:cNvSpPr txBox="true"/>
          <p:nvPr/>
        </p:nvSpPr>
        <p:spPr>
          <a:xfrm rot="0">
            <a:off x="4379942"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Olivia</a:t>
            </a:r>
            <a:r>
              <a:rPr lang="en-US" b="true" sz="2500" spc="-75" strike="noStrike" u="none">
                <a:solidFill>
                  <a:srgbClr val="000000"/>
                </a:solidFill>
                <a:latin typeface="HK Grotesk Bold"/>
                <a:ea typeface="HK Grotesk Bold"/>
                <a:cs typeface="HK Grotesk Bold"/>
                <a:sym typeface="HK Grotesk Bold"/>
              </a:rPr>
              <a:t> Wilson</a:t>
            </a:r>
          </a:p>
        </p:txBody>
      </p:sp>
      <p:sp>
        <p:nvSpPr>
          <p:cNvPr name="TextBox 27" id="27"/>
          <p:cNvSpPr txBox="true"/>
          <p:nvPr/>
        </p:nvSpPr>
        <p:spPr>
          <a:xfrm rot="0">
            <a:off x="1028700"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Drew</a:t>
            </a:r>
            <a:r>
              <a:rPr lang="en-US" b="true" sz="2500" spc="-75" strike="noStrike" u="none">
                <a:solidFill>
                  <a:srgbClr val="000000"/>
                </a:solidFill>
                <a:latin typeface="HK Grotesk Bold"/>
                <a:ea typeface="HK Grotesk Bold"/>
                <a:cs typeface="HK Grotesk Bold"/>
                <a:sym typeface="HK Grotesk Bold"/>
              </a:rPr>
              <a:t> Feig</a:t>
            </a:r>
          </a:p>
        </p:txBody>
      </p:sp>
      <p:grpSp>
        <p:nvGrpSpPr>
          <p:cNvPr name="Group 28" id="28"/>
          <p:cNvGrpSpPr/>
          <p:nvPr/>
        </p:nvGrpSpPr>
        <p:grpSpPr>
          <a:xfrm rot="0">
            <a:off x="279200" y="387555"/>
            <a:ext cx="2155619" cy="215561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30" id="3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31" id="31"/>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Framework</a:t>
            </a:r>
          </a:p>
        </p:txBody>
      </p:sp>
      <p:sp>
        <p:nvSpPr>
          <p:cNvPr name="TextBox 32" id="32"/>
          <p:cNvSpPr txBox="true"/>
          <p:nvPr/>
        </p:nvSpPr>
        <p:spPr>
          <a:xfrm rot="0">
            <a:off x="1028700" y="2839029"/>
            <a:ext cx="9698967" cy="12111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grpSp>
        <p:nvGrpSpPr>
          <p:cNvPr name="Group 33" id="33"/>
          <p:cNvGrpSpPr/>
          <p:nvPr/>
        </p:nvGrpSpPr>
        <p:grpSpPr>
          <a:xfrm rot="0">
            <a:off x="11628350" y="1028700"/>
            <a:ext cx="5630950" cy="3021528"/>
            <a:chOff x="0" y="0"/>
            <a:chExt cx="1483049" cy="795793"/>
          </a:xfrm>
        </p:grpSpPr>
        <p:sp>
          <p:nvSpPr>
            <p:cNvPr name="Freeform 34" id="34"/>
            <p:cNvSpPr/>
            <p:nvPr/>
          </p:nvSpPr>
          <p:spPr>
            <a:xfrm flipH="false" flipV="false" rot="0">
              <a:off x="0" y="0"/>
              <a:ext cx="1483049" cy="795793"/>
            </a:xfrm>
            <a:custGeom>
              <a:avLst/>
              <a:gdLst/>
              <a:ahLst/>
              <a:cxnLst/>
              <a:rect r="r" b="b" t="t" l="l"/>
              <a:pathLst>
                <a:path h="795793" w="1483049">
                  <a:moveTo>
                    <a:pt x="137489" y="0"/>
                  </a:moveTo>
                  <a:lnTo>
                    <a:pt x="1345560" y="0"/>
                  </a:lnTo>
                  <a:cubicBezTo>
                    <a:pt x="1382024" y="0"/>
                    <a:pt x="1416995" y="14485"/>
                    <a:pt x="1442779" y="40270"/>
                  </a:cubicBezTo>
                  <a:cubicBezTo>
                    <a:pt x="1468563" y="66054"/>
                    <a:pt x="1483049" y="101024"/>
                    <a:pt x="1483049" y="137489"/>
                  </a:cubicBezTo>
                  <a:lnTo>
                    <a:pt x="1483049" y="658305"/>
                  </a:lnTo>
                  <a:cubicBezTo>
                    <a:pt x="1483049" y="694769"/>
                    <a:pt x="1468563" y="729740"/>
                    <a:pt x="1442779" y="755524"/>
                  </a:cubicBezTo>
                  <a:cubicBezTo>
                    <a:pt x="1416995" y="781308"/>
                    <a:pt x="1382024" y="795793"/>
                    <a:pt x="1345560" y="795793"/>
                  </a:cubicBezTo>
                  <a:lnTo>
                    <a:pt x="137489" y="795793"/>
                  </a:lnTo>
                  <a:cubicBezTo>
                    <a:pt x="101024" y="795793"/>
                    <a:pt x="66054" y="781308"/>
                    <a:pt x="40270" y="755524"/>
                  </a:cubicBezTo>
                  <a:cubicBezTo>
                    <a:pt x="14485" y="729740"/>
                    <a:pt x="0" y="694769"/>
                    <a:pt x="0" y="658305"/>
                  </a:cubicBezTo>
                  <a:lnTo>
                    <a:pt x="0" y="137489"/>
                  </a:lnTo>
                  <a:cubicBezTo>
                    <a:pt x="0" y="101024"/>
                    <a:pt x="14485" y="66054"/>
                    <a:pt x="40270" y="40270"/>
                  </a:cubicBezTo>
                  <a:cubicBezTo>
                    <a:pt x="66054" y="14485"/>
                    <a:pt x="101024" y="0"/>
                    <a:pt x="137489"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5" id="35"/>
            <p:cNvSpPr txBox="true"/>
            <p:nvPr/>
          </p:nvSpPr>
          <p:spPr>
            <a:xfrm>
              <a:off x="0" y="0"/>
              <a:ext cx="1483049" cy="795793"/>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36" id="36"/>
          <p:cNvSpPr txBox="true"/>
          <p:nvPr/>
        </p:nvSpPr>
        <p:spPr>
          <a:xfrm rot="0">
            <a:off x="12538272" y="2220044"/>
            <a:ext cx="3811107" cy="1172337"/>
          </a:xfrm>
          <a:prstGeom prst="rect">
            <a:avLst/>
          </a:prstGeom>
        </p:spPr>
        <p:txBody>
          <a:bodyPr anchor="t" rtlCol="false" tIns="0" lIns="0" bIns="0" rIns="0">
            <a:spAutoFit/>
          </a:bodyPr>
          <a:lstStyle/>
          <a:p>
            <a:pPr algn="l" marL="388620" indent="-194310" lvl="1">
              <a:lnSpc>
                <a:spcPts val="3204"/>
              </a:lnSpc>
              <a:buFont typeface="Arial"/>
              <a:buChar char="•"/>
            </a:pPr>
            <a:r>
              <a:rPr lang="en-US" sz="1800" spc="-44">
                <a:solidFill>
                  <a:srgbClr val="FFFFFF"/>
                </a:solidFill>
                <a:latin typeface="HK Grotesk"/>
                <a:ea typeface="HK Grotesk"/>
                <a:cs typeface="HK Grotesk"/>
                <a:sym typeface="HK Grotesk"/>
              </a:rPr>
              <a:t>Innovation Adoption Theory</a:t>
            </a:r>
          </a:p>
          <a:p>
            <a:pPr algn="l" marL="388620" indent="-194310" lvl="1">
              <a:lnSpc>
                <a:spcPts val="3204"/>
              </a:lnSpc>
              <a:buFont typeface="Arial"/>
              <a:buChar char="•"/>
            </a:pPr>
            <a:r>
              <a:rPr lang="en-US" sz="1800" spc="-44">
                <a:solidFill>
                  <a:srgbClr val="FFFFFF"/>
                </a:solidFill>
                <a:latin typeface="HK Grotesk"/>
                <a:ea typeface="HK Grotesk"/>
                <a:cs typeface="HK Grotesk"/>
                <a:sym typeface="HK Grotesk"/>
              </a:rPr>
              <a:t>Market Segmentation Theory</a:t>
            </a:r>
          </a:p>
          <a:p>
            <a:pPr algn="l" marL="388620" indent="-194310" lvl="1">
              <a:lnSpc>
                <a:spcPts val="3204"/>
              </a:lnSpc>
              <a:buFont typeface="Arial"/>
              <a:buChar char="•"/>
            </a:pPr>
            <a:r>
              <a:rPr lang="en-US" sz="1800" spc="-44">
                <a:solidFill>
                  <a:srgbClr val="FFFFFF"/>
                </a:solidFill>
                <a:latin typeface="HK Grotesk"/>
                <a:ea typeface="HK Grotesk"/>
                <a:cs typeface="HK Grotesk"/>
                <a:sym typeface="HK Grotesk"/>
              </a:rPr>
              <a:t>Product Differentiation Theory</a:t>
            </a:r>
          </a:p>
        </p:txBody>
      </p:sp>
      <p:sp>
        <p:nvSpPr>
          <p:cNvPr name="TextBox 37" id="37"/>
          <p:cNvSpPr txBox="true"/>
          <p:nvPr/>
        </p:nvSpPr>
        <p:spPr>
          <a:xfrm rot="0">
            <a:off x="12538272" y="1667497"/>
            <a:ext cx="3811107" cy="472440"/>
          </a:xfrm>
          <a:prstGeom prst="rect">
            <a:avLst/>
          </a:prstGeom>
        </p:spPr>
        <p:txBody>
          <a:bodyPr anchor="t" rtlCol="false" tIns="0" lIns="0" bIns="0" rIns="0">
            <a:spAutoFit/>
          </a:bodyPr>
          <a:lstStyle/>
          <a:p>
            <a:pPr algn="l">
              <a:lnSpc>
                <a:spcPts val="3779"/>
              </a:lnSpc>
            </a:pPr>
            <a:r>
              <a:rPr lang="en-US" b="true" sz="3000" spc="-65">
                <a:solidFill>
                  <a:srgbClr val="FFFFFF"/>
                </a:solidFill>
                <a:latin typeface="HK Grotesk Bold"/>
                <a:ea typeface="HK Grotesk Bold"/>
                <a:cs typeface="HK Grotesk Bold"/>
                <a:sym typeface="HK Grotesk Bold"/>
              </a:rPr>
              <a:t>Overview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0395251" y="1028700"/>
            <a:ext cx="6864049" cy="8229600"/>
            <a:chOff x="0" y="0"/>
            <a:chExt cx="1098203" cy="1316683"/>
          </a:xfrm>
        </p:grpSpPr>
        <p:sp>
          <p:nvSpPr>
            <p:cNvPr name="Freeform 3" id="3"/>
            <p:cNvSpPr/>
            <p:nvPr/>
          </p:nvSpPr>
          <p:spPr>
            <a:xfrm flipH="false" flipV="false" rot="0">
              <a:off x="0" y="0"/>
              <a:ext cx="1098203" cy="1316683"/>
            </a:xfrm>
            <a:custGeom>
              <a:avLst/>
              <a:gdLst/>
              <a:ahLst/>
              <a:cxnLst/>
              <a:rect r="r" b="b" t="t" l="l"/>
              <a:pathLst>
                <a:path h="1316683" w="1098203">
                  <a:moveTo>
                    <a:pt x="89104" y="0"/>
                  </a:moveTo>
                  <a:lnTo>
                    <a:pt x="1009100" y="0"/>
                  </a:lnTo>
                  <a:cubicBezTo>
                    <a:pt x="1032732" y="0"/>
                    <a:pt x="1055395" y="9388"/>
                    <a:pt x="1072106" y="26098"/>
                  </a:cubicBezTo>
                  <a:cubicBezTo>
                    <a:pt x="1088816" y="42808"/>
                    <a:pt x="1098203" y="65472"/>
                    <a:pt x="1098203" y="89104"/>
                  </a:cubicBezTo>
                  <a:lnTo>
                    <a:pt x="1098203" y="1227579"/>
                  </a:lnTo>
                  <a:cubicBezTo>
                    <a:pt x="1098203" y="1276790"/>
                    <a:pt x="1058310" y="1316683"/>
                    <a:pt x="1009100" y="1316683"/>
                  </a:cubicBezTo>
                  <a:lnTo>
                    <a:pt x="89104" y="1316683"/>
                  </a:lnTo>
                  <a:cubicBezTo>
                    <a:pt x="39893" y="1316683"/>
                    <a:pt x="0" y="1276790"/>
                    <a:pt x="0" y="1227579"/>
                  </a:cubicBezTo>
                  <a:lnTo>
                    <a:pt x="0" y="89104"/>
                  </a:lnTo>
                  <a:cubicBezTo>
                    <a:pt x="0" y="39893"/>
                    <a:pt x="39893" y="0"/>
                    <a:pt x="89104" y="0"/>
                  </a:cubicBezTo>
                  <a:close/>
                </a:path>
              </a:pathLst>
            </a:custGeom>
            <a:blipFill>
              <a:blip r:embed="rId2"/>
              <a:stretch>
                <a:fillRect l="0" t="-12555" r="0" b="-12555"/>
              </a:stretch>
            </a:blipFill>
          </p:spPr>
        </p:sp>
      </p:grpSp>
      <p:grpSp>
        <p:nvGrpSpPr>
          <p:cNvPr name="Group 4" id="4"/>
          <p:cNvGrpSpPr/>
          <p:nvPr/>
        </p:nvGrpSpPr>
        <p:grpSpPr>
          <a:xfrm rot="0">
            <a:off x="7826875" y="6120793"/>
            <a:ext cx="6610889" cy="2554807"/>
            <a:chOff x="0" y="0"/>
            <a:chExt cx="1741140" cy="672871"/>
          </a:xfrm>
        </p:grpSpPr>
        <p:sp>
          <p:nvSpPr>
            <p:cNvPr name="Freeform 5" id="5"/>
            <p:cNvSpPr/>
            <p:nvPr/>
          </p:nvSpPr>
          <p:spPr>
            <a:xfrm flipH="false" flipV="false" rot="0">
              <a:off x="0" y="0"/>
              <a:ext cx="1741139" cy="672871"/>
            </a:xfrm>
            <a:custGeom>
              <a:avLst/>
              <a:gdLst/>
              <a:ahLst/>
              <a:cxnLst/>
              <a:rect r="r" b="b" t="t" l="l"/>
              <a:pathLst>
                <a:path h="672871" w="1741139">
                  <a:moveTo>
                    <a:pt x="94858" y="0"/>
                  </a:moveTo>
                  <a:lnTo>
                    <a:pt x="1646281" y="0"/>
                  </a:lnTo>
                  <a:cubicBezTo>
                    <a:pt x="1698670" y="0"/>
                    <a:pt x="1741139" y="42469"/>
                    <a:pt x="1741139" y="94858"/>
                  </a:cubicBezTo>
                  <a:lnTo>
                    <a:pt x="1741139" y="578013"/>
                  </a:lnTo>
                  <a:cubicBezTo>
                    <a:pt x="1741139" y="630402"/>
                    <a:pt x="1698670" y="672871"/>
                    <a:pt x="1646281" y="672871"/>
                  </a:cubicBezTo>
                  <a:lnTo>
                    <a:pt x="94858" y="672871"/>
                  </a:lnTo>
                  <a:cubicBezTo>
                    <a:pt x="42469" y="672871"/>
                    <a:pt x="0" y="630402"/>
                    <a:pt x="0" y="578013"/>
                  </a:cubicBezTo>
                  <a:lnTo>
                    <a:pt x="0" y="94858"/>
                  </a:lnTo>
                  <a:cubicBezTo>
                    <a:pt x="0" y="42469"/>
                    <a:pt x="42469" y="0"/>
                    <a:pt x="94858"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6" id="6"/>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7" id="7"/>
          <p:cNvSpPr txBox="true"/>
          <p:nvPr/>
        </p:nvSpPr>
        <p:spPr>
          <a:xfrm rot="0">
            <a:off x="8425801" y="7103328"/>
            <a:ext cx="5701977" cy="1100963"/>
          </a:xfrm>
          <a:prstGeom prst="rect">
            <a:avLst/>
          </a:prstGeom>
        </p:spPr>
        <p:txBody>
          <a:bodyPr anchor="t" rtlCol="false" tIns="0" lIns="0" bIns="0" rIns="0">
            <a:spAutoFit/>
          </a:bodyPr>
          <a:lstStyle/>
          <a:p>
            <a:pPr algn="l">
              <a:lnSpc>
                <a:spcPts val="2176"/>
              </a:lnSpc>
            </a:pPr>
            <a:r>
              <a:rPr lang="en-US" sz="1600" spc="-40">
                <a:solidFill>
                  <a:srgbClr val="000000"/>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8" id="8"/>
          <p:cNvSpPr txBox="true"/>
          <p:nvPr/>
        </p:nvSpPr>
        <p:spPr>
          <a:xfrm rot="0">
            <a:off x="8425801" y="6478004"/>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Quantitative Methods</a:t>
            </a:r>
          </a:p>
        </p:txBody>
      </p:sp>
      <p:grpSp>
        <p:nvGrpSpPr>
          <p:cNvPr name="Group 9" id="9"/>
          <p:cNvGrpSpPr/>
          <p:nvPr/>
        </p:nvGrpSpPr>
        <p:grpSpPr>
          <a:xfrm rot="0">
            <a:off x="1028700" y="6120793"/>
            <a:ext cx="6610889" cy="2554807"/>
            <a:chOff x="0" y="0"/>
            <a:chExt cx="1741140" cy="672871"/>
          </a:xfrm>
        </p:grpSpPr>
        <p:sp>
          <p:nvSpPr>
            <p:cNvPr name="Freeform 10" id="10"/>
            <p:cNvSpPr/>
            <p:nvPr/>
          </p:nvSpPr>
          <p:spPr>
            <a:xfrm flipH="false" flipV="false" rot="0">
              <a:off x="0" y="0"/>
              <a:ext cx="1741139" cy="672871"/>
            </a:xfrm>
            <a:custGeom>
              <a:avLst/>
              <a:gdLst/>
              <a:ahLst/>
              <a:cxnLst/>
              <a:rect r="r" b="b" t="t" l="l"/>
              <a:pathLst>
                <a:path h="672871" w="1741139">
                  <a:moveTo>
                    <a:pt x="94858" y="0"/>
                  </a:moveTo>
                  <a:lnTo>
                    <a:pt x="1646281" y="0"/>
                  </a:lnTo>
                  <a:cubicBezTo>
                    <a:pt x="1698670" y="0"/>
                    <a:pt x="1741139" y="42469"/>
                    <a:pt x="1741139" y="94858"/>
                  </a:cubicBezTo>
                  <a:lnTo>
                    <a:pt x="1741139" y="578013"/>
                  </a:lnTo>
                  <a:cubicBezTo>
                    <a:pt x="1741139" y="630402"/>
                    <a:pt x="1698670" y="672871"/>
                    <a:pt x="1646281" y="672871"/>
                  </a:cubicBezTo>
                  <a:lnTo>
                    <a:pt x="94858" y="672871"/>
                  </a:lnTo>
                  <a:cubicBezTo>
                    <a:pt x="42469" y="672871"/>
                    <a:pt x="0" y="630402"/>
                    <a:pt x="0" y="578013"/>
                  </a:cubicBezTo>
                  <a:lnTo>
                    <a:pt x="0" y="94858"/>
                  </a:lnTo>
                  <a:cubicBezTo>
                    <a:pt x="0" y="42469"/>
                    <a:pt x="42469" y="0"/>
                    <a:pt x="94858"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1" id="11"/>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12" id="12"/>
          <p:cNvSpPr txBox="true"/>
          <p:nvPr/>
        </p:nvSpPr>
        <p:spPr>
          <a:xfrm rot="0">
            <a:off x="1627626" y="7127090"/>
            <a:ext cx="5701977" cy="1100963"/>
          </a:xfrm>
          <a:prstGeom prst="rect">
            <a:avLst/>
          </a:prstGeom>
        </p:spPr>
        <p:txBody>
          <a:bodyPr anchor="t" rtlCol="false" tIns="0" lIns="0" bIns="0" rIns="0">
            <a:spAutoFit/>
          </a:bodyPr>
          <a:lstStyle/>
          <a:p>
            <a:pPr algn="l">
              <a:lnSpc>
                <a:spcPts val="2176"/>
              </a:lnSpc>
            </a:pPr>
            <a:r>
              <a:rPr lang="en-US" sz="1600" spc="-4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3" id="13"/>
          <p:cNvSpPr txBox="true"/>
          <p:nvPr/>
        </p:nvSpPr>
        <p:spPr>
          <a:xfrm rot="0">
            <a:off x="1627626" y="6501766"/>
            <a:ext cx="4204449" cy="408813"/>
          </a:xfrm>
          <a:prstGeom prst="rect">
            <a:avLst/>
          </a:prstGeom>
        </p:spPr>
        <p:txBody>
          <a:bodyPr anchor="t" rtlCol="false" tIns="0" lIns="0" bIns="0" rIns="0">
            <a:spAutoFit/>
          </a:bodyPr>
          <a:lstStyle/>
          <a:p>
            <a:pPr algn="l">
              <a:lnSpc>
                <a:spcPts val="3276"/>
              </a:lnSpc>
            </a:pPr>
            <a:r>
              <a:rPr lang="en-US" b="true" sz="2600" spc="-57">
                <a:solidFill>
                  <a:srgbClr val="FFFFFF"/>
                </a:solidFill>
                <a:latin typeface="HK Grotesk Bold"/>
                <a:ea typeface="HK Grotesk Bold"/>
                <a:cs typeface="HK Grotesk Bold"/>
                <a:sym typeface="HK Grotesk Bold"/>
              </a:rPr>
              <a:t>Qualitative Methods</a:t>
            </a:r>
          </a:p>
        </p:txBody>
      </p:sp>
      <p:sp>
        <p:nvSpPr>
          <p:cNvPr name="TextBox 14" id="14"/>
          <p:cNvSpPr txBox="true"/>
          <p:nvPr/>
        </p:nvSpPr>
        <p:spPr>
          <a:xfrm rot="0">
            <a:off x="1028700" y="3328675"/>
            <a:ext cx="8115300"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15" id="15"/>
          <p:cNvGrpSpPr/>
          <p:nvPr/>
        </p:nvGrpSpPr>
        <p:grpSpPr>
          <a:xfrm rot="0">
            <a:off x="279200" y="387555"/>
            <a:ext cx="2155619" cy="21556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18" id="18"/>
          <p:cNvSpPr txBox="true"/>
          <p:nvPr/>
        </p:nvSpPr>
        <p:spPr>
          <a:xfrm rot="0">
            <a:off x="1028700" y="1314450"/>
            <a:ext cx="823845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Methodology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08177" y="659663"/>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157677" y="1315483"/>
            <a:ext cx="7101623"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Qualita</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tive </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Data</a:t>
            </a:r>
          </a:p>
        </p:txBody>
      </p:sp>
      <p:sp>
        <p:nvSpPr>
          <p:cNvPr name="TextBox 6" id="6"/>
          <p:cNvSpPr txBox="true"/>
          <p:nvPr/>
        </p:nvSpPr>
        <p:spPr>
          <a:xfrm rot="0">
            <a:off x="10157677" y="5158995"/>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7" id="7"/>
          <p:cNvSpPr txBox="true"/>
          <p:nvPr/>
        </p:nvSpPr>
        <p:spPr>
          <a:xfrm rot="0">
            <a:off x="10157677" y="7742301"/>
            <a:ext cx="7101623" cy="15159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grpSp>
        <p:nvGrpSpPr>
          <p:cNvPr name="Group 8" id="8"/>
          <p:cNvGrpSpPr/>
          <p:nvPr/>
        </p:nvGrpSpPr>
        <p:grpSpPr>
          <a:xfrm rot="0">
            <a:off x="1028700" y="5366834"/>
            <a:ext cx="3315174" cy="2816090"/>
            <a:chOff x="0" y="0"/>
            <a:chExt cx="552217" cy="469083"/>
          </a:xfrm>
        </p:grpSpPr>
        <p:sp>
          <p:nvSpPr>
            <p:cNvPr name="Freeform 9" id="9"/>
            <p:cNvSpPr/>
            <p:nvPr/>
          </p:nvSpPr>
          <p:spPr>
            <a:xfrm flipH="false" flipV="false" rot="0">
              <a:off x="0" y="0"/>
              <a:ext cx="552217" cy="469083"/>
            </a:xfrm>
            <a:custGeom>
              <a:avLst/>
              <a:gdLst/>
              <a:ahLst/>
              <a:cxnLst/>
              <a:rect r="r" b="b" t="t" l="l"/>
              <a:pathLst>
                <a:path h="469083" w="552217">
                  <a:moveTo>
                    <a:pt x="81735" y="0"/>
                  </a:moveTo>
                  <a:lnTo>
                    <a:pt x="470481" y="0"/>
                  </a:lnTo>
                  <a:cubicBezTo>
                    <a:pt x="515622" y="0"/>
                    <a:pt x="552217" y="36594"/>
                    <a:pt x="552217" y="81735"/>
                  </a:cubicBezTo>
                  <a:lnTo>
                    <a:pt x="552217" y="387348"/>
                  </a:lnTo>
                  <a:cubicBezTo>
                    <a:pt x="552217" y="409025"/>
                    <a:pt x="543605" y="429815"/>
                    <a:pt x="528277" y="445143"/>
                  </a:cubicBezTo>
                  <a:cubicBezTo>
                    <a:pt x="512948" y="460472"/>
                    <a:pt x="492159" y="469083"/>
                    <a:pt x="470481" y="469083"/>
                  </a:cubicBezTo>
                  <a:lnTo>
                    <a:pt x="81735" y="469083"/>
                  </a:lnTo>
                  <a:cubicBezTo>
                    <a:pt x="60058" y="469083"/>
                    <a:pt x="39268" y="460472"/>
                    <a:pt x="23940" y="445143"/>
                  </a:cubicBezTo>
                  <a:cubicBezTo>
                    <a:pt x="8611" y="429815"/>
                    <a:pt x="0" y="409025"/>
                    <a:pt x="0" y="387348"/>
                  </a:cubicBezTo>
                  <a:lnTo>
                    <a:pt x="0" y="81735"/>
                  </a:lnTo>
                  <a:cubicBezTo>
                    <a:pt x="0" y="60058"/>
                    <a:pt x="8611" y="39268"/>
                    <a:pt x="23940" y="23940"/>
                  </a:cubicBezTo>
                  <a:cubicBezTo>
                    <a:pt x="39268" y="8611"/>
                    <a:pt x="60058" y="0"/>
                    <a:pt x="81735" y="0"/>
                  </a:cubicBezTo>
                  <a:close/>
                </a:path>
              </a:pathLst>
            </a:custGeom>
            <a:blipFill>
              <a:blip r:embed="rId2"/>
              <a:stretch>
                <a:fillRect l="-55733" t="-32168" r="-114675" b="-80245"/>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0" id="10"/>
          <p:cNvGrpSpPr/>
          <p:nvPr/>
        </p:nvGrpSpPr>
        <p:grpSpPr>
          <a:xfrm rot="0">
            <a:off x="1028700" y="1295442"/>
            <a:ext cx="3315174" cy="2816090"/>
            <a:chOff x="0" y="0"/>
            <a:chExt cx="552217" cy="469083"/>
          </a:xfrm>
        </p:grpSpPr>
        <p:sp>
          <p:nvSpPr>
            <p:cNvPr name="Freeform 11" id="11"/>
            <p:cNvSpPr/>
            <p:nvPr/>
          </p:nvSpPr>
          <p:spPr>
            <a:xfrm flipH="true" flipV="false" rot="0">
              <a:off x="0" y="0"/>
              <a:ext cx="552217" cy="469083"/>
            </a:xfrm>
            <a:custGeom>
              <a:avLst/>
              <a:gdLst/>
              <a:ahLst/>
              <a:cxnLst/>
              <a:rect r="r" b="b" t="t" l="l"/>
              <a:pathLst>
                <a:path h="469083" w="552217">
                  <a:moveTo>
                    <a:pt x="470481" y="0"/>
                  </a:moveTo>
                  <a:lnTo>
                    <a:pt x="81735" y="0"/>
                  </a:lnTo>
                  <a:cubicBezTo>
                    <a:pt x="36594" y="0"/>
                    <a:pt x="0" y="36594"/>
                    <a:pt x="0" y="81735"/>
                  </a:cubicBezTo>
                  <a:lnTo>
                    <a:pt x="0" y="387348"/>
                  </a:lnTo>
                  <a:cubicBezTo>
                    <a:pt x="0" y="409025"/>
                    <a:pt x="8611" y="429815"/>
                    <a:pt x="23940" y="445143"/>
                  </a:cubicBezTo>
                  <a:cubicBezTo>
                    <a:pt x="39268" y="460472"/>
                    <a:pt x="60058" y="469083"/>
                    <a:pt x="81735" y="469083"/>
                  </a:cubicBezTo>
                  <a:lnTo>
                    <a:pt x="470481" y="469083"/>
                  </a:lnTo>
                  <a:cubicBezTo>
                    <a:pt x="492159" y="469083"/>
                    <a:pt x="512948" y="460472"/>
                    <a:pt x="528277" y="445143"/>
                  </a:cubicBezTo>
                  <a:cubicBezTo>
                    <a:pt x="543605" y="429815"/>
                    <a:pt x="552217" y="409025"/>
                    <a:pt x="552217" y="387348"/>
                  </a:cubicBezTo>
                  <a:lnTo>
                    <a:pt x="552217" y="81735"/>
                  </a:lnTo>
                  <a:cubicBezTo>
                    <a:pt x="552217" y="60058"/>
                    <a:pt x="543605" y="39268"/>
                    <a:pt x="528277" y="23940"/>
                  </a:cubicBezTo>
                  <a:cubicBezTo>
                    <a:pt x="512948" y="8611"/>
                    <a:pt x="492159" y="0"/>
                    <a:pt x="470481" y="0"/>
                  </a:cubicBezTo>
                  <a:close/>
                </a:path>
              </a:pathLst>
            </a:custGeom>
            <a:blipFill>
              <a:blip r:embed="rId3"/>
              <a:stretch>
                <a:fillRect l="-10918" t="-14235" r="-107400" b="-5726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2" id="12"/>
          <p:cNvGrpSpPr/>
          <p:nvPr/>
        </p:nvGrpSpPr>
        <p:grpSpPr>
          <a:xfrm rot="0">
            <a:off x="4755072" y="5366834"/>
            <a:ext cx="3315174" cy="2816090"/>
            <a:chOff x="0" y="0"/>
            <a:chExt cx="552217" cy="469083"/>
          </a:xfrm>
        </p:grpSpPr>
        <p:sp>
          <p:nvSpPr>
            <p:cNvPr name="Freeform 13" id="13"/>
            <p:cNvSpPr/>
            <p:nvPr/>
          </p:nvSpPr>
          <p:spPr>
            <a:xfrm flipH="false" flipV="false" rot="0">
              <a:off x="0" y="0"/>
              <a:ext cx="552217" cy="469083"/>
            </a:xfrm>
            <a:custGeom>
              <a:avLst/>
              <a:gdLst/>
              <a:ahLst/>
              <a:cxnLst/>
              <a:rect r="r" b="b" t="t" l="l"/>
              <a:pathLst>
                <a:path h="469083" w="552217">
                  <a:moveTo>
                    <a:pt x="81735" y="0"/>
                  </a:moveTo>
                  <a:lnTo>
                    <a:pt x="470481" y="0"/>
                  </a:lnTo>
                  <a:cubicBezTo>
                    <a:pt x="515622" y="0"/>
                    <a:pt x="552217" y="36594"/>
                    <a:pt x="552217" y="81735"/>
                  </a:cubicBezTo>
                  <a:lnTo>
                    <a:pt x="552217" y="387348"/>
                  </a:lnTo>
                  <a:cubicBezTo>
                    <a:pt x="552217" y="409025"/>
                    <a:pt x="543605" y="429815"/>
                    <a:pt x="528277" y="445143"/>
                  </a:cubicBezTo>
                  <a:cubicBezTo>
                    <a:pt x="512948" y="460472"/>
                    <a:pt x="492159" y="469083"/>
                    <a:pt x="470481" y="469083"/>
                  </a:cubicBezTo>
                  <a:lnTo>
                    <a:pt x="81735" y="469083"/>
                  </a:lnTo>
                  <a:cubicBezTo>
                    <a:pt x="60058" y="469083"/>
                    <a:pt x="39268" y="460472"/>
                    <a:pt x="23940" y="445143"/>
                  </a:cubicBezTo>
                  <a:cubicBezTo>
                    <a:pt x="8611" y="429815"/>
                    <a:pt x="0" y="409025"/>
                    <a:pt x="0" y="387348"/>
                  </a:cubicBezTo>
                  <a:lnTo>
                    <a:pt x="0" y="81735"/>
                  </a:lnTo>
                  <a:cubicBezTo>
                    <a:pt x="0" y="60058"/>
                    <a:pt x="8611" y="39268"/>
                    <a:pt x="23940" y="23940"/>
                  </a:cubicBezTo>
                  <a:cubicBezTo>
                    <a:pt x="39268" y="8611"/>
                    <a:pt x="60058" y="0"/>
                    <a:pt x="81735" y="0"/>
                  </a:cubicBezTo>
                  <a:close/>
                </a:path>
              </a:pathLst>
            </a:custGeom>
            <a:blipFill>
              <a:blip r:embed="rId4"/>
              <a:stretch>
                <a:fillRect l="-93908" t="-37959" r="-56826" b="-5900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4755072" y="1295442"/>
            <a:ext cx="3315174" cy="2816090"/>
            <a:chOff x="0" y="0"/>
            <a:chExt cx="552217" cy="469083"/>
          </a:xfrm>
        </p:grpSpPr>
        <p:sp>
          <p:nvSpPr>
            <p:cNvPr name="Freeform 15" id="15"/>
            <p:cNvSpPr/>
            <p:nvPr/>
          </p:nvSpPr>
          <p:spPr>
            <a:xfrm flipH="true" flipV="false" rot="0">
              <a:off x="0" y="0"/>
              <a:ext cx="552217" cy="469083"/>
            </a:xfrm>
            <a:custGeom>
              <a:avLst/>
              <a:gdLst/>
              <a:ahLst/>
              <a:cxnLst/>
              <a:rect r="r" b="b" t="t" l="l"/>
              <a:pathLst>
                <a:path h="469083" w="552217">
                  <a:moveTo>
                    <a:pt x="470481" y="0"/>
                  </a:moveTo>
                  <a:lnTo>
                    <a:pt x="81735" y="0"/>
                  </a:lnTo>
                  <a:cubicBezTo>
                    <a:pt x="36594" y="0"/>
                    <a:pt x="0" y="36594"/>
                    <a:pt x="0" y="81735"/>
                  </a:cubicBezTo>
                  <a:lnTo>
                    <a:pt x="0" y="387348"/>
                  </a:lnTo>
                  <a:cubicBezTo>
                    <a:pt x="0" y="409025"/>
                    <a:pt x="8611" y="429815"/>
                    <a:pt x="23940" y="445143"/>
                  </a:cubicBezTo>
                  <a:cubicBezTo>
                    <a:pt x="39268" y="460472"/>
                    <a:pt x="60058" y="469083"/>
                    <a:pt x="81735" y="469083"/>
                  </a:cubicBezTo>
                  <a:lnTo>
                    <a:pt x="470481" y="469083"/>
                  </a:lnTo>
                  <a:cubicBezTo>
                    <a:pt x="492159" y="469083"/>
                    <a:pt x="512948" y="460472"/>
                    <a:pt x="528277" y="445143"/>
                  </a:cubicBezTo>
                  <a:cubicBezTo>
                    <a:pt x="543605" y="429815"/>
                    <a:pt x="552217" y="409025"/>
                    <a:pt x="552217" y="387348"/>
                  </a:cubicBezTo>
                  <a:lnTo>
                    <a:pt x="552217" y="81735"/>
                  </a:lnTo>
                  <a:cubicBezTo>
                    <a:pt x="552217" y="60058"/>
                    <a:pt x="543605" y="39268"/>
                    <a:pt x="528277" y="23940"/>
                  </a:cubicBezTo>
                  <a:cubicBezTo>
                    <a:pt x="512948" y="8611"/>
                    <a:pt x="492159" y="0"/>
                    <a:pt x="470481" y="0"/>
                  </a:cubicBezTo>
                  <a:close/>
                </a:path>
              </a:pathLst>
            </a:custGeom>
            <a:blipFill>
              <a:blip r:embed="rId5"/>
              <a:stretch>
                <a:fillRect l="-21860" t="-55718" r="-32007" b="-116158"/>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6" id="16"/>
          <p:cNvSpPr txBox="true"/>
          <p:nvPr/>
        </p:nvSpPr>
        <p:spPr>
          <a:xfrm rot="0">
            <a:off x="1028700" y="8814491"/>
            <a:ext cx="3285424" cy="265206"/>
          </a:xfrm>
          <a:prstGeom prst="rect">
            <a:avLst/>
          </a:prstGeom>
        </p:spPr>
        <p:txBody>
          <a:bodyPr anchor="t" rtlCol="false" tIns="0" lIns="0" bIns="0" rIns="0">
            <a:spAutoFit/>
          </a:bodyPr>
          <a:lstStyle/>
          <a:p>
            <a:pPr algn="l" marL="0" indent="0" lvl="0">
              <a:lnSpc>
                <a:spcPts val="2153"/>
              </a:lnSpc>
              <a:spcBef>
                <a:spcPct val="0"/>
              </a:spcBef>
            </a:pPr>
            <a:r>
              <a:rPr lang="en-US" sz="1722" spc="-51">
                <a:solidFill>
                  <a:srgbClr val="FFFFFF"/>
                </a:solidFill>
                <a:latin typeface="HK Grotesk"/>
                <a:ea typeface="HK Grotesk"/>
                <a:cs typeface="HK Grotesk"/>
                <a:sym typeface="HK Grotesk"/>
              </a:rPr>
              <a:t>Actor</a:t>
            </a:r>
          </a:p>
        </p:txBody>
      </p:sp>
      <p:sp>
        <p:nvSpPr>
          <p:cNvPr name="TextBox 17" id="17"/>
          <p:cNvSpPr txBox="true"/>
          <p:nvPr/>
        </p:nvSpPr>
        <p:spPr>
          <a:xfrm rot="0">
            <a:off x="1028700" y="4743099"/>
            <a:ext cx="3285424" cy="230410"/>
          </a:xfrm>
          <a:prstGeom prst="rect">
            <a:avLst/>
          </a:prstGeom>
        </p:spPr>
        <p:txBody>
          <a:bodyPr anchor="t" rtlCol="false" tIns="0" lIns="0" bIns="0" rIns="0">
            <a:spAutoFit/>
          </a:bodyPr>
          <a:lstStyle/>
          <a:p>
            <a:pPr algn="l" marL="0" indent="0" lvl="0">
              <a:lnSpc>
                <a:spcPts val="1860"/>
              </a:lnSpc>
              <a:spcBef>
                <a:spcPct val="0"/>
              </a:spcBef>
            </a:pPr>
            <a:r>
              <a:rPr lang="en-US" sz="1488" spc="-44">
                <a:solidFill>
                  <a:srgbClr val="FFFFFF"/>
                </a:solidFill>
                <a:latin typeface="HK Grotesk"/>
                <a:ea typeface="HK Grotesk"/>
                <a:cs typeface="HK Grotesk"/>
                <a:sym typeface="HK Grotesk"/>
              </a:rPr>
              <a:t>Accountant</a:t>
            </a:r>
          </a:p>
        </p:txBody>
      </p:sp>
      <p:sp>
        <p:nvSpPr>
          <p:cNvPr name="TextBox 18" id="18"/>
          <p:cNvSpPr txBox="true"/>
          <p:nvPr/>
        </p:nvSpPr>
        <p:spPr>
          <a:xfrm rot="0">
            <a:off x="4755072" y="8814491"/>
            <a:ext cx="3315174" cy="265206"/>
          </a:xfrm>
          <a:prstGeom prst="rect">
            <a:avLst/>
          </a:prstGeom>
        </p:spPr>
        <p:txBody>
          <a:bodyPr anchor="t" rtlCol="false" tIns="0" lIns="0" bIns="0" rIns="0">
            <a:spAutoFit/>
          </a:bodyPr>
          <a:lstStyle/>
          <a:p>
            <a:pPr algn="l" marL="0" indent="0" lvl="0">
              <a:lnSpc>
                <a:spcPts val="2153"/>
              </a:lnSpc>
              <a:spcBef>
                <a:spcPct val="0"/>
              </a:spcBef>
            </a:pPr>
            <a:r>
              <a:rPr lang="en-US" sz="1722" spc="-51">
                <a:solidFill>
                  <a:srgbClr val="FFFFFF"/>
                </a:solidFill>
                <a:latin typeface="HK Grotesk"/>
                <a:ea typeface="HK Grotesk"/>
                <a:cs typeface="HK Grotesk"/>
                <a:sym typeface="HK Grotesk"/>
              </a:rPr>
              <a:t>Scie</a:t>
            </a:r>
            <a:r>
              <a:rPr lang="en-US" sz="1722" spc="-51" strike="noStrike" u="none">
                <a:solidFill>
                  <a:srgbClr val="FFFFFF"/>
                </a:solidFill>
                <a:latin typeface="HK Grotesk"/>
                <a:ea typeface="HK Grotesk"/>
                <a:cs typeface="HK Grotesk"/>
                <a:sym typeface="HK Grotesk"/>
              </a:rPr>
              <a:t>ntist</a:t>
            </a:r>
          </a:p>
        </p:txBody>
      </p:sp>
      <p:sp>
        <p:nvSpPr>
          <p:cNvPr name="TextBox 19" id="19"/>
          <p:cNvSpPr txBox="true"/>
          <p:nvPr/>
        </p:nvSpPr>
        <p:spPr>
          <a:xfrm rot="0">
            <a:off x="4755072" y="4743099"/>
            <a:ext cx="3315174" cy="230410"/>
          </a:xfrm>
          <a:prstGeom prst="rect">
            <a:avLst/>
          </a:prstGeom>
        </p:spPr>
        <p:txBody>
          <a:bodyPr anchor="t" rtlCol="false" tIns="0" lIns="0" bIns="0" rIns="0">
            <a:spAutoFit/>
          </a:bodyPr>
          <a:lstStyle/>
          <a:p>
            <a:pPr algn="l" marL="0" indent="0" lvl="0">
              <a:lnSpc>
                <a:spcPts val="1860"/>
              </a:lnSpc>
              <a:spcBef>
                <a:spcPct val="0"/>
              </a:spcBef>
            </a:pPr>
            <a:r>
              <a:rPr lang="en-US" sz="1488" spc="-44">
                <a:solidFill>
                  <a:srgbClr val="FFFFFF"/>
                </a:solidFill>
                <a:latin typeface="HK Grotesk"/>
                <a:ea typeface="HK Grotesk"/>
                <a:cs typeface="HK Grotesk"/>
                <a:sym typeface="HK Grotesk"/>
              </a:rPr>
              <a:t>Jour</a:t>
            </a:r>
            <a:r>
              <a:rPr lang="en-US" sz="1488" spc="-44" strike="noStrike" u="none">
                <a:solidFill>
                  <a:srgbClr val="FFFFFF"/>
                </a:solidFill>
                <a:latin typeface="HK Grotesk"/>
                <a:ea typeface="HK Grotesk"/>
                <a:cs typeface="HK Grotesk"/>
                <a:sym typeface="HK Grotesk"/>
              </a:rPr>
              <a:t>nalist</a:t>
            </a:r>
          </a:p>
        </p:txBody>
      </p:sp>
      <p:sp>
        <p:nvSpPr>
          <p:cNvPr name="TextBox 20" id="20"/>
          <p:cNvSpPr txBox="true"/>
          <p:nvPr/>
        </p:nvSpPr>
        <p:spPr>
          <a:xfrm rot="0">
            <a:off x="1028700" y="8383817"/>
            <a:ext cx="328542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Aaron Loeb</a:t>
            </a:r>
          </a:p>
        </p:txBody>
      </p:sp>
      <p:sp>
        <p:nvSpPr>
          <p:cNvPr name="TextBox 21" id="21"/>
          <p:cNvSpPr txBox="true"/>
          <p:nvPr/>
        </p:nvSpPr>
        <p:spPr>
          <a:xfrm rot="0">
            <a:off x="1028700" y="4312424"/>
            <a:ext cx="3285424" cy="365960"/>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Richard Sanchez</a:t>
            </a:r>
          </a:p>
        </p:txBody>
      </p:sp>
      <p:sp>
        <p:nvSpPr>
          <p:cNvPr name="TextBox 22" id="22"/>
          <p:cNvSpPr txBox="true"/>
          <p:nvPr/>
        </p:nvSpPr>
        <p:spPr>
          <a:xfrm rot="0">
            <a:off x="4755072" y="8383817"/>
            <a:ext cx="331517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Murad Naser</a:t>
            </a:r>
          </a:p>
        </p:txBody>
      </p:sp>
      <p:sp>
        <p:nvSpPr>
          <p:cNvPr name="TextBox 23" id="23"/>
          <p:cNvSpPr txBox="true"/>
          <p:nvPr/>
        </p:nvSpPr>
        <p:spPr>
          <a:xfrm rot="0">
            <a:off x="4755072" y="4312424"/>
            <a:ext cx="331517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Rufus Stewart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08177" y="659663"/>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157677" y="1315483"/>
            <a:ext cx="7101623" cy="2362199"/>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Quantita</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tive Data</a:t>
            </a:r>
          </a:p>
        </p:txBody>
      </p:sp>
      <p:sp>
        <p:nvSpPr>
          <p:cNvPr name="TextBox 6" id="6"/>
          <p:cNvSpPr txBox="true"/>
          <p:nvPr/>
        </p:nvSpPr>
        <p:spPr>
          <a:xfrm rot="0">
            <a:off x="10157677" y="4082957"/>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grpSp>
        <p:nvGrpSpPr>
          <p:cNvPr name="Group 7" id="7"/>
          <p:cNvGrpSpPr/>
          <p:nvPr/>
        </p:nvGrpSpPr>
        <p:grpSpPr>
          <a:xfrm rot="0">
            <a:off x="1028700" y="1028700"/>
            <a:ext cx="7553862" cy="8229600"/>
            <a:chOff x="0" y="0"/>
            <a:chExt cx="1989495" cy="2167467"/>
          </a:xfrm>
        </p:grpSpPr>
        <p:sp>
          <p:nvSpPr>
            <p:cNvPr name="Freeform 8" id="8"/>
            <p:cNvSpPr/>
            <p:nvPr/>
          </p:nvSpPr>
          <p:spPr>
            <a:xfrm flipH="false" flipV="false" rot="0">
              <a:off x="0" y="0"/>
              <a:ext cx="1989495" cy="2167467"/>
            </a:xfrm>
            <a:custGeom>
              <a:avLst/>
              <a:gdLst/>
              <a:ahLst/>
              <a:cxnLst/>
              <a:rect r="r" b="b" t="t" l="l"/>
              <a:pathLst>
                <a:path h="2167467" w="1989495">
                  <a:moveTo>
                    <a:pt x="102490" y="0"/>
                  </a:moveTo>
                  <a:lnTo>
                    <a:pt x="1887005" y="0"/>
                  </a:lnTo>
                  <a:cubicBezTo>
                    <a:pt x="1914187" y="0"/>
                    <a:pt x="1940256" y="10798"/>
                    <a:pt x="1959476" y="30018"/>
                  </a:cubicBezTo>
                  <a:cubicBezTo>
                    <a:pt x="1978697" y="49239"/>
                    <a:pt x="1989495" y="75308"/>
                    <a:pt x="1989495" y="102490"/>
                  </a:cubicBezTo>
                  <a:lnTo>
                    <a:pt x="1989495" y="2064977"/>
                  </a:lnTo>
                  <a:cubicBezTo>
                    <a:pt x="1989495" y="2121581"/>
                    <a:pt x="1943608" y="2167467"/>
                    <a:pt x="1887005" y="2167467"/>
                  </a:cubicBezTo>
                  <a:lnTo>
                    <a:pt x="102490" y="2167467"/>
                  </a:lnTo>
                  <a:cubicBezTo>
                    <a:pt x="75308" y="2167467"/>
                    <a:pt x="49239" y="2156669"/>
                    <a:pt x="30018" y="2137448"/>
                  </a:cubicBezTo>
                  <a:cubicBezTo>
                    <a:pt x="10798" y="2118228"/>
                    <a:pt x="0" y="2092159"/>
                    <a:pt x="0" y="2064977"/>
                  </a:cubicBezTo>
                  <a:lnTo>
                    <a:pt x="0" y="102490"/>
                  </a:lnTo>
                  <a:cubicBezTo>
                    <a:pt x="0" y="75308"/>
                    <a:pt x="10798" y="49239"/>
                    <a:pt x="30018" y="30018"/>
                  </a:cubicBezTo>
                  <a:cubicBezTo>
                    <a:pt x="49239" y="10798"/>
                    <a:pt x="75308" y="0"/>
                    <a:pt x="10249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1989495" cy="2167467"/>
            </a:xfrm>
            <a:prstGeom prst="rect">
              <a:avLst/>
            </a:prstGeom>
          </p:spPr>
          <p:txBody>
            <a:bodyPr anchor="ctr" rtlCol="false" tIns="50800" lIns="50800" bIns="50800" rIns="50800"/>
            <a:lstStyle/>
            <a:p>
              <a:pPr algn="ctr">
                <a:lnSpc>
                  <a:spcPts val="3119"/>
                </a:lnSpc>
              </a:pPr>
            </a:p>
            <a:p>
              <a:pPr algn="ctr">
                <a:lnSpc>
                  <a:spcPts val="3119"/>
                </a:lnSpc>
              </a:pPr>
            </a:p>
          </p:txBody>
        </p:sp>
      </p:grpSp>
      <p:pic>
        <p:nvPicPr>
          <p:cNvPr name="Picture 10" id="10"/>
          <p:cNvPicPr>
            <a:picLocks noChangeAspect="true"/>
          </p:cNvPicPr>
          <p:nvPr/>
        </p:nvPicPr>
        <p:blipFill>
          <a:blip r:embed="rId2"/>
          <a:stretch>
            <a:fillRect/>
          </a:stretch>
        </p:blipFill>
        <p:spPr>
          <a:xfrm rot="0">
            <a:off x="10114892" y="6321652"/>
            <a:ext cx="7187194" cy="3535581"/>
          </a:xfrm>
          <a:prstGeom prst="rect">
            <a:avLst/>
          </a:prstGeom>
        </p:spPr>
      </p:pic>
      <p:pic>
        <p:nvPicPr>
          <p:cNvPr name="Picture 11" id="11"/>
          <p:cNvPicPr>
            <a:picLocks noChangeAspect="true"/>
          </p:cNvPicPr>
          <p:nvPr/>
        </p:nvPicPr>
        <p:blipFill>
          <a:blip r:embed="rId3"/>
          <a:stretch>
            <a:fillRect/>
          </a:stretch>
        </p:blipFill>
        <p:spPr>
          <a:xfrm rot="0">
            <a:off x="1011865" y="709974"/>
            <a:ext cx="7587533" cy="8900141"/>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92211"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3641711" y="1314450"/>
            <a:ext cx="11754079"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Proposed Timeline</a:t>
            </a:r>
          </a:p>
        </p:txBody>
      </p:sp>
      <p:grpSp>
        <p:nvGrpSpPr>
          <p:cNvPr name="Group 6" id="6"/>
          <p:cNvGrpSpPr/>
          <p:nvPr/>
        </p:nvGrpSpPr>
        <p:grpSpPr>
          <a:xfrm rot="0">
            <a:off x="1028700" y="3930099"/>
            <a:ext cx="16230600" cy="3413234"/>
            <a:chOff x="0" y="0"/>
            <a:chExt cx="4274726" cy="898959"/>
          </a:xfrm>
        </p:grpSpPr>
        <p:sp>
          <p:nvSpPr>
            <p:cNvPr name="Freeform 7" id="7"/>
            <p:cNvSpPr/>
            <p:nvPr/>
          </p:nvSpPr>
          <p:spPr>
            <a:xfrm flipH="false" flipV="false" rot="0">
              <a:off x="0" y="0"/>
              <a:ext cx="4274726" cy="898959"/>
            </a:xfrm>
            <a:custGeom>
              <a:avLst/>
              <a:gdLst/>
              <a:ahLst/>
              <a:cxnLst/>
              <a:rect r="r" b="b" t="t" l="l"/>
              <a:pathLst>
                <a:path h="898959" w="4274726">
                  <a:moveTo>
                    <a:pt x="20511" y="0"/>
                  </a:moveTo>
                  <a:lnTo>
                    <a:pt x="4254215" y="0"/>
                  </a:lnTo>
                  <a:cubicBezTo>
                    <a:pt x="4259655" y="0"/>
                    <a:pt x="4264872" y="2161"/>
                    <a:pt x="4268719" y="6007"/>
                  </a:cubicBezTo>
                  <a:cubicBezTo>
                    <a:pt x="4272565" y="9854"/>
                    <a:pt x="4274726" y="15071"/>
                    <a:pt x="4274726" y="20511"/>
                  </a:cubicBezTo>
                  <a:lnTo>
                    <a:pt x="4274726" y="878448"/>
                  </a:lnTo>
                  <a:cubicBezTo>
                    <a:pt x="4274726" y="883888"/>
                    <a:pt x="4272565" y="889105"/>
                    <a:pt x="4268719" y="892951"/>
                  </a:cubicBezTo>
                  <a:cubicBezTo>
                    <a:pt x="4264872" y="896798"/>
                    <a:pt x="4259655" y="898959"/>
                    <a:pt x="4254215" y="898959"/>
                  </a:cubicBezTo>
                  <a:lnTo>
                    <a:pt x="20511" y="898959"/>
                  </a:lnTo>
                  <a:cubicBezTo>
                    <a:pt x="15071" y="898959"/>
                    <a:pt x="9854" y="896798"/>
                    <a:pt x="6007" y="892951"/>
                  </a:cubicBezTo>
                  <a:cubicBezTo>
                    <a:pt x="2161" y="889105"/>
                    <a:pt x="0" y="883888"/>
                    <a:pt x="0" y="878448"/>
                  </a:cubicBezTo>
                  <a:lnTo>
                    <a:pt x="0" y="20511"/>
                  </a:lnTo>
                  <a:cubicBezTo>
                    <a:pt x="0" y="15071"/>
                    <a:pt x="2161" y="9854"/>
                    <a:pt x="6007" y="6007"/>
                  </a:cubicBezTo>
                  <a:cubicBezTo>
                    <a:pt x="9854" y="2161"/>
                    <a:pt x="15071" y="0"/>
                    <a:pt x="2051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898959"/>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9" id="9"/>
          <p:cNvGrpSpPr/>
          <p:nvPr/>
        </p:nvGrpSpPr>
        <p:grpSpPr>
          <a:xfrm rot="0">
            <a:off x="1259132" y="3580317"/>
            <a:ext cx="3519226" cy="737665"/>
            <a:chOff x="0" y="0"/>
            <a:chExt cx="926874" cy="194282"/>
          </a:xfrm>
        </p:grpSpPr>
        <p:sp>
          <p:nvSpPr>
            <p:cNvPr name="Freeform 10" id="10"/>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11" id="11"/>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342550" y="3580317"/>
            <a:ext cx="3519226" cy="737665"/>
            <a:chOff x="0" y="0"/>
            <a:chExt cx="926874" cy="194282"/>
          </a:xfrm>
        </p:grpSpPr>
        <p:sp>
          <p:nvSpPr>
            <p:cNvPr name="Freeform 13" id="13"/>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14" id="14"/>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419712" y="4926694"/>
            <a:ext cx="3198067"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Finalize Research Proposal Outline and Objectives</a:t>
            </a:r>
          </a:p>
        </p:txBody>
      </p:sp>
      <p:sp>
        <p:nvSpPr>
          <p:cNvPr name="TextBox 16" id="16"/>
          <p:cNvSpPr txBox="true"/>
          <p:nvPr/>
        </p:nvSpPr>
        <p:spPr>
          <a:xfrm rot="0">
            <a:off x="1419712" y="6258334"/>
            <a:ext cx="3198067"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Conduct Literature Review on Relevant Theories and Concepts</a:t>
            </a:r>
          </a:p>
        </p:txBody>
      </p:sp>
      <p:sp>
        <p:nvSpPr>
          <p:cNvPr name="TextBox 17" id="17"/>
          <p:cNvSpPr txBox="true"/>
          <p:nvPr/>
        </p:nvSpPr>
        <p:spPr>
          <a:xfrm rot="0">
            <a:off x="5526986" y="4788581"/>
            <a:ext cx="3149840" cy="822706"/>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Develop Research Methodology and Instruments (Qualitative and Quantitative)</a:t>
            </a:r>
          </a:p>
        </p:txBody>
      </p:sp>
      <p:sp>
        <p:nvSpPr>
          <p:cNvPr name="TextBox 18" id="18"/>
          <p:cNvSpPr txBox="true"/>
          <p:nvPr/>
        </p:nvSpPr>
        <p:spPr>
          <a:xfrm rot="0">
            <a:off x="5526986" y="6258334"/>
            <a:ext cx="3149840"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Obtain Ethical Approval and Permissions for Data Collection</a:t>
            </a:r>
          </a:p>
        </p:txBody>
      </p:sp>
      <p:grpSp>
        <p:nvGrpSpPr>
          <p:cNvPr name="Group 19" id="19"/>
          <p:cNvGrpSpPr/>
          <p:nvPr/>
        </p:nvGrpSpPr>
        <p:grpSpPr>
          <a:xfrm rot="0">
            <a:off x="9425967" y="3580317"/>
            <a:ext cx="3519226" cy="737665"/>
            <a:chOff x="0" y="0"/>
            <a:chExt cx="926874" cy="194282"/>
          </a:xfrm>
        </p:grpSpPr>
        <p:sp>
          <p:nvSpPr>
            <p:cNvPr name="Freeform 20" id="20"/>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21" id="21"/>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3509642" y="3580317"/>
            <a:ext cx="3519226" cy="737665"/>
            <a:chOff x="0" y="0"/>
            <a:chExt cx="926874" cy="194282"/>
          </a:xfrm>
        </p:grpSpPr>
        <p:sp>
          <p:nvSpPr>
            <p:cNvPr name="Freeform 23" id="23"/>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24" id="24"/>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259132"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January</a:t>
            </a:r>
          </a:p>
        </p:txBody>
      </p:sp>
      <p:sp>
        <p:nvSpPr>
          <p:cNvPr name="TextBox 26" id="26"/>
          <p:cNvSpPr txBox="true"/>
          <p:nvPr/>
        </p:nvSpPr>
        <p:spPr>
          <a:xfrm rot="0">
            <a:off x="5342293"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February</a:t>
            </a:r>
          </a:p>
        </p:txBody>
      </p:sp>
      <p:sp>
        <p:nvSpPr>
          <p:cNvPr name="TextBox 27" id="27"/>
          <p:cNvSpPr txBox="true"/>
          <p:nvPr/>
        </p:nvSpPr>
        <p:spPr>
          <a:xfrm rot="0">
            <a:off x="9425967"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March</a:t>
            </a:r>
          </a:p>
        </p:txBody>
      </p:sp>
      <p:sp>
        <p:nvSpPr>
          <p:cNvPr name="TextBox 28" id="28"/>
          <p:cNvSpPr txBox="true"/>
          <p:nvPr/>
        </p:nvSpPr>
        <p:spPr>
          <a:xfrm rot="0">
            <a:off x="13509642"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April</a:t>
            </a:r>
          </a:p>
        </p:txBody>
      </p:sp>
      <p:sp>
        <p:nvSpPr>
          <p:cNvPr name="TextBox 29" id="29"/>
          <p:cNvSpPr txBox="true"/>
          <p:nvPr/>
        </p:nvSpPr>
        <p:spPr>
          <a:xfrm rot="0">
            <a:off x="9802741" y="4788581"/>
            <a:ext cx="2765678" cy="822706"/>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Recruit Participants for Qualitative Interviews and Focus Groups</a:t>
            </a:r>
          </a:p>
        </p:txBody>
      </p:sp>
      <p:sp>
        <p:nvSpPr>
          <p:cNvPr name="TextBox 30" id="30"/>
          <p:cNvSpPr txBox="true"/>
          <p:nvPr/>
        </p:nvSpPr>
        <p:spPr>
          <a:xfrm rot="0">
            <a:off x="9802741" y="6258334"/>
            <a:ext cx="2765678"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Conduct Qualitative Data Collection</a:t>
            </a:r>
          </a:p>
        </p:txBody>
      </p:sp>
      <p:sp>
        <p:nvSpPr>
          <p:cNvPr name="TextBox 31" id="31"/>
          <p:cNvSpPr txBox="true"/>
          <p:nvPr/>
        </p:nvSpPr>
        <p:spPr>
          <a:xfrm rot="0">
            <a:off x="14018368" y="4788581"/>
            <a:ext cx="2499720" cy="822706"/>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Transcribe and Analyze Qualitative Data, Identify Emerging Themes</a:t>
            </a:r>
          </a:p>
        </p:txBody>
      </p:sp>
      <p:sp>
        <p:nvSpPr>
          <p:cNvPr name="TextBox 32" id="32"/>
          <p:cNvSpPr txBox="true"/>
          <p:nvPr/>
        </p:nvSpPr>
        <p:spPr>
          <a:xfrm rot="0">
            <a:off x="13727870" y="6258334"/>
            <a:ext cx="3082769"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Design and Administer Quantitative Surveys</a:t>
            </a:r>
          </a:p>
        </p:txBody>
      </p:sp>
      <p:sp>
        <p:nvSpPr>
          <p:cNvPr name="AutoShape 33" id="33"/>
          <p:cNvSpPr/>
          <p:nvPr/>
        </p:nvSpPr>
        <p:spPr>
          <a:xfrm>
            <a:off x="1358772" y="5925222"/>
            <a:ext cx="15670095" cy="0"/>
          </a:xfrm>
          <a:prstGeom prst="line">
            <a:avLst/>
          </a:prstGeom>
          <a:ln cap="flat" w="19050">
            <a:solidFill>
              <a:srgbClr val="FFFFFF"/>
            </a:solidFill>
            <a:prstDash val="solid"/>
            <a:headEnd type="none" len="sm" w="sm"/>
            <a:tailEnd type="none" len="sm" w="sm"/>
          </a:ln>
        </p:spPr>
      </p:sp>
      <p:sp>
        <p:nvSpPr>
          <p:cNvPr name="AutoShape 34" id="34"/>
          <p:cNvSpPr/>
          <p:nvPr/>
        </p:nvSpPr>
        <p:spPr>
          <a:xfrm flipV="true">
            <a:off x="5008612" y="5060569"/>
            <a:ext cx="0" cy="1757018"/>
          </a:xfrm>
          <a:prstGeom prst="line">
            <a:avLst/>
          </a:prstGeom>
          <a:ln cap="flat" w="19050">
            <a:solidFill>
              <a:srgbClr val="FFFFFF"/>
            </a:solidFill>
            <a:prstDash val="solid"/>
            <a:headEnd type="none" len="sm" w="sm"/>
            <a:tailEnd type="none" len="sm" w="sm"/>
          </a:ln>
        </p:spPr>
      </p:sp>
      <p:sp>
        <p:nvSpPr>
          <p:cNvPr name="AutoShape 35" id="35"/>
          <p:cNvSpPr/>
          <p:nvPr/>
        </p:nvSpPr>
        <p:spPr>
          <a:xfrm flipV="true">
            <a:off x="9239784" y="5060569"/>
            <a:ext cx="0" cy="1757018"/>
          </a:xfrm>
          <a:prstGeom prst="line">
            <a:avLst/>
          </a:prstGeom>
          <a:ln cap="flat" w="19050">
            <a:solidFill>
              <a:srgbClr val="FFFFFF"/>
            </a:solidFill>
            <a:prstDash val="solid"/>
            <a:headEnd type="none" len="sm" w="sm"/>
            <a:tailEnd type="none" len="sm" w="sm"/>
          </a:ln>
        </p:spPr>
      </p:sp>
      <p:sp>
        <p:nvSpPr>
          <p:cNvPr name="AutoShape 36" id="36"/>
          <p:cNvSpPr/>
          <p:nvPr/>
        </p:nvSpPr>
        <p:spPr>
          <a:xfrm flipV="true">
            <a:off x="13470956" y="5060569"/>
            <a:ext cx="0" cy="1757018"/>
          </a:xfrm>
          <a:prstGeom prst="line">
            <a:avLst/>
          </a:prstGeom>
          <a:ln cap="flat" w="19050">
            <a:solidFill>
              <a:srgbClr val="FFFFFF"/>
            </a:solidFill>
            <a:prstDash val="solid"/>
            <a:headEnd type="none" len="sm" w="sm"/>
            <a:tailEnd type="none" len="sm" w="sm"/>
          </a:ln>
        </p:spPr>
      </p:sp>
      <p:sp>
        <p:nvSpPr>
          <p:cNvPr name="TextBox 37" id="37"/>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3838206"/>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grpSp>
        <p:nvGrpSpPr>
          <p:cNvPr name="Group 3" id="3"/>
          <p:cNvGrpSpPr/>
          <p:nvPr/>
        </p:nvGrpSpPr>
        <p:grpSpPr>
          <a:xfrm rot="0">
            <a:off x="279200" y="387555"/>
            <a:ext cx="2155619" cy="215561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5" id="5"/>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6" id="6"/>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Analysis</a:t>
            </a:r>
          </a:p>
        </p:txBody>
      </p:sp>
      <p:grpSp>
        <p:nvGrpSpPr>
          <p:cNvPr name="Group 7" id="7"/>
          <p:cNvGrpSpPr/>
          <p:nvPr/>
        </p:nvGrpSpPr>
        <p:grpSpPr>
          <a:xfrm rot="0">
            <a:off x="9308199" y="1028700"/>
            <a:ext cx="7951101" cy="8229600"/>
            <a:chOff x="0" y="0"/>
            <a:chExt cx="2094117" cy="2167467"/>
          </a:xfrm>
        </p:grpSpPr>
        <p:sp>
          <p:nvSpPr>
            <p:cNvPr name="Freeform 8" id="8"/>
            <p:cNvSpPr/>
            <p:nvPr/>
          </p:nvSpPr>
          <p:spPr>
            <a:xfrm flipH="false" flipV="false" rot="0">
              <a:off x="0" y="0"/>
              <a:ext cx="2094117" cy="2167467"/>
            </a:xfrm>
            <a:custGeom>
              <a:avLst/>
              <a:gdLst/>
              <a:ahLst/>
              <a:cxnLst/>
              <a:rect r="r" b="b" t="t" l="l"/>
              <a:pathLst>
                <a:path h="2167467" w="2094117">
                  <a:moveTo>
                    <a:pt x="97369" y="0"/>
                  </a:moveTo>
                  <a:lnTo>
                    <a:pt x="1996748" y="0"/>
                  </a:lnTo>
                  <a:cubicBezTo>
                    <a:pt x="2050523" y="0"/>
                    <a:pt x="2094117" y="43594"/>
                    <a:pt x="2094117" y="97369"/>
                  </a:cubicBezTo>
                  <a:lnTo>
                    <a:pt x="2094117" y="2070097"/>
                  </a:lnTo>
                  <a:cubicBezTo>
                    <a:pt x="2094117" y="2123873"/>
                    <a:pt x="2050523" y="2167467"/>
                    <a:pt x="1996748" y="2167467"/>
                  </a:cubicBezTo>
                  <a:lnTo>
                    <a:pt x="97369" y="2167467"/>
                  </a:lnTo>
                  <a:cubicBezTo>
                    <a:pt x="71545" y="2167467"/>
                    <a:pt x="46779" y="2157208"/>
                    <a:pt x="28519" y="2138948"/>
                  </a:cubicBezTo>
                  <a:cubicBezTo>
                    <a:pt x="10259" y="2120688"/>
                    <a:pt x="0" y="2095921"/>
                    <a:pt x="0" y="2070097"/>
                  </a:cubicBezTo>
                  <a:lnTo>
                    <a:pt x="0" y="97369"/>
                  </a:lnTo>
                  <a:cubicBezTo>
                    <a:pt x="0" y="43594"/>
                    <a:pt x="43594" y="0"/>
                    <a:pt x="9736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2094117" cy="2167467"/>
            </a:xfrm>
            <a:prstGeom prst="rect">
              <a:avLst/>
            </a:prstGeom>
          </p:spPr>
          <p:txBody>
            <a:bodyPr anchor="ctr" rtlCol="false" tIns="50800" lIns="50800" bIns="50800" rIns="50800"/>
            <a:lstStyle/>
            <a:p>
              <a:pPr algn="ctr">
                <a:lnSpc>
                  <a:spcPts val="3119"/>
                </a:lnSpc>
              </a:pPr>
            </a:p>
            <a:p>
              <a:pPr algn="ctr">
                <a:lnSpc>
                  <a:spcPts val="3119"/>
                </a:lnSpc>
              </a:pPr>
            </a:p>
          </p:txBody>
        </p:sp>
      </p:grpSp>
      <p:pic>
        <p:nvPicPr>
          <p:cNvPr name="Picture 10" id="10"/>
          <p:cNvPicPr>
            <a:picLocks noChangeAspect="true"/>
          </p:cNvPicPr>
          <p:nvPr/>
        </p:nvPicPr>
        <p:blipFill>
          <a:blip r:embed="rId2"/>
          <a:stretch>
            <a:fillRect/>
          </a:stretch>
        </p:blipFill>
        <p:spPr>
          <a:xfrm rot="0">
            <a:off x="275405" y="5692882"/>
            <a:ext cx="9039546" cy="4097999"/>
          </a:xfrm>
          <a:prstGeom prst="rect">
            <a:avLst/>
          </a:prstGeom>
        </p:spPr>
      </p:pic>
      <p:pic>
        <p:nvPicPr>
          <p:cNvPr name="Picture 11" id="11"/>
          <p:cNvPicPr>
            <a:picLocks noChangeAspect="true"/>
          </p:cNvPicPr>
          <p:nvPr/>
        </p:nvPicPr>
        <p:blipFill>
          <a:blip r:embed="rId3"/>
          <a:stretch>
            <a:fillRect/>
          </a:stretch>
        </p:blipFill>
        <p:spPr>
          <a:xfrm rot="0">
            <a:off x="9495250" y="1054085"/>
            <a:ext cx="7577001" cy="8178832"/>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3838206"/>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3" id="3"/>
          <p:cNvSpPr txBox="true"/>
          <p:nvPr/>
        </p:nvSpPr>
        <p:spPr>
          <a:xfrm rot="0">
            <a:off x="4251854" y="7132701"/>
            <a:ext cx="3878469" cy="2125599"/>
          </a:xfrm>
          <a:prstGeom prst="rect">
            <a:avLst/>
          </a:prstGeom>
        </p:spPr>
        <p:txBody>
          <a:bodyPr anchor="t" rtlCol="false" tIns="0" lIns="0" bIns="0" rIns="0">
            <a:spAutoFit/>
          </a:bodyPr>
          <a:lstStyle/>
          <a:p>
            <a:pPr algn="l">
              <a:lnSpc>
                <a:spcPts val="2448"/>
              </a:lnSpc>
            </a:pPr>
            <a:r>
              <a:rPr lang="en-US" sz="1800" i="true" spc="-44">
                <a:solidFill>
                  <a:srgbClr val="FFFFFF"/>
                </a:solidFill>
                <a:latin typeface="HK Grotesk Italics"/>
                <a:ea typeface="HK Grotesk Italics"/>
                <a:cs typeface="HK Grotesk Italics"/>
                <a:sym typeface="HK Grotesk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4" id="4"/>
          <p:cNvGrpSpPr/>
          <p:nvPr/>
        </p:nvGrpSpPr>
        <p:grpSpPr>
          <a:xfrm rot="0">
            <a:off x="279200" y="387555"/>
            <a:ext cx="2155619" cy="2155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6" id="6"/>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7" id="7"/>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Analysis</a:t>
            </a:r>
          </a:p>
        </p:txBody>
      </p:sp>
      <p:sp>
        <p:nvSpPr>
          <p:cNvPr name="TextBox 8" id="8"/>
          <p:cNvSpPr txBox="true"/>
          <p:nvPr/>
        </p:nvSpPr>
        <p:spPr>
          <a:xfrm rot="0">
            <a:off x="1028700" y="7700057"/>
            <a:ext cx="3292424" cy="1324261"/>
          </a:xfrm>
          <a:prstGeom prst="rect">
            <a:avLst/>
          </a:prstGeom>
        </p:spPr>
        <p:txBody>
          <a:bodyPr anchor="t" rtlCol="false" tIns="0" lIns="0" bIns="0" rIns="0">
            <a:spAutoFit/>
          </a:bodyPr>
          <a:lstStyle/>
          <a:p>
            <a:pPr algn="l" marL="0" indent="0" lvl="0">
              <a:lnSpc>
                <a:spcPts val="9620"/>
              </a:lnSpc>
            </a:pPr>
            <a:r>
              <a:rPr lang="en-US" b="true" sz="10689" spc="-427">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65%</a:t>
            </a:r>
          </a:p>
        </p:txBody>
      </p:sp>
      <p:grpSp>
        <p:nvGrpSpPr>
          <p:cNvPr name="Group 9" id="9"/>
          <p:cNvGrpSpPr/>
          <p:nvPr/>
        </p:nvGrpSpPr>
        <p:grpSpPr>
          <a:xfrm rot="0">
            <a:off x="9308199" y="1028700"/>
            <a:ext cx="7951101" cy="8229600"/>
            <a:chOff x="0" y="0"/>
            <a:chExt cx="2094117" cy="2167467"/>
          </a:xfrm>
        </p:grpSpPr>
        <p:sp>
          <p:nvSpPr>
            <p:cNvPr name="Freeform 10" id="10"/>
            <p:cNvSpPr/>
            <p:nvPr/>
          </p:nvSpPr>
          <p:spPr>
            <a:xfrm flipH="false" flipV="false" rot="0">
              <a:off x="0" y="0"/>
              <a:ext cx="2094117" cy="2167467"/>
            </a:xfrm>
            <a:custGeom>
              <a:avLst/>
              <a:gdLst/>
              <a:ahLst/>
              <a:cxnLst/>
              <a:rect r="r" b="b" t="t" l="l"/>
              <a:pathLst>
                <a:path h="2167467" w="2094117">
                  <a:moveTo>
                    <a:pt x="97369" y="0"/>
                  </a:moveTo>
                  <a:lnTo>
                    <a:pt x="1996748" y="0"/>
                  </a:lnTo>
                  <a:cubicBezTo>
                    <a:pt x="2050523" y="0"/>
                    <a:pt x="2094117" y="43594"/>
                    <a:pt x="2094117" y="97369"/>
                  </a:cubicBezTo>
                  <a:lnTo>
                    <a:pt x="2094117" y="2070097"/>
                  </a:lnTo>
                  <a:cubicBezTo>
                    <a:pt x="2094117" y="2123873"/>
                    <a:pt x="2050523" y="2167467"/>
                    <a:pt x="1996748" y="2167467"/>
                  </a:cubicBezTo>
                  <a:lnTo>
                    <a:pt x="97369" y="2167467"/>
                  </a:lnTo>
                  <a:cubicBezTo>
                    <a:pt x="71545" y="2167467"/>
                    <a:pt x="46779" y="2157208"/>
                    <a:pt x="28519" y="2138948"/>
                  </a:cubicBezTo>
                  <a:cubicBezTo>
                    <a:pt x="10259" y="2120688"/>
                    <a:pt x="0" y="2095921"/>
                    <a:pt x="0" y="2070097"/>
                  </a:cubicBezTo>
                  <a:lnTo>
                    <a:pt x="0" y="97369"/>
                  </a:lnTo>
                  <a:cubicBezTo>
                    <a:pt x="0" y="43594"/>
                    <a:pt x="43594" y="0"/>
                    <a:pt x="9736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1" id="11"/>
            <p:cNvSpPr txBox="true"/>
            <p:nvPr/>
          </p:nvSpPr>
          <p:spPr>
            <a:xfrm>
              <a:off x="0" y="0"/>
              <a:ext cx="2094117" cy="2167467"/>
            </a:xfrm>
            <a:prstGeom prst="rect">
              <a:avLst/>
            </a:prstGeom>
          </p:spPr>
          <p:txBody>
            <a:bodyPr anchor="ctr" rtlCol="false" tIns="50800" lIns="50800" bIns="50800" rIns="50800"/>
            <a:lstStyle/>
            <a:p>
              <a:pPr algn="ctr">
                <a:lnSpc>
                  <a:spcPts val="3119"/>
                </a:lnSpc>
              </a:pPr>
            </a:p>
            <a:p>
              <a:pPr algn="ctr">
                <a:lnSpc>
                  <a:spcPts val="3119"/>
                </a:lnSpc>
              </a:pPr>
            </a:p>
          </p:txBody>
        </p:sp>
      </p:grpSp>
      <p:pic>
        <p:nvPicPr>
          <p:cNvPr name="Picture 12" id="12"/>
          <p:cNvPicPr>
            <a:picLocks noChangeAspect="true"/>
          </p:cNvPicPr>
          <p:nvPr/>
        </p:nvPicPr>
        <p:blipFill>
          <a:blip r:embed="rId2"/>
          <a:stretch>
            <a:fillRect/>
          </a:stretch>
        </p:blipFill>
        <p:spPr>
          <a:xfrm rot="0">
            <a:off x="8904897" y="1056128"/>
            <a:ext cx="8757704" cy="8088692"/>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4738568"/>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5394388"/>
            <a:ext cx="10464140"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Our</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 </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Portfolio</a:t>
            </a:r>
          </a:p>
        </p:txBody>
      </p:sp>
      <p:grpSp>
        <p:nvGrpSpPr>
          <p:cNvPr name="Group 6" id="6"/>
          <p:cNvGrpSpPr/>
          <p:nvPr/>
        </p:nvGrpSpPr>
        <p:grpSpPr>
          <a:xfrm rot="0">
            <a:off x="-715817" y="-265773"/>
            <a:ext cx="20110719" cy="4750522"/>
            <a:chOff x="0" y="0"/>
            <a:chExt cx="3217585" cy="760053"/>
          </a:xfrm>
        </p:grpSpPr>
        <p:sp>
          <p:nvSpPr>
            <p:cNvPr name="Freeform 7" id="7"/>
            <p:cNvSpPr/>
            <p:nvPr/>
          </p:nvSpPr>
          <p:spPr>
            <a:xfrm flipH="false" flipV="false" rot="0">
              <a:off x="0" y="0"/>
              <a:ext cx="3217585" cy="760053"/>
            </a:xfrm>
            <a:custGeom>
              <a:avLst/>
              <a:gdLst/>
              <a:ahLst/>
              <a:cxnLst/>
              <a:rect r="r" b="b" t="t" l="l"/>
              <a:pathLst>
                <a:path h="760053" w="3217585">
                  <a:moveTo>
                    <a:pt x="30412" y="0"/>
                  </a:moveTo>
                  <a:lnTo>
                    <a:pt x="3187173" y="0"/>
                  </a:lnTo>
                  <a:cubicBezTo>
                    <a:pt x="3203969" y="0"/>
                    <a:pt x="3217585" y="13616"/>
                    <a:pt x="3217585" y="30412"/>
                  </a:cubicBezTo>
                  <a:lnTo>
                    <a:pt x="3217585" y="729641"/>
                  </a:lnTo>
                  <a:cubicBezTo>
                    <a:pt x="3217585" y="746437"/>
                    <a:pt x="3203969" y="760053"/>
                    <a:pt x="3187173" y="760053"/>
                  </a:cubicBezTo>
                  <a:lnTo>
                    <a:pt x="30412" y="760053"/>
                  </a:lnTo>
                  <a:cubicBezTo>
                    <a:pt x="22346" y="760053"/>
                    <a:pt x="14611" y="756849"/>
                    <a:pt x="8908" y="751145"/>
                  </a:cubicBezTo>
                  <a:cubicBezTo>
                    <a:pt x="3204" y="745442"/>
                    <a:pt x="0" y="737706"/>
                    <a:pt x="0" y="729641"/>
                  </a:cubicBezTo>
                  <a:lnTo>
                    <a:pt x="0" y="30412"/>
                  </a:lnTo>
                  <a:cubicBezTo>
                    <a:pt x="0" y="13616"/>
                    <a:pt x="13616" y="0"/>
                    <a:pt x="30412" y="0"/>
                  </a:cubicBezTo>
                  <a:close/>
                </a:path>
              </a:pathLst>
            </a:custGeom>
            <a:blipFill>
              <a:blip r:embed="rId2"/>
              <a:stretch>
                <a:fillRect l="0" t="-99066" r="0" b="-83158"/>
              </a:stretch>
            </a:blipFill>
          </p:spPr>
        </p:sp>
      </p:grpSp>
      <p:grpSp>
        <p:nvGrpSpPr>
          <p:cNvPr name="Group 8" id="8"/>
          <p:cNvGrpSpPr/>
          <p:nvPr/>
        </p:nvGrpSpPr>
        <p:grpSpPr>
          <a:xfrm rot="0">
            <a:off x="6762175" y="3006065"/>
            <a:ext cx="4999348" cy="4750522"/>
            <a:chOff x="0" y="0"/>
            <a:chExt cx="799863" cy="760053"/>
          </a:xfrm>
        </p:grpSpPr>
        <p:sp>
          <p:nvSpPr>
            <p:cNvPr name="Freeform 9" id="9"/>
            <p:cNvSpPr/>
            <p:nvPr/>
          </p:nvSpPr>
          <p:spPr>
            <a:xfrm flipH="false" flipV="false" rot="0">
              <a:off x="0" y="0"/>
              <a:ext cx="799863" cy="760053"/>
            </a:xfrm>
            <a:custGeom>
              <a:avLst/>
              <a:gdLst/>
              <a:ahLst/>
              <a:cxnLst/>
              <a:rect r="r" b="b" t="t" l="l"/>
              <a:pathLst>
                <a:path h="760053" w="799863">
                  <a:moveTo>
                    <a:pt x="122338" y="0"/>
                  </a:moveTo>
                  <a:lnTo>
                    <a:pt x="677525" y="0"/>
                  </a:lnTo>
                  <a:cubicBezTo>
                    <a:pt x="709971" y="0"/>
                    <a:pt x="741088" y="12889"/>
                    <a:pt x="764031" y="35832"/>
                  </a:cubicBezTo>
                  <a:cubicBezTo>
                    <a:pt x="786974" y="58775"/>
                    <a:pt x="799863" y="89892"/>
                    <a:pt x="799863" y="122338"/>
                  </a:cubicBezTo>
                  <a:lnTo>
                    <a:pt x="799863" y="637715"/>
                  </a:lnTo>
                  <a:cubicBezTo>
                    <a:pt x="799863" y="670161"/>
                    <a:pt x="786974" y="701278"/>
                    <a:pt x="764031" y="724221"/>
                  </a:cubicBezTo>
                  <a:cubicBezTo>
                    <a:pt x="741088" y="747164"/>
                    <a:pt x="709971" y="760053"/>
                    <a:pt x="677525" y="760053"/>
                  </a:cubicBezTo>
                  <a:lnTo>
                    <a:pt x="122338" y="760053"/>
                  </a:lnTo>
                  <a:cubicBezTo>
                    <a:pt x="89892" y="760053"/>
                    <a:pt x="58775" y="747164"/>
                    <a:pt x="35832" y="724221"/>
                  </a:cubicBezTo>
                  <a:cubicBezTo>
                    <a:pt x="12889" y="701278"/>
                    <a:pt x="0" y="670161"/>
                    <a:pt x="0" y="637715"/>
                  </a:cubicBezTo>
                  <a:lnTo>
                    <a:pt x="0" y="122338"/>
                  </a:lnTo>
                  <a:cubicBezTo>
                    <a:pt x="0" y="89892"/>
                    <a:pt x="12889" y="58775"/>
                    <a:pt x="35832" y="35832"/>
                  </a:cubicBezTo>
                  <a:cubicBezTo>
                    <a:pt x="58775" y="12889"/>
                    <a:pt x="89892" y="0"/>
                    <a:pt x="122338" y="0"/>
                  </a:cubicBezTo>
                  <a:close/>
                </a:path>
              </a:pathLst>
            </a:custGeom>
            <a:blipFill>
              <a:blip r:embed="rId3"/>
              <a:stretch>
                <a:fillRect l="0" t="-27265" r="0" b="-30447"/>
              </a:stretch>
            </a:blipFill>
          </p:spPr>
        </p:sp>
      </p:grpSp>
      <p:grpSp>
        <p:nvGrpSpPr>
          <p:cNvPr name="Group 10" id="10"/>
          <p:cNvGrpSpPr/>
          <p:nvPr/>
        </p:nvGrpSpPr>
        <p:grpSpPr>
          <a:xfrm rot="0">
            <a:off x="12259952" y="3006065"/>
            <a:ext cx="4999348" cy="4750522"/>
            <a:chOff x="0" y="0"/>
            <a:chExt cx="799863" cy="760053"/>
          </a:xfrm>
        </p:grpSpPr>
        <p:sp>
          <p:nvSpPr>
            <p:cNvPr name="Freeform 11" id="11"/>
            <p:cNvSpPr/>
            <p:nvPr/>
          </p:nvSpPr>
          <p:spPr>
            <a:xfrm flipH="false" flipV="false" rot="0">
              <a:off x="0" y="0"/>
              <a:ext cx="799863" cy="760053"/>
            </a:xfrm>
            <a:custGeom>
              <a:avLst/>
              <a:gdLst/>
              <a:ahLst/>
              <a:cxnLst/>
              <a:rect r="r" b="b" t="t" l="l"/>
              <a:pathLst>
                <a:path h="760053" w="799863">
                  <a:moveTo>
                    <a:pt x="122338" y="0"/>
                  </a:moveTo>
                  <a:lnTo>
                    <a:pt x="677525" y="0"/>
                  </a:lnTo>
                  <a:cubicBezTo>
                    <a:pt x="709971" y="0"/>
                    <a:pt x="741088" y="12889"/>
                    <a:pt x="764031" y="35832"/>
                  </a:cubicBezTo>
                  <a:cubicBezTo>
                    <a:pt x="786974" y="58775"/>
                    <a:pt x="799863" y="89892"/>
                    <a:pt x="799863" y="122338"/>
                  </a:cubicBezTo>
                  <a:lnTo>
                    <a:pt x="799863" y="637715"/>
                  </a:lnTo>
                  <a:cubicBezTo>
                    <a:pt x="799863" y="670161"/>
                    <a:pt x="786974" y="701278"/>
                    <a:pt x="764031" y="724221"/>
                  </a:cubicBezTo>
                  <a:cubicBezTo>
                    <a:pt x="741088" y="747164"/>
                    <a:pt x="709971" y="760053"/>
                    <a:pt x="677525" y="760053"/>
                  </a:cubicBezTo>
                  <a:lnTo>
                    <a:pt x="122338" y="760053"/>
                  </a:lnTo>
                  <a:cubicBezTo>
                    <a:pt x="89892" y="760053"/>
                    <a:pt x="58775" y="747164"/>
                    <a:pt x="35832" y="724221"/>
                  </a:cubicBezTo>
                  <a:cubicBezTo>
                    <a:pt x="12889" y="701278"/>
                    <a:pt x="0" y="670161"/>
                    <a:pt x="0" y="637715"/>
                  </a:cubicBezTo>
                  <a:lnTo>
                    <a:pt x="0" y="122338"/>
                  </a:lnTo>
                  <a:cubicBezTo>
                    <a:pt x="0" y="89892"/>
                    <a:pt x="12889" y="58775"/>
                    <a:pt x="35832" y="35832"/>
                  </a:cubicBezTo>
                  <a:cubicBezTo>
                    <a:pt x="58775" y="12889"/>
                    <a:pt x="89892" y="0"/>
                    <a:pt x="122338" y="0"/>
                  </a:cubicBezTo>
                  <a:close/>
                </a:path>
              </a:pathLst>
            </a:custGeom>
            <a:blipFill>
              <a:blip r:embed="rId4"/>
              <a:stretch>
                <a:fillRect l="-21244" t="0" r="-21244" b="0"/>
              </a:stretch>
            </a:blipFill>
          </p:spPr>
        </p:sp>
      </p:grpSp>
      <p:sp>
        <p:nvSpPr>
          <p:cNvPr name="TextBox 12" id="12"/>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Testimonial</a:t>
            </a:r>
          </a:p>
        </p:txBody>
      </p:sp>
      <p:grpSp>
        <p:nvGrpSpPr>
          <p:cNvPr name="Group 6" id="6"/>
          <p:cNvGrpSpPr/>
          <p:nvPr/>
        </p:nvGrpSpPr>
        <p:grpSpPr>
          <a:xfrm rot="0">
            <a:off x="1028700" y="3401448"/>
            <a:ext cx="16230600" cy="5856852"/>
            <a:chOff x="0" y="0"/>
            <a:chExt cx="4274726" cy="1542545"/>
          </a:xfrm>
        </p:grpSpPr>
        <p:sp>
          <p:nvSpPr>
            <p:cNvPr name="Freeform 7" id="7"/>
            <p:cNvSpPr/>
            <p:nvPr/>
          </p:nvSpPr>
          <p:spPr>
            <a:xfrm flipH="false" flipV="false" rot="0">
              <a:off x="0" y="0"/>
              <a:ext cx="4274726" cy="1542545"/>
            </a:xfrm>
            <a:custGeom>
              <a:avLst/>
              <a:gdLst/>
              <a:ahLst/>
              <a:cxnLst/>
              <a:rect r="r" b="b" t="t" l="l"/>
              <a:pathLst>
                <a:path h="1542545" w="4274726">
                  <a:moveTo>
                    <a:pt x="47700" y="0"/>
                  </a:moveTo>
                  <a:lnTo>
                    <a:pt x="4227026" y="0"/>
                  </a:lnTo>
                  <a:cubicBezTo>
                    <a:pt x="4239677" y="0"/>
                    <a:pt x="4251809" y="5025"/>
                    <a:pt x="4260755" y="13971"/>
                  </a:cubicBezTo>
                  <a:cubicBezTo>
                    <a:pt x="4269700" y="22916"/>
                    <a:pt x="4274726" y="35049"/>
                    <a:pt x="4274726" y="47700"/>
                  </a:cubicBezTo>
                  <a:lnTo>
                    <a:pt x="4274726" y="1494846"/>
                  </a:lnTo>
                  <a:cubicBezTo>
                    <a:pt x="4274726" y="1507496"/>
                    <a:pt x="4269700" y="1519629"/>
                    <a:pt x="4260755" y="1528574"/>
                  </a:cubicBezTo>
                  <a:cubicBezTo>
                    <a:pt x="4251809" y="1537520"/>
                    <a:pt x="4239677" y="1542545"/>
                    <a:pt x="4227026" y="1542545"/>
                  </a:cubicBezTo>
                  <a:lnTo>
                    <a:pt x="47700" y="1542545"/>
                  </a:lnTo>
                  <a:cubicBezTo>
                    <a:pt x="35049" y="1542545"/>
                    <a:pt x="22916" y="1537520"/>
                    <a:pt x="13971" y="1528574"/>
                  </a:cubicBezTo>
                  <a:cubicBezTo>
                    <a:pt x="5025" y="1519629"/>
                    <a:pt x="0" y="1507496"/>
                    <a:pt x="0" y="1494846"/>
                  </a:cubicBezTo>
                  <a:lnTo>
                    <a:pt x="0" y="47700"/>
                  </a:lnTo>
                  <a:cubicBezTo>
                    <a:pt x="0" y="35049"/>
                    <a:pt x="5025" y="22916"/>
                    <a:pt x="13971" y="13971"/>
                  </a:cubicBezTo>
                  <a:cubicBezTo>
                    <a:pt x="22916" y="5025"/>
                    <a:pt x="35049" y="0"/>
                    <a:pt x="4770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1542545"/>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9" id="9"/>
          <p:cNvSpPr txBox="true"/>
          <p:nvPr/>
        </p:nvSpPr>
        <p:spPr>
          <a:xfrm rot="0">
            <a:off x="8834799" y="1166050"/>
            <a:ext cx="8424501" cy="1211199"/>
          </a:xfrm>
          <a:prstGeom prst="rect">
            <a:avLst/>
          </a:prstGeom>
        </p:spPr>
        <p:txBody>
          <a:bodyPr anchor="t" rtlCol="false" tIns="0" lIns="0" bIns="0" rIns="0">
            <a:spAutoFit/>
          </a:bodyPr>
          <a:lstStyle/>
          <a:p>
            <a:pPr algn="l">
              <a:lnSpc>
                <a:spcPts val="2448"/>
              </a:lnSpc>
            </a:pPr>
            <a:r>
              <a:rPr lang="en-US" sz="1800" i="true" spc="-44">
                <a:solidFill>
                  <a:srgbClr val="FFFFFF"/>
                </a:solidFill>
                <a:latin typeface="HK Grotesk Italics"/>
                <a:ea typeface="HK Grotesk Italics"/>
                <a:cs typeface="HK Grotesk Italics"/>
                <a:sym typeface="HK Grotesk Italics"/>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grpSp>
        <p:nvGrpSpPr>
          <p:cNvPr name="Group 10" id="10"/>
          <p:cNvGrpSpPr/>
          <p:nvPr/>
        </p:nvGrpSpPr>
        <p:grpSpPr>
          <a:xfrm rot="0">
            <a:off x="1442755" y="6510691"/>
            <a:ext cx="1976011" cy="2104620"/>
            <a:chOff x="0" y="0"/>
            <a:chExt cx="624091" cy="664710"/>
          </a:xfrm>
        </p:grpSpPr>
        <p:sp>
          <p:nvSpPr>
            <p:cNvPr name="Freeform 11" id="11"/>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2"/>
              <a:stretch>
                <a:fillRect l="-77252" t="-739" r="-87409" b="-44626"/>
              </a:stretch>
            </a:blipFill>
          </p:spPr>
        </p:sp>
      </p:grpSp>
      <p:grpSp>
        <p:nvGrpSpPr>
          <p:cNvPr name="Group 12" id="12"/>
          <p:cNvGrpSpPr/>
          <p:nvPr/>
        </p:nvGrpSpPr>
        <p:grpSpPr>
          <a:xfrm rot="0">
            <a:off x="9355022" y="6510691"/>
            <a:ext cx="1976011" cy="2104620"/>
            <a:chOff x="0" y="0"/>
            <a:chExt cx="624091" cy="664710"/>
          </a:xfrm>
        </p:grpSpPr>
        <p:sp>
          <p:nvSpPr>
            <p:cNvPr name="Freeform 13" id="13"/>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3"/>
              <a:stretch>
                <a:fillRect l="0" t="-3696" r="-11622" b="-53603"/>
              </a:stretch>
            </a:blipFill>
          </p:spPr>
        </p:sp>
      </p:grpSp>
      <p:grpSp>
        <p:nvGrpSpPr>
          <p:cNvPr name="Group 14" id="14"/>
          <p:cNvGrpSpPr/>
          <p:nvPr/>
        </p:nvGrpSpPr>
        <p:grpSpPr>
          <a:xfrm rot="0">
            <a:off x="1442755" y="4144659"/>
            <a:ext cx="1976011" cy="2104620"/>
            <a:chOff x="0" y="0"/>
            <a:chExt cx="624091" cy="664710"/>
          </a:xfrm>
        </p:grpSpPr>
        <p:sp>
          <p:nvSpPr>
            <p:cNvPr name="Freeform 15" id="15"/>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4"/>
              <a:stretch>
                <a:fillRect l="-20576" t="0" r="-41442" b="-52118"/>
              </a:stretch>
            </a:blipFill>
          </p:spPr>
        </p:sp>
      </p:grpSp>
      <p:grpSp>
        <p:nvGrpSpPr>
          <p:cNvPr name="Group 16" id="16"/>
          <p:cNvGrpSpPr/>
          <p:nvPr/>
        </p:nvGrpSpPr>
        <p:grpSpPr>
          <a:xfrm rot="0">
            <a:off x="9355022" y="4144659"/>
            <a:ext cx="1976011" cy="2104620"/>
            <a:chOff x="0" y="0"/>
            <a:chExt cx="624091" cy="664710"/>
          </a:xfrm>
        </p:grpSpPr>
        <p:sp>
          <p:nvSpPr>
            <p:cNvPr name="Freeform 17" id="17"/>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5"/>
              <a:stretch>
                <a:fillRect l="-63788" t="-13702" r="-170365" b="-95323"/>
              </a:stretch>
            </a:blipFill>
          </p:spPr>
        </p:sp>
      </p:grpSp>
      <p:grpSp>
        <p:nvGrpSpPr>
          <p:cNvPr name="Group 18" id="18"/>
          <p:cNvGrpSpPr/>
          <p:nvPr/>
        </p:nvGrpSpPr>
        <p:grpSpPr>
          <a:xfrm rot="0">
            <a:off x="3683298" y="7308660"/>
            <a:ext cx="316365" cy="301536"/>
            <a:chOff x="0" y="0"/>
            <a:chExt cx="812800" cy="774700"/>
          </a:xfrm>
        </p:grpSpPr>
        <p:sp>
          <p:nvSpPr>
            <p:cNvPr name="Freeform 19" id="19"/>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0" id="20"/>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041127" y="7308660"/>
            <a:ext cx="316365" cy="301536"/>
            <a:chOff x="0" y="0"/>
            <a:chExt cx="812800" cy="774700"/>
          </a:xfrm>
        </p:grpSpPr>
        <p:sp>
          <p:nvSpPr>
            <p:cNvPr name="Freeform 22" id="22"/>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3" id="23"/>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398957" y="7308660"/>
            <a:ext cx="316365" cy="301536"/>
            <a:chOff x="0" y="0"/>
            <a:chExt cx="812800" cy="774700"/>
          </a:xfrm>
        </p:grpSpPr>
        <p:sp>
          <p:nvSpPr>
            <p:cNvPr name="Freeform 25" id="25"/>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6" id="26"/>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756786" y="7308660"/>
            <a:ext cx="316365" cy="301536"/>
            <a:chOff x="0" y="0"/>
            <a:chExt cx="812800" cy="774700"/>
          </a:xfrm>
        </p:grpSpPr>
        <p:sp>
          <p:nvSpPr>
            <p:cNvPr name="Freeform 28" id="28"/>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9" id="29"/>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5114616" y="7308660"/>
            <a:ext cx="316365" cy="301536"/>
            <a:chOff x="0" y="0"/>
            <a:chExt cx="812800" cy="774700"/>
          </a:xfrm>
        </p:grpSpPr>
        <p:sp>
          <p:nvSpPr>
            <p:cNvPr name="Freeform 31" id="31"/>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5B5B5B"/>
            </a:solidFill>
            <a:ln cap="sq">
              <a:noFill/>
              <a:prstDash val="solid"/>
              <a:miter/>
            </a:ln>
          </p:spPr>
        </p:sp>
        <p:sp>
          <p:nvSpPr>
            <p:cNvPr name="TextBox 32" id="32"/>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581267" y="7308660"/>
            <a:ext cx="316365" cy="301536"/>
            <a:chOff x="0" y="0"/>
            <a:chExt cx="812800" cy="774700"/>
          </a:xfrm>
        </p:grpSpPr>
        <p:sp>
          <p:nvSpPr>
            <p:cNvPr name="Freeform 34" id="34"/>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35" id="35"/>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1939097" y="7308660"/>
            <a:ext cx="316365" cy="301536"/>
            <a:chOff x="0" y="0"/>
            <a:chExt cx="812800" cy="774700"/>
          </a:xfrm>
        </p:grpSpPr>
        <p:sp>
          <p:nvSpPr>
            <p:cNvPr name="Freeform 37" id="37"/>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38" id="3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2296927" y="7308660"/>
            <a:ext cx="316365" cy="301536"/>
            <a:chOff x="0" y="0"/>
            <a:chExt cx="812800" cy="774700"/>
          </a:xfrm>
        </p:grpSpPr>
        <p:sp>
          <p:nvSpPr>
            <p:cNvPr name="Freeform 40" id="40"/>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41" id="4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2654756" y="7308660"/>
            <a:ext cx="316365" cy="301536"/>
            <a:chOff x="0" y="0"/>
            <a:chExt cx="812800" cy="774700"/>
          </a:xfrm>
        </p:grpSpPr>
        <p:sp>
          <p:nvSpPr>
            <p:cNvPr name="Freeform 43" id="43"/>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44" id="44"/>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3012586" y="7308660"/>
            <a:ext cx="316365" cy="301536"/>
            <a:chOff x="0" y="0"/>
            <a:chExt cx="812800" cy="774700"/>
          </a:xfrm>
        </p:grpSpPr>
        <p:sp>
          <p:nvSpPr>
            <p:cNvPr name="Freeform 46" id="46"/>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47" id="47"/>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3683298" y="4976831"/>
            <a:ext cx="316365" cy="301536"/>
            <a:chOff x="0" y="0"/>
            <a:chExt cx="812800" cy="774700"/>
          </a:xfrm>
        </p:grpSpPr>
        <p:sp>
          <p:nvSpPr>
            <p:cNvPr name="Freeform 49" id="49"/>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0" id="50"/>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4041127" y="4976831"/>
            <a:ext cx="316365" cy="301536"/>
            <a:chOff x="0" y="0"/>
            <a:chExt cx="812800" cy="774700"/>
          </a:xfrm>
        </p:grpSpPr>
        <p:sp>
          <p:nvSpPr>
            <p:cNvPr name="Freeform 52" id="52"/>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3" id="53"/>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4398957" y="4976831"/>
            <a:ext cx="316365" cy="301536"/>
            <a:chOff x="0" y="0"/>
            <a:chExt cx="812800" cy="774700"/>
          </a:xfrm>
        </p:grpSpPr>
        <p:sp>
          <p:nvSpPr>
            <p:cNvPr name="Freeform 55" id="55"/>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6" id="56"/>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4756786" y="4976831"/>
            <a:ext cx="316365" cy="301536"/>
            <a:chOff x="0" y="0"/>
            <a:chExt cx="812800" cy="774700"/>
          </a:xfrm>
        </p:grpSpPr>
        <p:sp>
          <p:nvSpPr>
            <p:cNvPr name="Freeform 58" id="58"/>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9" id="59"/>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5114616" y="4976831"/>
            <a:ext cx="316365" cy="301536"/>
            <a:chOff x="0" y="0"/>
            <a:chExt cx="812800" cy="774700"/>
          </a:xfrm>
        </p:grpSpPr>
        <p:sp>
          <p:nvSpPr>
            <p:cNvPr name="Freeform 61" id="61"/>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62" id="62"/>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11581267" y="4976831"/>
            <a:ext cx="316365" cy="301536"/>
            <a:chOff x="0" y="0"/>
            <a:chExt cx="812800" cy="774700"/>
          </a:xfrm>
        </p:grpSpPr>
        <p:sp>
          <p:nvSpPr>
            <p:cNvPr name="Freeform 64" id="64"/>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65" id="65"/>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6" id="66"/>
          <p:cNvGrpSpPr/>
          <p:nvPr/>
        </p:nvGrpSpPr>
        <p:grpSpPr>
          <a:xfrm rot="0">
            <a:off x="11939097" y="4976831"/>
            <a:ext cx="316365" cy="301536"/>
            <a:chOff x="0" y="0"/>
            <a:chExt cx="812800" cy="774700"/>
          </a:xfrm>
        </p:grpSpPr>
        <p:sp>
          <p:nvSpPr>
            <p:cNvPr name="Freeform 67" id="67"/>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68" id="6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9" id="69"/>
          <p:cNvGrpSpPr/>
          <p:nvPr/>
        </p:nvGrpSpPr>
        <p:grpSpPr>
          <a:xfrm rot="0">
            <a:off x="12296927" y="4976831"/>
            <a:ext cx="316365" cy="301536"/>
            <a:chOff x="0" y="0"/>
            <a:chExt cx="812800" cy="774700"/>
          </a:xfrm>
        </p:grpSpPr>
        <p:sp>
          <p:nvSpPr>
            <p:cNvPr name="Freeform 70" id="70"/>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71" id="7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72" id="72"/>
          <p:cNvGrpSpPr/>
          <p:nvPr/>
        </p:nvGrpSpPr>
        <p:grpSpPr>
          <a:xfrm rot="0">
            <a:off x="12654756" y="4976831"/>
            <a:ext cx="316365" cy="301536"/>
            <a:chOff x="0" y="0"/>
            <a:chExt cx="812800" cy="774700"/>
          </a:xfrm>
        </p:grpSpPr>
        <p:sp>
          <p:nvSpPr>
            <p:cNvPr name="Freeform 73" id="73"/>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5B5B5B"/>
            </a:solidFill>
            <a:ln cap="sq">
              <a:noFill/>
              <a:prstDash val="solid"/>
              <a:miter/>
            </a:ln>
          </p:spPr>
        </p:sp>
        <p:sp>
          <p:nvSpPr>
            <p:cNvPr name="TextBox 74" id="74"/>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75" id="75"/>
          <p:cNvGrpSpPr/>
          <p:nvPr/>
        </p:nvGrpSpPr>
        <p:grpSpPr>
          <a:xfrm rot="0">
            <a:off x="13012586" y="4976831"/>
            <a:ext cx="316365" cy="301536"/>
            <a:chOff x="0" y="0"/>
            <a:chExt cx="812800" cy="774700"/>
          </a:xfrm>
        </p:grpSpPr>
        <p:sp>
          <p:nvSpPr>
            <p:cNvPr name="Freeform 76" id="76"/>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5B5B5B"/>
            </a:solidFill>
            <a:ln cap="sq">
              <a:noFill/>
              <a:prstDash val="solid"/>
              <a:miter/>
            </a:ln>
          </p:spPr>
        </p:sp>
        <p:sp>
          <p:nvSpPr>
            <p:cNvPr name="TextBox 77" id="77"/>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TextBox 78" id="78"/>
          <p:cNvSpPr txBox="true"/>
          <p:nvPr/>
        </p:nvSpPr>
        <p:spPr>
          <a:xfrm rot="0">
            <a:off x="3669000" y="6697790"/>
            <a:ext cx="4792473"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Alfredo Torres</a:t>
            </a:r>
          </a:p>
        </p:txBody>
      </p:sp>
      <p:sp>
        <p:nvSpPr>
          <p:cNvPr name="TextBox 79" id="79"/>
          <p:cNvSpPr txBox="true"/>
          <p:nvPr/>
        </p:nvSpPr>
        <p:spPr>
          <a:xfrm rot="0">
            <a:off x="11581267" y="6697790"/>
            <a:ext cx="4262134"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Dani Martinez</a:t>
            </a:r>
          </a:p>
        </p:txBody>
      </p:sp>
      <p:sp>
        <p:nvSpPr>
          <p:cNvPr name="TextBox 80" id="80"/>
          <p:cNvSpPr txBox="true"/>
          <p:nvPr/>
        </p:nvSpPr>
        <p:spPr>
          <a:xfrm rot="0">
            <a:off x="3669000" y="4365961"/>
            <a:ext cx="4262134"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Chad Gibbons</a:t>
            </a:r>
          </a:p>
        </p:txBody>
      </p:sp>
      <p:sp>
        <p:nvSpPr>
          <p:cNvPr name="TextBox 81" id="81"/>
          <p:cNvSpPr txBox="true"/>
          <p:nvPr/>
        </p:nvSpPr>
        <p:spPr>
          <a:xfrm rot="0">
            <a:off x="11581267" y="4365961"/>
            <a:ext cx="4262134"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Bailey Dupont</a:t>
            </a:r>
          </a:p>
        </p:txBody>
      </p:sp>
      <p:sp>
        <p:nvSpPr>
          <p:cNvPr name="TextBox 82" id="82"/>
          <p:cNvSpPr txBox="true"/>
          <p:nvPr/>
        </p:nvSpPr>
        <p:spPr>
          <a:xfrm rot="0">
            <a:off x="3669000" y="7782279"/>
            <a:ext cx="5258596"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
        <p:nvSpPr>
          <p:cNvPr name="TextBox 83" id="83"/>
          <p:cNvSpPr txBox="true"/>
          <p:nvPr/>
        </p:nvSpPr>
        <p:spPr>
          <a:xfrm rot="0">
            <a:off x="11581267" y="7782279"/>
            <a:ext cx="5283028"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
        <p:nvSpPr>
          <p:cNvPr name="TextBox 84" id="84"/>
          <p:cNvSpPr txBox="true"/>
          <p:nvPr/>
        </p:nvSpPr>
        <p:spPr>
          <a:xfrm rot="0">
            <a:off x="3669000" y="5450449"/>
            <a:ext cx="5258596"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
        <p:nvSpPr>
          <p:cNvPr name="TextBox 85" id="85"/>
          <p:cNvSpPr txBox="true"/>
          <p:nvPr/>
        </p:nvSpPr>
        <p:spPr>
          <a:xfrm rot="0">
            <a:off x="11581267" y="5450449"/>
            <a:ext cx="5283028"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4196" y="829468"/>
            <a:ext cx="18856392" cy="988179"/>
            <a:chOff x="0" y="0"/>
            <a:chExt cx="4966293" cy="260261"/>
          </a:xfrm>
        </p:grpSpPr>
        <p:sp>
          <p:nvSpPr>
            <p:cNvPr name="Freeform 3" id="3"/>
            <p:cNvSpPr/>
            <p:nvPr/>
          </p:nvSpPr>
          <p:spPr>
            <a:xfrm flipH="false" flipV="false" rot="0">
              <a:off x="0" y="0"/>
              <a:ext cx="4966293" cy="260261"/>
            </a:xfrm>
            <a:custGeom>
              <a:avLst/>
              <a:gdLst/>
              <a:ahLst/>
              <a:cxnLst/>
              <a:rect r="r" b="b" t="t" l="l"/>
              <a:pathLst>
                <a:path h="260261" w="4966293">
                  <a:moveTo>
                    <a:pt x="0" y="0"/>
                  </a:moveTo>
                  <a:lnTo>
                    <a:pt x="4966293" y="0"/>
                  </a:lnTo>
                  <a:lnTo>
                    <a:pt x="4966293" y="260261"/>
                  </a:lnTo>
                  <a:lnTo>
                    <a:pt x="0" y="260261"/>
                  </a:lnTo>
                  <a:close/>
                </a:path>
              </a:pathLst>
            </a:custGeom>
            <a:solidFill>
              <a:srgbClr val="FFFFFF"/>
            </a:solidFill>
          </p:spPr>
        </p:sp>
        <p:sp>
          <p:nvSpPr>
            <p:cNvPr name="TextBox 4" id="4"/>
            <p:cNvSpPr txBox="true"/>
            <p:nvPr/>
          </p:nvSpPr>
          <p:spPr>
            <a:xfrm>
              <a:off x="0" y="-38100"/>
              <a:ext cx="4966293" cy="2983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39249" y="4895159"/>
            <a:ext cx="17762815" cy="3245804"/>
          </a:xfrm>
          <a:prstGeom prst="rect">
            <a:avLst/>
          </a:prstGeom>
        </p:spPr>
        <p:txBody>
          <a:bodyPr anchor="t" rtlCol="false" tIns="0" lIns="0" bIns="0" rIns="0">
            <a:spAutoFit/>
          </a:bodyPr>
          <a:lstStyle/>
          <a:p>
            <a:pPr algn="ctr" marL="0" indent="0" lvl="0">
              <a:lnSpc>
                <a:spcPts val="23672"/>
              </a:lnSpc>
            </a:pPr>
            <a:r>
              <a:rPr lang="en-US" b="true" sz="26302" spc="-1052">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Thank You</a:t>
            </a:r>
          </a:p>
        </p:txBody>
      </p:sp>
      <p:grpSp>
        <p:nvGrpSpPr>
          <p:cNvPr name="Group 6" id="6"/>
          <p:cNvGrpSpPr/>
          <p:nvPr/>
        </p:nvGrpSpPr>
        <p:grpSpPr>
          <a:xfrm rot="0">
            <a:off x="7720219" y="8377948"/>
            <a:ext cx="9539081" cy="880352"/>
            <a:chOff x="0" y="0"/>
            <a:chExt cx="2512351" cy="231862"/>
          </a:xfrm>
        </p:grpSpPr>
        <p:sp>
          <p:nvSpPr>
            <p:cNvPr name="Freeform 7" id="7"/>
            <p:cNvSpPr/>
            <p:nvPr/>
          </p:nvSpPr>
          <p:spPr>
            <a:xfrm flipH="false" flipV="false" rot="0">
              <a:off x="0" y="0"/>
              <a:ext cx="2512351" cy="231862"/>
            </a:xfrm>
            <a:custGeom>
              <a:avLst/>
              <a:gdLst/>
              <a:ahLst/>
              <a:cxnLst/>
              <a:rect r="r" b="b" t="t" l="l"/>
              <a:pathLst>
                <a:path h="231862" w="2512351">
                  <a:moveTo>
                    <a:pt x="81160" y="0"/>
                  </a:moveTo>
                  <a:lnTo>
                    <a:pt x="2431191" y="0"/>
                  </a:lnTo>
                  <a:cubicBezTo>
                    <a:pt x="2452716" y="0"/>
                    <a:pt x="2473359" y="8551"/>
                    <a:pt x="2488579" y="23771"/>
                  </a:cubicBezTo>
                  <a:cubicBezTo>
                    <a:pt x="2503800" y="38992"/>
                    <a:pt x="2512351" y="59635"/>
                    <a:pt x="2512351" y="81160"/>
                  </a:cubicBezTo>
                  <a:lnTo>
                    <a:pt x="2512351" y="150702"/>
                  </a:lnTo>
                  <a:cubicBezTo>
                    <a:pt x="2512351" y="195526"/>
                    <a:pt x="2476014" y="231862"/>
                    <a:pt x="2431191" y="231862"/>
                  </a:cubicBezTo>
                  <a:lnTo>
                    <a:pt x="81160" y="231862"/>
                  </a:lnTo>
                  <a:cubicBezTo>
                    <a:pt x="59635" y="231862"/>
                    <a:pt x="38992" y="223311"/>
                    <a:pt x="23771" y="208091"/>
                  </a:cubicBezTo>
                  <a:cubicBezTo>
                    <a:pt x="8551" y="192870"/>
                    <a:pt x="0" y="172227"/>
                    <a:pt x="0" y="150702"/>
                  </a:cubicBezTo>
                  <a:lnTo>
                    <a:pt x="0" y="81160"/>
                  </a:lnTo>
                  <a:cubicBezTo>
                    <a:pt x="0" y="36337"/>
                    <a:pt x="36337" y="0"/>
                    <a:pt x="8116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2512351" cy="231862"/>
            </a:xfrm>
            <a:prstGeom prst="rect">
              <a:avLst/>
            </a:prstGeom>
          </p:spPr>
          <p:txBody>
            <a:bodyPr anchor="ctr" rtlCol="false" tIns="50800" lIns="50800" bIns="50800" rIns="50800"/>
            <a:lstStyle/>
            <a:p>
              <a:pPr algn="ctr">
                <a:lnSpc>
                  <a:spcPts val="3119"/>
                </a:lnSpc>
              </a:pPr>
            </a:p>
          </p:txBody>
        </p:sp>
      </p:grpSp>
      <p:sp>
        <p:nvSpPr>
          <p:cNvPr name="TextBox 9" id="9"/>
          <p:cNvSpPr txBox="true"/>
          <p:nvPr/>
        </p:nvSpPr>
        <p:spPr>
          <a:xfrm rot="0">
            <a:off x="7876892" y="8622077"/>
            <a:ext cx="9225735" cy="390525"/>
          </a:xfrm>
          <a:prstGeom prst="rect">
            <a:avLst/>
          </a:prstGeom>
        </p:spPr>
        <p:txBody>
          <a:bodyPr anchor="t" rtlCol="false" tIns="0" lIns="0" bIns="0" rIns="0">
            <a:spAutoFit/>
          </a:bodyPr>
          <a:lstStyle/>
          <a:p>
            <a:pPr algn="ctr" marL="0" indent="0" lvl="0">
              <a:lnSpc>
                <a:spcPts val="3119"/>
              </a:lnSpc>
            </a:pPr>
            <a:r>
              <a:rPr lang="en-US" sz="2599" spc="-67">
                <a:solidFill>
                  <a:srgbClr val="FFFFFF"/>
                </a:solidFill>
                <a:latin typeface="Open Sauce"/>
                <a:ea typeface="Open Sauce"/>
                <a:cs typeface="Open Sauce"/>
                <a:sym typeface="Open Sauce"/>
              </a:rPr>
              <a:t>Product Research Proposal for Borcelle Company</a:t>
            </a:r>
          </a:p>
        </p:txBody>
      </p:sp>
      <p:sp>
        <p:nvSpPr>
          <p:cNvPr name="TextBox 10" id="10"/>
          <p:cNvSpPr txBox="true"/>
          <p:nvPr/>
        </p:nvSpPr>
        <p:spPr>
          <a:xfrm rot="0">
            <a:off x="1028700" y="8426815"/>
            <a:ext cx="6240758" cy="781050"/>
          </a:xfrm>
          <a:prstGeom prst="rect">
            <a:avLst/>
          </a:prstGeom>
        </p:spPr>
        <p:txBody>
          <a:bodyPr anchor="t" rtlCol="false" tIns="0" lIns="0" bIns="0" rIns="0">
            <a:spAutoFit/>
          </a:bodyPr>
          <a:lstStyle/>
          <a:p>
            <a:pPr algn="l" marL="0" indent="0" lvl="0">
              <a:lnSpc>
                <a:spcPts val="3119"/>
              </a:lnSpc>
            </a:pPr>
            <a:r>
              <a:rPr lang="en-US" sz="2599" spc="-67">
                <a:solidFill>
                  <a:srgbClr val="FFFFFF"/>
                </a:solidFill>
                <a:latin typeface="Open Sauce"/>
                <a:ea typeface="Open Sauce"/>
                <a:cs typeface="Open Sauce"/>
                <a:sym typeface="Open Sauce"/>
              </a:rPr>
              <a:t>Discove</a:t>
            </a:r>
            <a:r>
              <a:rPr lang="en-US" sz="2599" spc="-67">
                <a:solidFill>
                  <a:srgbClr val="FFFFFF"/>
                </a:solidFill>
                <a:latin typeface="Open Sauce"/>
                <a:ea typeface="Open Sauce"/>
                <a:cs typeface="Open Sauce"/>
                <a:sym typeface="Open Sauce"/>
              </a:rPr>
              <a:t>ring Impact: The Contribution of Research to Society</a:t>
            </a:r>
          </a:p>
        </p:txBody>
      </p:sp>
      <p:sp>
        <p:nvSpPr>
          <p:cNvPr name="TextBox 11" id="11"/>
          <p:cNvSpPr txBox="true"/>
          <p:nvPr/>
        </p:nvSpPr>
        <p:spPr>
          <a:xfrm rot="0">
            <a:off x="1365688" y="1176238"/>
            <a:ext cx="3525349"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000000"/>
                </a:solidFill>
                <a:latin typeface="Open Sauce Bold"/>
                <a:ea typeface="Open Sauce Bold"/>
                <a:cs typeface="Open Sauce Bold"/>
                <a:sym typeface="Open Sauce Bold"/>
              </a:rPr>
              <a:t>Bo</a:t>
            </a:r>
            <a:r>
              <a:rPr lang="en-US" b="true" sz="2199" spc="-35">
                <a:solidFill>
                  <a:srgbClr val="000000"/>
                </a:solidFill>
                <a:latin typeface="Open Sauce Bold"/>
                <a:ea typeface="Open Sauce Bold"/>
                <a:cs typeface="Open Sauce Bold"/>
                <a:sym typeface="Open Sauce Bold"/>
              </a:rPr>
              <a:t>rcelle 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DAHV1FbOXBc</dc:identifier>
  <dcterms:modified xsi:type="dcterms:W3CDTF">2011-08-01T06:04:30Z</dcterms:modified>
  <cp:revision>1</cp:revision>
  <dc:title>Black and White Modern Research Proposal Presentation</dc:title>
</cp:coreProperties>
</file>