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  <p:embeddedFont>
      <p:font typeface="HK Grotesk" charset="1" panose="00000500000000000000"/>
      <p:regular r:id="rId23"/>
    </p:embeddedFont>
    <p:embeddedFont>
      <p:font typeface="HK Grotesk Italics" charset="1" panose="00000500000000000000"/>
      <p:regular r:id="rId24"/>
    </p:embeddedFont>
    <p:embeddedFont>
      <p:font typeface="HK Grotesk Bold" charset="1" panose="00000800000000000000"/>
      <p:regular r:id="rId25"/>
    </p:embeddedFont>
    <p:embeddedFont>
      <p:font typeface="Open Sans" charset="1" panose="020B0606030504020204"/>
      <p:regular r:id="rId26"/>
    </p:embeddedFont>
    <p:embeddedFont>
      <p:font typeface="Open Sans Italic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Persen responden</c:v>
                </c:pt>
              </c:strCache>
            </c:strRef>
          </c:tx>
          <c:spPr>
            <a:solidFill>
              <a:srgbClr val="5B5B5B"/>
            </a:solidFill>
          </c:spPr>
          <c:cat>
            <c:strRef>
              <c:f>Sheet1!$A$2:$A$4</c:f>
              <c:strCache>
                <c:ptCount val="3"/>
                <c:pt idx="0">
                  <c:v>Harga</c:v>
                </c:pt>
                <c:pt idx="1">
                  <c:v>Kemudahan</c:v>
                </c:pt>
                <c:pt idx="2">
                  <c:v>Pilihan produk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31.0</c:v>
                </c:pt>
                <c:pt idx="2">
                  <c:v>15.0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A3A3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Belanja lewat live streaming (%)</c:v>
                </c:pt>
              </c:strCache>
            </c:strRef>
          </c:tx>
          <c:spPr>
            <a:solidFill>
              <a:srgbClr val="5B5B5B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29.0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000000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338" y="6642844"/>
            <a:ext cx="16959343" cy="166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60"/>
              </a:lnSpc>
            </a:pPr>
            <a:r>
              <a:rPr lang="en-US" b="true" sz="7289" spc="-29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Pengaruh Paylater terhadap Kebiasaan Belanja Mahasiswa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33" y="8398138"/>
            <a:ext cx="6492240" cy="10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6"/>
              </a:lnSpc>
            </a:pPr>
            <a:r>
              <a:rPr lang="en-US" sz="5795" spc="-23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"/>
                <a:ea typeface="Open Sauce"/>
                <a:cs typeface="Open Sauce"/>
                <a:sym typeface="Open Sauce"/>
              </a:rPr>
              <a:t>Proposal Penelitian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Paylater dan kebiasaan belanja mahasiswa,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  <a:spcBef>
                <a:spcPct val="0"/>
              </a:spcBef>
            </a:pPr>
            <a:r>
              <a:rPr lang="en-US" b="true" sz="2199" spc="-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Proposal Penelitian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14450"/>
            <a:ext cx="759748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Ringkasan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401448"/>
            <a:ext cx="16230600" cy="5856852"/>
            <a:chOff x="0" y="0"/>
            <a:chExt cx="4274726" cy="1542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542545"/>
            </a:xfrm>
            <a:custGeom>
              <a:avLst/>
              <a:gdLst/>
              <a:ahLst/>
              <a:cxnLst/>
              <a:rect r="r" b="b" t="t" l="l"/>
              <a:pathLst>
                <a:path h="1542545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494846"/>
                  </a:lnTo>
                  <a:cubicBezTo>
                    <a:pt x="4274726" y="1507496"/>
                    <a:pt x="4269700" y="1519629"/>
                    <a:pt x="4260755" y="1528574"/>
                  </a:cubicBezTo>
                  <a:cubicBezTo>
                    <a:pt x="4251809" y="1537520"/>
                    <a:pt x="4239677" y="1542545"/>
                    <a:pt x="4227026" y="1542545"/>
                  </a:cubicBezTo>
                  <a:lnTo>
                    <a:pt x="47700" y="1542545"/>
                  </a:lnTo>
                  <a:cubicBezTo>
                    <a:pt x="35049" y="1542545"/>
                    <a:pt x="22916" y="1537520"/>
                    <a:pt x="13971" y="1528574"/>
                  </a:cubicBezTo>
                  <a:cubicBezTo>
                    <a:pt x="5025" y="1519629"/>
                    <a:pt x="0" y="1507496"/>
                    <a:pt x="0" y="149484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1542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4048" y="4295725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awal terhadap 350 mahasiswa di 5 kampus di Medan (data contoh) menunjukkan 23% memakai paylater dan 41% pernah menyesal membeli karena diskon.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4756" y="1318450"/>
            <a:ext cx="1145454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Penelitian ini bertanya apakah mahasiswa yang memakai paylater belanja lebih banyak dan lebih sering menyesal dibanding yang tidak memakainya.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4048" y="6514650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itu belum membandingkan pemakai dan bukan pemakai paylater. Proposal ini mengusulkan penelitian lanjutan untuk mengisi celah tersebut.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92840" y="3971141"/>
            <a:ext cx="4992890" cy="4717467"/>
            <a:chOff x="0" y="0"/>
            <a:chExt cx="798830" cy="7547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830" cy="754764"/>
            </a:xfrm>
            <a:custGeom>
              <a:avLst/>
              <a:gdLst/>
              <a:ahLst/>
              <a:cxnLst/>
              <a:rect r="r" b="b" t="t" l="l"/>
              <a:pathLst>
                <a:path h="754764" w="798830">
                  <a:moveTo>
                    <a:pt x="122497" y="0"/>
                  </a:moveTo>
                  <a:lnTo>
                    <a:pt x="676334" y="0"/>
                  </a:lnTo>
                  <a:cubicBezTo>
                    <a:pt x="708822" y="0"/>
                    <a:pt x="739979" y="12906"/>
                    <a:pt x="762952" y="35878"/>
                  </a:cubicBezTo>
                  <a:cubicBezTo>
                    <a:pt x="785924" y="58851"/>
                    <a:pt x="798830" y="90008"/>
                    <a:pt x="798830" y="122497"/>
                  </a:cubicBezTo>
                  <a:lnTo>
                    <a:pt x="798830" y="632268"/>
                  </a:lnTo>
                  <a:cubicBezTo>
                    <a:pt x="798830" y="699921"/>
                    <a:pt x="743987" y="754764"/>
                    <a:pt x="676334" y="754764"/>
                  </a:cubicBezTo>
                  <a:lnTo>
                    <a:pt x="122497" y="754764"/>
                  </a:lnTo>
                  <a:cubicBezTo>
                    <a:pt x="54844" y="754764"/>
                    <a:pt x="0" y="699921"/>
                    <a:pt x="0" y="632268"/>
                  </a:cubicBezTo>
                  <a:lnTo>
                    <a:pt x="0" y="122497"/>
                  </a:lnTo>
                  <a:cubicBezTo>
                    <a:pt x="0" y="54844"/>
                    <a:pt x="54844" y="0"/>
                    <a:pt x="122497" y="0"/>
                  </a:cubicBezTo>
                  <a:close/>
                </a:path>
              </a:pathLst>
            </a:custGeom>
            <a:blipFill>
              <a:blip r:embed="rId2"/>
              <a:stretch>
                <a:fillRect l="-20862" t="0" r="-20862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81" y="873766"/>
            <a:ext cx="838118" cy="8381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7046" y="4405324"/>
            <a:ext cx="838118" cy="838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8681" y="2123387"/>
            <a:ext cx="838118" cy="8381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17046" y="5654944"/>
            <a:ext cx="838118" cy="83811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7597481" cy="983513"/>
            <a:chOff x="0" y="0"/>
            <a:chExt cx="2000983" cy="259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1819" y="4525926"/>
            <a:ext cx="7597481" cy="983513"/>
            <a:chOff x="0" y="0"/>
            <a:chExt cx="2000983" cy="259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278320"/>
            <a:ext cx="7597481" cy="983513"/>
            <a:chOff x="0" y="0"/>
            <a:chExt cx="2000983" cy="259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61819" y="5775546"/>
            <a:ext cx="7597481" cy="983513"/>
            <a:chOff x="0" y="0"/>
            <a:chExt cx="2000983" cy="259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8681" y="3373007"/>
            <a:ext cx="838118" cy="8381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3527941"/>
            <a:ext cx="7597481" cy="983513"/>
            <a:chOff x="0" y="0"/>
            <a:chExt cx="2000983" cy="259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681" y="4622627"/>
            <a:ext cx="838118" cy="83811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4777561"/>
            <a:ext cx="7597481" cy="983513"/>
            <a:chOff x="0" y="0"/>
            <a:chExt cx="2000983" cy="2590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79200" y="6561282"/>
            <a:ext cx="2155619" cy="215561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095869"/>
            <a:ext cx="759748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2044" y="127410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55164" y="477132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22044" y="252372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55164" y="602094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26561" y="1273775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Latar Belakang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59681" y="4771001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Rencana Waktu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26561" y="252339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Rumusan Masalah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59681" y="6020622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Temuan yang Diharapkan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22044" y="377334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926561" y="377301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Metodologi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2044" y="5022964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926561" y="502263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Awal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61819" y="1028700"/>
            <a:ext cx="7597481" cy="2697018"/>
            <a:chOff x="0" y="0"/>
            <a:chExt cx="1215548" cy="4315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5548" cy="431505"/>
            </a:xfrm>
            <a:custGeom>
              <a:avLst/>
              <a:gdLst/>
              <a:ahLst/>
              <a:cxnLst/>
              <a:rect r="r" b="b" t="t" l="l"/>
              <a:pathLst>
                <a:path h="431505" w="1215548">
                  <a:moveTo>
                    <a:pt x="80502" y="0"/>
                  </a:moveTo>
                  <a:lnTo>
                    <a:pt x="1135046" y="0"/>
                  </a:lnTo>
                  <a:cubicBezTo>
                    <a:pt x="1156396" y="0"/>
                    <a:pt x="1176872" y="8481"/>
                    <a:pt x="1191969" y="23578"/>
                  </a:cubicBezTo>
                  <a:cubicBezTo>
                    <a:pt x="1207066" y="38676"/>
                    <a:pt x="1215548" y="59151"/>
                    <a:pt x="1215548" y="80502"/>
                  </a:cubicBezTo>
                  <a:lnTo>
                    <a:pt x="1215548" y="351004"/>
                  </a:lnTo>
                  <a:cubicBezTo>
                    <a:pt x="1215548" y="372354"/>
                    <a:pt x="1207066" y="392830"/>
                    <a:pt x="1191969" y="407927"/>
                  </a:cubicBezTo>
                  <a:cubicBezTo>
                    <a:pt x="1176872" y="423024"/>
                    <a:pt x="1156396" y="431505"/>
                    <a:pt x="1135046" y="431505"/>
                  </a:cubicBezTo>
                  <a:lnTo>
                    <a:pt x="80502" y="431505"/>
                  </a:lnTo>
                  <a:cubicBezTo>
                    <a:pt x="59151" y="431505"/>
                    <a:pt x="38676" y="423024"/>
                    <a:pt x="23578" y="407927"/>
                  </a:cubicBezTo>
                  <a:cubicBezTo>
                    <a:pt x="8481" y="392830"/>
                    <a:pt x="0" y="372354"/>
                    <a:pt x="0" y="351004"/>
                  </a:cubicBezTo>
                  <a:lnTo>
                    <a:pt x="0" y="80502"/>
                  </a:lnTo>
                  <a:cubicBezTo>
                    <a:pt x="0" y="59151"/>
                    <a:pt x="8481" y="38676"/>
                    <a:pt x="23578" y="23578"/>
                  </a:cubicBezTo>
                  <a:cubicBezTo>
                    <a:pt x="38676" y="8481"/>
                    <a:pt x="59151" y="0"/>
                    <a:pt x="8050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985" r="0" b="-4398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4738568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394388"/>
            <a:ext cx="10464140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Latar Belakang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15817" y="-265773"/>
            <a:ext cx="20110719" cy="4750522"/>
            <a:chOff x="0" y="0"/>
            <a:chExt cx="3217585" cy="760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7585" cy="760053"/>
            </a:xfrm>
            <a:custGeom>
              <a:avLst/>
              <a:gdLst/>
              <a:ahLst/>
              <a:cxnLst/>
              <a:rect r="r" b="b" t="t" l="l"/>
              <a:pathLst>
                <a:path h="760053" w="3217585">
                  <a:moveTo>
                    <a:pt x="30412" y="0"/>
                  </a:moveTo>
                  <a:lnTo>
                    <a:pt x="3187173" y="0"/>
                  </a:lnTo>
                  <a:cubicBezTo>
                    <a:pt x="3203969" y="0"/>
                    <a:pt x="3217585" y="13616"/>
                    <a:pt x="3217585" y="30412"/>
                  </a:cubicBezTo>
                  <a:lnTo>
                    <a:pt x="3217585" y="729641"/>
                  </a:lnTo>
                  <a:cubicBezTo>
                    <a:pt x="3217585" y="746437"/>
                    <a:pt x="3203969" y="760053"/>
                    <a:pt x="3187173" y="760053"/>
                  </a:cubicBezTo>
                  <a:lnTo>
                    <a:pt x="30412" y="760053"/>
                  </a:lnTo>
                  <a:cubicBezTo>
                    <a:pt x="22346" y="760053"/>
                    <a:pt x="14611" y="756849"/>
                    <a:pt x="8908" y="751145"/>
                  </a:cubicBezTo>
                  <a:cubicBezTo>
                    <a:pt x="3204" y="745442"/>
                    <a:pt x="0" y="737706"/>
                    <a:pt x="0" y="729641"/>
                  </a:cubicBezTo>
                  <a:lnTo>
                    <a:pt x="0" y="30412"/>
                  </a:lnTo>
                  <a:cubicBezTo>
                    <a:pt x="0" y="13616"/>
                    <a:pt x="13616" y="0"/>
                    <a:pt x="304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3721" r="0" b="-4281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351901"/>
            <a:ext cx="16230600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Belanja online sudah menjadi kebiasaan rutin mahasiswa: 72% belanja minimal sebulan sekali dengan rata-rata Rp 310.000 per bulan. Sebagian besar membayar dengan e-wallet (64%), dan hampir seperempatnya memakai paylater (23%). Belanja lewat live streaming juga naik dari 12% pada 2024 menjadi 29% pada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677476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296"/>
            <a:ext cx="6961448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Rumusan Masalah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60362" y="1028700"/>
            <a:ext cx="2513217" cy="8229600"/>
            <a:chOff x="0" y="0"/>
            <a:chExt cx="402098" cy="1316683"/>
          </a:xfrm>
        </p:grpSpPr>
        <p:sp>
          <p:nvSpPr>
            <p:cNvPr name="Freeform 7" id="7"/>
            <p:cNvSpPr/>
            <p:nvPr/>
          </p:nvSpPr>
          <p:spPr>
            <a:xfrm flipH="false" flipV="false" rot="-198844">
              <a:off x="-26442" y="764"/>
              <a:ext cx="454982" cy="1315154"/>
            </a:xfrm>
            <a:custGeom>
              <a:avLst/>
              <a:gdLst/>
              <a:ahLst/>
              <a:cxnLst/>
              <a:rect r="r" b="b" t="t" l="l"/>
              <a:pathLst>
                <a:path h="1315154" w="454982">
                  <a:moveTo>
                    <a:pt x="265549" y="337"/>
                  </a:moveTo>
                  <a:lnTo>
                    <a:pt x="265549" y="337"/>
                  </a:lnTo>
                  <a:cubicBezTo>
                    <a:pt x="376400" y="6756"/>
                    <a:pt x="461059" y="101822"/>
                    <a:pt x="454640" y="212672"/>
                  </a:cubicBezTo>
                  <a:lnTo>
                    <a:pt x="401769" y="1125727"/>
                  </a:lnTo>
                  <a:cubicBezTo>
                    <a:pt x="398686" y="1178960"/>
                    <a:pt x="374583" y="1228787"/>
                    <a:pt x="334763" y="1264249"/>
                  </a:cubicBezTo>
                  <a:cubicBezTo>
                    <a:pt x="294942" y="1299710"/>
                    <a:pt x="242665" y="1317900"/>
                    <a:pt x="189433" y="1314818"/>
                  </a:cubicBezTo>
                  <a:lnTo>
                    <a:pt x="189433" y="1314818"/>
                  </a:lnTo>
                  <a:cubicBezTo>
                    <a:pt x="78582" y="1308399"/>
                    <a:pt x="-6076" y="1213333"/>
                    <a:pt x="343" y="1102482"/>
                  </a:cubicBezTo>
                  <a:lnTo>
                    <a:pt x="53214" y="189427"/>
                  </a:lnTo>
                  <a:cubicBezTo>
                    <a:pt x="56296" y="136195"/>
                    <a:pt x="80399" y="86367"/>
                    <a:pt x="120220" y="50906"/>
                  </a:cubicBezTo>
                  <a:cubicBezTo>
                    <a:pt x="160040" y="15445"/>
                    <a:pt x="212317" y="-2745"/>
                    <a:pt x="265549" y="337"/>
                  </a:cubicBezTo>
                  <a:close/>
                </a:path>
              </a:pathLst>
            </a:custGeom>
            <a:blipFill>
              <a:blip r:embed="rId2"/>
              <a:stretch>
                <a:fillRect l="-77322" t="-1230" r="-58751" b="-85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48411" y="6703493"/>
            <a:ext cx="6610889" cy="2554807"/>
            <a:chOff x="0" y="0"/>
            <a:chExt cx="1741140" cy="672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48411" y="3866097"/>
            <a:ext cx="6610889" cy="2554807"/>
            <a:chOff x="0" y="0"/>
            <a:chExt cx="1741140" cy="672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48411" y="1028700"/>
            <a:ext cx="6610889" cy="2554807"/>
            <a:chOff x="0" y="0"/>
            <a:chExt cx="1741140" cy="672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247337" y="205875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Mahasiswa usia 18-24 tahun di 5 kampus di Medan, pemakai dan bukan pemakai paylater.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7337" y="4872394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Menjadi dasar kelas literasi keuangan di kampus dan tampilan batas paylater di platform.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7337" y="143343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Ruang Lingkup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337" y="4247070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0" spc="-5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Manfaat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7337" y="768602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Apakah pemakai paylater belanja lebih banyak dan lebih sering menyesal daripada bukan pemakai?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47337" y="706070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Pertanyaan Penelitian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514650"/>
            <a:ext cx="5835752" cy="27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Paylater membuat mahasiswa bisa membeli sebelum punya uang. Belum ada data yang menunjukkan apakah hal itu mengubah jumlah belanja dan penyesalan setelah membeli.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5251" y="1028700"/>
            <a:ext cx="6864049" cy="8229600"/>
            <a:chOff x="0" y="0"/>
            <a:chExt cx="1098203" cy="1316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203" cy="1316683"/>
            </a:xfrm>
            <a:custGeom>
              <a:avLst/>
              <a:gdLst/>
              <a:ahLst/>
              <a:cxnLst/>
              <a:rect r="r" b="b" t="t" l="l"/>
              <a:pathLst>
                <a:path h="1316683" w="1098203">
                  <a:moveTo>
                    <a:pt x="89104" y="0"/>
                  </a:moveTo>
                  <a:lnTo>
                    <a:pt x="1009100" y="0"/>
                  </a:lnTo>
                  <a:cubicBezTo>
                    <a:pt x="1032732" y="0"/>
                    <a:pt x="1055395" y="9388"/>
                    <a:pt x="1072106" y="26098"/>
                  </a:cubicBezTo>
                  <a:cubicBezTo>
                    <a:pt x="1088816" y="42808"/>
                    <a:pt x="1098203" y="65472"/>
                    <a:pt x="1098203" y="89104"/>
                  </a:cubicBezTo>
                  <a:lnTo>
                    <a:pt x="1098203" y="1227579"/>
                  </a:lnTo>
                  <a:cubicBezTo>
                    <a:pt x="1098203" y="1276790"/>
                    <a:pt x="1058310" y="1316683"/>
                    <a:pt x="1009100" y="1316683"/>
                  </a:cubicBezTo>
                  <a:lnTo>
                    <a:pt x="89104" y="1316683"/>
                  </a:lnTo>
                  <a:cubicBezTo>
                    <a:pt x="39893" y="1316683"/>
                    <a:pt x="0" y="1276790"/>
                    <a:pt x="0" y="1227579"/>
                  </a:cubicBezTo>
                  <a:lnTo>
                    <a:pt x="0" y="89104"/>
                  </a:lnTo>
                  <a:cubicBezTo>
                    <a:pt x="0" y="39893"/>
                    <a:pt x="39893" y="0"/>
                    <a:pt x="891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55" r="0" b="-12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26875" y="6120793"/>
            <a:ext cx="6610889" cy="2554807"/>
            <a:chOff x="0" y="0"/>
            <a:chExt cx="1741140" cy="672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425801" y="7103328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12 wawancara mendalam tentang alasan memakai paylater dan pengalaman menyesal setelah membeli.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5801" y="6478004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Kualitatif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120793"/>
            <a:ext cx="6610889" cy="2554807"/>
            <a:chOff x="0" y="0"/>
            <a:chExt cx="1741140" cy="672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27626" y="7127090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2075" spc="-5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online 24 pertanyaan dan analisis riwayat transaksi, dibandingkan antara pemakai dan bukan pemakai paylater.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626" y="6501766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Kuantitatif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328675"/>
            <a:ext cx="811530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Penelitian memakai metode campuran yang sama dengan survei awal, supaya hasilnya bisa dibandingkan langsung.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314450"/>
            <a:ext cx="823845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Metodologi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8177" y="659663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57677" y="1315483"/>
            <a:ext cx="7101623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Data Awal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7677" y="4082957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awal menunjukkan harga sebagai alasan utama belanja online. Penelitian ini menguji apakah alasan itu berbeda pada pemakai paylater.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553862" cy="8229600"/>
            <a:chOff x="0" y="0"/>
            <a:chExt cx="1989495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94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89495">
                  <a:moveTo>
                    <a:pt x="102490" y="0"/>
                  </a:moveTo>
                  <a:lnTo>
                    <a:pt x="1887005" y="0"/>
                  </a:lnTo>
                  <a:cubicBezTo>
                    <a:pt x="1914187" y="0"/>
                    <a:pt x="1940256" y="10798"/>
                    <a:pt x="1959476" y="30018"/>
                  </a:cubicBezTo>
                  <a:cubicBezTo>
                    <a:pt x="1978697" y="49239"/>
                    <a:pt x="1989495" y="75308"/>
                    <a:pt x="1989495" y="102490"/>
                  </a:cubicBezTo>
                  <a:lnTo>
                    <a:pt x="1989495" y="2064977"/>
                  </a:lnTo>
                  <a:cubicBezTo>
                    <a:pt x="1989495" y="2121581"/>
                    <a:pt x="1943608" y="2167467"/>
                    <a:pt x="1887005" y="2167467"/>
                  </a:cubicBezTo>
                  <a:lnTo>
                    <a:pt x="102490" y="2167467"/>
                  </a:lnTo>
                  <a:cubicBezTo>
                    <a:pt x="75308" y="2167467"/>
                    <a:pt x="49239" y="2156669"/>
                    <a:pt x="30018" y="2137448"/>
                  </a:cubicBezTo>
                  <a:cubicBezTo>
                    <a:pt x="10798" y="2118228"/>
                    <a:pt x="0" y="2092159"/>
                    <a:pt x="0" y="2064977"/>
                  </a:cubicBezTo>
                  <a:lnTo>
                    <a:pt x="0" y="102490"/>
                  </a:lnTo>
                  <a:cubicBezTo>
                    <a:pt x="0" y="75308"/>
                    <a:pt x="10798" y="49239"/>
                    <a:pt x="30018" y="30018"/>
                  </a:cubicBezTo>
                  <a:cubicBezTo>
                    <a:pt x="49239" y="10798"/>
                    <a:pt x="75308" y="0"/>
                    <a:pt x="102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89495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463040" y="1554480"/>
          <a:ext cx="6675120" cy="7223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158984" y="722376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Open Sauce Bold"/>
              </a:rPr>
              <a:t>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0" y="740664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HK Grotesk Italics"/>
              </a:rPr>
              <a:t>responden survei awal dari 500 yang diundang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211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41711" y="1314450"/>
            <a:ext cx="11754079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Rencana Waktu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30099"/>
            <a:ext cx="16230600" cy="3413234"/>
            <a:chOff x="0" y="0"/>
            <a:chExt cx="4274726" cy="898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98959"/>
            </a:xfrm>
            <a:custGeom>
              <a:avLst/>
              <a:gdLst/>
              <a:ahLst/>
              <a:cxnLst/>
              <a:rect r="r" b="b" t="t" l="l"/>
              <a:pathLst>
                <a:path h="898959" w="4274726">
                  <a:moveTo>
                    <a:pt x="20511" y="0"/>
                  </a:moveTo>
                  <a:lnTo>
                    <a:pt x="4254215" y="0"/>
                  </a:lnTo>
                  <a:cubicBezTo>
                    <a:pt x="4259655" y="0"/>
                    <a:pt x="4264872" y="2161"/>
                    <a:pt x="4268719" y="6007"/>
                  </a:cubicBezTo>
                  <a:cubicBezTo>
                    <a:pt x="4272565" y="9854"/>
                    <a:pt x="4274726" y="15071"/>
                    <a:pt x="4274726" y="20511"/>
                  </a:cubicBezTo>
                  <a:lnTo>
                    <a:pt x="4274726" y="878448"/>
                  </a:lnTo>
                  <a:cubicBezTo>
                    <a:pt x="4274726" y="883888"/>
                    <a:pt x="4272565" y="889105"/>
                    <a:pt x="4268719" y="892951"/>
                  </a:cubicBezTo>
                  <a:cubicBezTo>
                    <a:pt x="4264872" y="896798"/>
                    <a:pt x="4259655" y="898959"/>
                    <a:pt x="4254215" y="898959"/>
                  </a:cubicBezTo>
                  <a:lnTo>
                    <a:pt x="20511" y="898959"/>
                  </a:lnTo>
                  <a:cubicBezTo>
                    <a:pt x="15071" y="898959"/>
                    <a:pt x="9854" y="896798"/>
                    <a:pt x="6007" y="892951"/>
                  </a:cubicBezTo>
                  <a:cubicBezTo>
                    <a:pt x="2161" y="889105"/>
                    <a:pt x="0" y="883888"/>
                    <a:pt x="0" y="878448"/>
                  </a:cubicBezTo>
                  <a:lnTo>
                    <a:pt x="0" y="20511"/>
                  </a:lnTo>
                  <a:cubicBezTo>
                    <a:pt x="0" y="15071"/>
                    <a:pt x="2161" y="9854"/>
                    <a:pt x="6007" y="6007"/>
                  </a:cubicBezTo>
                  <a:cubicBezTo>
                    <a:pt x="9854" y="2161"/>
                    <a:pt x="15071" y="0"/>
                    <a:pt x="2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89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9132" y="3580317"/>
            <a:ext cx="3519226" cy="737665"/>
            <a:chOff x="0" y="0"/>
            <a:chExt cx="926874" cy="194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42550" y="3580317"/>
            <a:ext cx="3519226" cy="737665"/>
            <a:chOff x="0" y="0"/>
            <a:chExt cx="926874" cy="194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19712" y="492669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Izin penelitian di 5 kampus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9712" y="625833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Penyusunan kuesioner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6986" y="4788581"/>
            <a:ext cx="3149840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online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6986" y="6258334"/>
            <a:ext cx="3149840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Pengumpulan riwayat transaksi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25967" y="3580317"/>
            <a:ext cx="3519226" cy="737665"/>
            <a:chOff x="0" y="0"/>
            <a:chExt cx="926874" cy="1942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09642" y="3580317"/>
            <a:ext cx="3519226" cy="737665"/>
            <a:chOff x="0" y="0"/>
            <a:chExt cx="926874" cy="1942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59132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Tahap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2293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Tahap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25967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Tahap 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09642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Tahap 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2741" y="4788581"/>
            <a:ext cx="2765678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12 wawancara mendalam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2741" y="6258334"/>
            <a:ext cx="2765678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Analisis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18368" y="4788581"/>
            <a:ext cx="2499720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Laporan akhir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27870" y="6258334"/>
            <a:ext cx="3082769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Rekomendasi untuk kampus dan platform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58772" y="5925222"/>
            <a:ext cx="1567009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5008612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9239784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13470956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028700" y="8351901"/>
            <a:ext cx="16230600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Rencana empat tahap. Tanggal pasti ditetapkan setelah proposal disetujui.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38206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Dugaan awal: pemakai paylater belanja lebih banyak per bulan dan lebih sering menyesal. Jika terbukti, batas paylater yang tampil jelas menjadi rekomendasi utama.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1854" y="7132701"/>
            <a:ext cx="3878469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mahasiswa dalam survei awal memakai paylater.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314450"/>
            <a:ext cx="7597481" cy="205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9"/>
              </a:lnSpc>
            </a:pPr>
            <a:r>
              <a:rPr lang="en-US" b="true" sz="8999" spc="-35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Temuan yang Diharapkan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00057"/>
            <a:ext cx="3292424" cy="1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20"/>
              </a:lnSpc>
            </a:pPr>
            <a:r>
              <a:rPr lang="en-US" b="true" sz="10689" spc="-42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23%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08199" y="1028700"/>
            <a:ext cx="7951101" cy="8229600"/>
            <a:chOff x="0" y="0"/>
            <a:chExt cx="2094117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4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94117">
                  <a:moveTo>
                    <a:pt x="97369" y="0"/>
                  </a:moveTo>
                  <a:lnTo>
                    <a:pt x="1996748" y="0"/>
                  </a:lnTo>
                  <a:cubicBezTo>
                    <a:pt x="2050523" y="0"/>
                    <a:pt x="2094117" y="43594"/>
                    <a:pt x="2094117" y="97369"/>
                  </a:cubicBezTo>
                  <a:lnTo>
                    <a:pt x="2094117" y="2070097"/>
                  </a:lnTo>
                  <a:cubicBezTo>
                    <a:pt x="2094117" y="2123873"/>
                    <a:pt x="2050523" y="2167467"/>
                    <a:pt x="1996748" y="2167467"/>
                  </a:cubicBezTo>
                  <a:lnTo>
                    <a:pt x="97369" y="2167467"/>
                  </a:lnTo>
                  <a:cubicBezTo>
                    <a:pt x="71545" y="2167467"/>
                    <a:pt x="46779" y="2157208"/>
                    <a:pt x="28519" y="2138948"/>
                  </a:cubicBezTo>
                  <a:cubicBezTo>
                    <a:pt x="10259" y="2120688"/>
                    <a:pt x="0" y="2095921"/>
                    <a:pt x="0" y="2070097"/>
                  </a:cubicBezTo>
                  <a:lnTo>
                    <a:pt x="0" y="97369"/>
                  </a:lnTo>
                  <a:cubicBezTo>
                    <a:pt x="0" y="43594"/>
                    <a:pt x="43594" y="0"/>
                    <a:pt x="973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94117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692640" y="1463040"/>
          <a:ext cx="7223760" cy="7315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249" y="4895159"/>
            <a:ext cx="17762815" cy="255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21"/>
              </a:lnSpc>
            </a:pPr>
            <a:r>
              <a:rPr lang="en-US" b="true" sz="22356" spc="-89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Terima Kasih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Paylater dan kebiasaan belanja mahasiswa,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426815"/>
            <a:ext cx="62407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</a:pPr>
            <a:r>
              <a:rPr lang="en-US" sz="3378" spc="-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Pertanyaan dan saran dipersilakan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688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  <a:spcBef>
                <a:spcPct val="0"/>
              </a:spcBef>
            </a:pPr>
            <a:r>
              <a:rPr lang="en-US" b="true" sz="2199" spc="-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Proposal Penelitian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DAHV1FbOXBc</dc:identifier>
  <dcterms:modified xsi:type="dcterms:W3CDTF">2011-08-01T06:04:30Z</dcterms:modified>
  <cp:revision>1</cp:revision>
  <dc:title>Black and White Modern Research Proposal Presentation</dc:title>
</cp:coreProperties>
</file>