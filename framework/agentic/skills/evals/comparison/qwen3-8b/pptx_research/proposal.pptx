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</p:sldIdLst>
  <p:sldSz cx="18288000" cy="10287000"/>
  <p:notesSz cx="6858000" cy="9144000"/>
  <p:embeddedFontLst>
    <p:embeddedFont>
      <p:font typeface="Open Sauce Bold" charset="1" panose="00000800000000000000"/>
      <p:regular r:id="rId21"/>
    </p:embeddedFont>
    <p:embeddedFont>
      <p:font typeface="Open Sauce" charset="1" panose="00000500000000000000"/>
      <p:regular r:id="rId22"/>
    </p:embeddedFont>
    <p:embeddedFont>
      <p:font typeface="HK Grotesk" charset="1" panose="00000500000000000000"/>
      <p:regular r:id="rId23"/>
    </p:embeddedFont>
    <p:embeddedFont>
      <p:font typeface="HK Grotesk Italics" charset="1" panose="00000500000000000000"/>
      <p:regular r:id="rId24"/>
    </p:embeddedFont>
    <p:embeddedFont>
      <p:font typeface="HK Grotesk Bold" charset="1" panose="00000800000000000000"/>
      <p:regular r:id="rId25"/>
    </p:embeddedFont>
    <p:embeddedFont>
      <p:font typeface="Open Sans" charset="1" panose="020B0606030504020204"/>
      <p:regular r:id="rId26"/>
    </p:embeddedFont>
    <p:embeddedFont>
      <p:font typeface="Open Sans Italics" charset="1" panose="020B06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Belanja Live Streaming</c:v>
                </c:pt>
              </c:strCache>
            </c:strRef>
          </c:tx>
          <c:spPr>
            <a:solidFill>
              <a:srgbClr val="5B5B5B"/>
            </a:solidFill>
          </c:spPr>
          <c:cat>
            <c:strRef>
              <c:f>Sheet1!$A$2:$A$3</c:f>
              <c:strCache>
                <c:ptCount val="2"/>
                <c:pt idx="0">
                  <c:v>2024</c:v>
                </c:pt>
                <c:pt idx="1">
                  <c:v>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29.0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3A3A3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A3A3A"/>
            </a:solidFill>
          </a:ln>
        </c:spPr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FFFFFF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Alasan Belanja</c:v>
                </c:pt>
              </c:strCache>
            </c:strRef>
          </c:tx>
          <c:spPr>
            <a:solidFill>
              <a:srgbClr val="5B5B5B">
                <a:alpha val="60000"/>
              </a:srgbClr>
            </a:solidFill>
            <a:ln>
              <a:solidFill>
                <a:srgbClr val="5B5B5B"/>
              </a:solidFill>
            </a:ln>
          </c:spPr>
          <c:cat>
            <c:strRef>
              <c:f>Sheet1!$A$2:$A$4</c:f>
              <c:strCache>
                <c:ptCount val="3"/>
                <c:pt idx="0">
                  <c:v>Harga</c:v>
                </c:pt>
                <c:pt idx="1">
                  <c:v>Kemudahan</c:v>
                </c:pt>
                <c:pt idx="2">
                  <c:v>Pilihan Produk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31.0</c:v>
                </c:pt>
                <c:pt idx="2">
                  <c:v>15.0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>
          <a:solidFill>
            <a:srgbClr val="000000"/>
          </a:solidFill>
          <a:latin typeface="HK Grotesk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36338" y="6642844"/>
            <a:ext cx="16959343" cy="166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60"/>
              </a:lnSpc>
            </a:pPr>
            <a:r>
              <a:rPr lang="en-US" b="true" sz="7289" spc="-29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Pengaruh Paylater terhadap Kebiasaan Belanja Mahasiswa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833" y="8398138"/>
            <a:ext cx="6492240" cy="1095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43"/>
              </a:lnSpc>
            </a:pPr>
            <a:r>
              <a:rPr lang="en-US" sz="5826" spc="-23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"/>
                <a:ea typeface="Open Sauce"/>
                <a:cs typeface="Open Sauce"/>
                <a:sym typeface="Open Sauce"/>
              </a:rPr>
              <a:t>Research Proposal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Proposal - Fakultas Ekonomi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  <a:spcBef>
                <a:spcPct val="0"/>
              </a:spcBef>
            </a:pPr>
            <a:r>
              <a:rPr lang="en-US" b="true" sz="2164" spc="-3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Universitas Negeri Medan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14450"/>
            <a:ext cx="4572000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Halo!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401448"/>
            <a:ext cx="16230600" cy="5856852"/>
            <a:chOff x="0" y="0"/>
            <a:chExt cx="4274726" cy="154254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542545"/>
            </a:xfrm>
            <a:custGeom>
              <a:avLst/>
              <a:gdLst/>
              <a:ahLst/>
              <a:cxnLst/>
              <a:rect r="r" b="b" t="t" l="l"/>
              <a:pathLst>
                <a:path h="1542545" w="4274726">
                  <a:moveTo>
                    <a:pt x="47700" y="0"/>
                  </a:moveTo>
                  <a:lnTo>
                    <a:pt x="4227026" y="0"/>
                  </a:lnTo>
                  <a:cubicBezTo>
                    <a:pt x="4239677" y="0"/>
                    <a:pt x="4251809" y="5025"/>
                    <a:pt x="4260755" y="13971"/>
                  </a:cubicBezTo>
                  <a:cubicBezTo>
                    <a:pt x="4269700" y="22916"/>
                    <a:pt x="4274726" y="35049"/>
                    <a:pt x="4274726" y="47700"/>
                  </a:cubicBezTo>
                  <a:lnTo>
                    <a:pt x="4274726" y="1494846"/>
                  </a:lnTo>
                  <a:cubicBezTo>
                    <a:pt x="4274726" y="1507496"/>
                    <a:pt x="4269700" y="1519629"/>
                    <a:pt x="4260755" y="1528574"/>
                  </a:cubicBezTo>
                  <a:cubicBezTo>
                    <a:pt x="4251809" y="1537520"/>
                    <a:pt x="4239677" y="1542545"/>
                    <a:pt x="4227026" y="1542545"/>
                  </a:cubicBezTo>
                  <a:lnTo>
                    <a:pt x="47700" y="1542545"/>
                  </a:lnTo>
                  <a:cubicBezTo>
                    <a:pt x="35049" y="1542545"/>
                    <a:pt x="22916" y="1537520"/>
                    <a:pt x="13971" y="1528574"/>
                  </a:cubicBezTo>
                  <a:cubicBezTo>
                    <a:pt x="5025" y="1519629"/>
                    <a:pt x="0" y="1507496"/>
                    <a:pt x="0" y="1494846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1542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74048" y="4295725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Survei dilakukan pada 350 mahasiswa dari 500 yang diundang, usia 18-24 tahun, di 5 kampus di Medan.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04756" y="1318450"/>
            <a:ext cx="11454544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Penelitian ini menggambarkan kebiasaan belanja online mahasiswa.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4048" y="6514650"/>
            <a:ext cx="8843436" cy="1820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Metode penelitian meliputi survei online, wawancara mendalam, dan analisis riwayat transaksi.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492840" y="3971141"/>
            <a:ext cx="4992890" cy="4717467"/>
            <a:chOff x="0" y="0"/>
            <a:chExt cx="798830" cy="7547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98830" cy="754764"/>
            </a:xfrm>
            <a:custGeom>
              <a:avLst/>
              <a:gdLst/>
              <a:ahLst/>
              <a:cxnLst/>
              <a:rect r="r" b="b" t="t" l="l"/>
              <a:pathLst>
                <a:path h="754764" w="798830">
                  <a:moveTo>
                    <a:pt x="122497" y="0"/>
                  </a:moveTo>
                  <a:lnTo>
                    <a:pt x="676334" y="0"/>
                  </a:lnTo>
                  <a:cubicBezTo>
                    <a:pt x="708822" y="0"/>
                    <a:pt x="739979" y="12906"/>
                    <a:pt x="762952" y="35878"/>
                  </a:cubicBezTo>
                  <a:cubicBezTo>
                    <a:pt x="785924" y="58851"/>
                    <a:pt x="798830" y="90008"/>
                    <a:pt x="798830" y="122497"/>
                  </a:cubicBezTo>
                  <a:lnTo>
                    <a:pt x="798830" y="632268"/>
                  </a:lnTo>
                  <a:cubicBezTo>
                    <a:pt x="798830" y="699921"/>
                    <a:pt x="743987" y="754764"/>
                    <a:pt x="676334" y="754764"/>
                  </a:cubicBezTo>
                  <a:lnTo>
                    <a:pt x="122497" y="754764"/>
                  </a:lnTo>
                  <a:cubicBezTo>
                    <a:pt x="54844" y="754764"/>
                    <a:pt x="0" y="699921"/>
                    <a:pt x="0" y="632268"/>
                  </a:cubicBezTo>
                  <a:lnTo>
                    <a:pt x="0" y="122497"/>
                  </a:lnTo>
                  <a:cubicBezTo>
                    <a:pt x="0" y="54844"/>
                    <a:pt x="54844" y="0"/>
                    <a:pt x="122497" y="0"/>
                  </a:cubicBezTo>
                  <a:close/>
                </a:path>
              </a:pathLst>
            </a:custGeom>
            <a:blipFill>
              <a:blip r:embed="rId2"/>
              <a:stretch>
                <a:fillRect l="-20862" t="0" r="-20862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8681" y="873766"/>
            <a:ext cx="838118" cy="83811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17046" y="4405324"/>
            <a:ext cx="838118" cy="83811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8681" y="2123387"/>
            <a:ext cx="838118" cy="83811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17046" y="5654944"/>
            <a:ext cx="838118" cy="83811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1028700"/>
            <a:ext cx="7597481" cy="983513"/>
            <a:chOff x="0" y="0"/>
            <a:chExt cx="2000983" cy="2590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61819" y="4525926"/>
            <a:ext cx="7597481" cy="983513"/>
            <a:chOff x="0" y="0"/>
            <a:chExt cx="2000983" cy="2590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2278320"/>
            <a:ext cx="7597481" cy="983513"/>
            <a:chOff x="0" y="0"/>
            <a:chExt cx="2000983" cy="2590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61819" y="5775546"/>
            <a:ext cx="7597481" cy="983513"/>
            <a:chOff x="0" y="0"/>
            <a:chExt cx="2000983" cy="259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28681" y="3373007"/>
            <a:ext cx="838118" cy="8381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28700" y="3527941"/>
            <a:ext cx="7597481" cy="983513"/>
            <a:chOff x="0" y="0"/>
            <a:chExt cx="2000983" cy="259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28681" y="4622627"/>
            <a:ext cx="838118" cy="83811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8700" y="4777561"/>
            <a:ext cx="7597481" cy="983513"/>
            <a:chOff x="0" y="0"/>
            <a:chExt cx="2000983" cy="2590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00983" cy="259032"/>
            </a:xfrm>
            <a:custGeom>
              <a:avLst/>
              <a:gdLst/>
              <a:ahLst/>
              <a:cxnLst/>
              <a:rect r="r" b="b" t="t" l="l"/>
              <a:pathLst>
                <a:path h="259032" w="2000983">
                  <a:moveTo>
                    <a:pt x="101901" y="0"/>
                  </a:moveTo>
                  <a:lnTo>
                    <a:pt x="1899081" y="0"/>
                  </a:lnTo>
                  <a:cubicBezTo>
                    <a:pt x="1955360" y="0"/>
                    <a:pt x="2000983" y="45623"/>
                    <a:pt x="2000983" y="101901"/>
                  </a:cubicBezTo>
                  <a:lnTo>
                    <a:pt x="2000983" y="157131"/>
                  </a:lnTo>
                  <a:cubicBezTo>
                    <a:pt x="2000983" y="213410"/>
                    <a:pt x="1955360" y="259032"/>
                    <a:pt x="1899081" y="259032"/>
                  </a:cubicBezTo>
                  <a:lnTo>
                    <a:pt x="101901" y="259032"/>
                  </a:lnTo>
                  <a:cubicBezTo>
                    <a:pt x="45623" y="259032"/>
                    <a:pt x="0" y="213410"/>
                    <a:pt x="0" y="157131"/>
                  </a:cubicBezTo>
                  <a:lnTo>
                    <a:pt x="0" y="101901"/>
                  </a:lnTo>
                  <a:cubicBezTo>
                    <a:pt x="0" y="45623"/>
                    <a:pt x="45623" y="0"/>
                    <a:pt x="1019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00983" cy="259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79200" y="6561282"/>
            <a:ext cx="2155619" cy="215561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028700" y="7095869"/>
            <a:ext cx="7597481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Agenda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22044" y="127410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55164" y="477132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22044" y="252372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0255164" y="6020949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26561" y="1273775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Latar Belakang Penelitian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559681" y="4771001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Rencana Penelitian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926561" y="252339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Permasalahan Penelitian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559681" y="6020622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Hasil yang Diharapkan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22044" y="3773343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926561" y="377301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Metodologi Penelitian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622044" y="5022964"/>
            <a:ext cx="1110568" cy="54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7"/>
              </a:lnSpc>
            </a:pPr>
            <a:r>
              <a:rPr lang="en-US" b="true" sz="3863" spc="-204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04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2926561" y="5022636"/>
            <a:ext cx="4742252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000" spc="-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Data Kuantitatif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9661819" y="1028700"/>
            <a:ext cx="7597481" cy="2697018"/>
            <a:chOff x="0" y="0"/>
            <a:chExt cx="1215548" cy="43150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5548" cy="431505"/>
            </a:xfrm>
            <a:custGeom>
              <a:avLst/>
              <a:gdLst/>
              <a:ahLst/>
              <a:cxnLst/>
              <a:rect r="r" b="b" t="t" l="l"/>
              <a:pathLst>
                <a:path h="431505" w="1215548">
                  <a:moveTo>
                    <a:pt x="80502" y="0"/>
                  </a:moveTo>
                  <a:lnTo>
                    <a:pt x="1135046" y="0"/>
                  </a:lnTo>
                  <a:cubicBezTo>
                    <a:pt x="1156396" y="0"/>
                    <a:pt x="1176872" y="8481"/>
                    <a:pt x="1191969" y="23578"/>
                  </a:cubicBezTo>
                  <a:cubicBezTo>
                    <a:pt x="1207066" y="38676"/>
                    <a:pt x="1215548" y="59151"/>
                    <a:pt x="1215548" y="80502"/>
                  </a:cubicBezTo>
                  <a:lnTo>
                    <a:pt x="1215548" y="351004"/>
                  </a:lnTo>
                  <a:cubicBezTo>
                    <a:pt x="1215548" y="372354"/>
                    <a:pt x="1207066" y="392830"/>
                    <a:pt x="1191969" y="407927"/>
                  </a:cubicBezTo>
                  <a:cubicBezTo>
                    <a:pt x="1176872" y="423024"/>
                    <a:pt x="1156396" y="431505"/>
                    <a:pt x="1135046" y="431505"/>
                  </a:cubicBezTo>
                  <a:lnTo>
                    <a:pt x="80502" y="431505"/>
                  </a:lnTo>
                  <a:cubicBezTo>
                    <a:pt x="59151" y="431505"/>
                    <a:pt x="38676" y="423024"/>
                    <a:pt x="23578" y="407927"/>
                  </a:cubicBezTo>
                  <a:cubicBezTo>
                    <a:pt x="8481" y="392830"/>
                    <a:pt x="0" y="372354"/>
                    <a:pt x="0" y="351004"/>
                  </a:cubicBezTo>
                  <a:lnTo>
                    <a:pt x="0" y="80502"/>
                  </a:lnTo>
                  <a:cubicBezTo>
                    <a:pt x="0" y="59151"/>
                    <a:pt x="8481" y="38676"/>
                    <a:pt x="23578" y="23578"/>
                  </a:cubicBezTo>
                  <a:cubicBezTo>
                    <a:pt x="38676" y="8481"/>
                    <a:pt x="59151" y="0"/>
                    <a:pt x="8050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3985" r="0" b="-43985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4738568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5394388"/>
            <a:ext cx="10464140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Latar Belakang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715817" y="-265773"/>
            <a:ext cx="20110719" cy="4750522"/>
            <a:chOff x="0" y="0"/>
            <a:chExt cx="3217585" cy="7600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17585" cy="760053"/>
            </a:xfrm>
            <a:custGeom>
              <a:avLst/>
              <a:gdLst/>
              <a:ahLst/>
              <a:cxnLst/>
              <a:rect r="r" b="b" t="t" l="l"/>
              <a:pathLst>
                <a:path h="760053" w="3217585">
                  <a:moveTo>
                    <a:pt x="30412" y="0"/>
                  </a:moveTo>
                  <a:lnTo>
                    <a:pt x="3187173" y="0"/>
                  </a:lnTo>
                  <a:cubicBezTo>
                    <a:pt x="3203969" y="0"/>
                    <a:pt x="3217585" y="13616"/>
                    <a:pt x="3217585" y="30412"/>
                  </a:cubicBezTo>
                  <a:lnTo>
                    <a:pt x="3217585" y="729641"/>
                  </a:lnTo>
                  <a:cubicBezTo>
                    <a:pt x="3217585" y="746437"/>
                    <a:pt x="3203969" y="760053"/>
                    <a:pt x="3187173" y="760053"/>
                  </a:cubicBezTo>
                  <a:lnTo>
                    <a:pt x="30412" y="760053"/>
                  </a:lnTo>
                  <a:cubicBezTo>
                    <a:pt x="22346" y="760053"/>
                    <a:pt x="14611" y="756849"/>
                    <a:pt x="8908" y="751145"/>
                  </a:cubicBezTo>
                  <a:cubicBezTo>
                    <a:pt x="3204" y="745442"/>
                    <a:pt x="0" y="737706"/>
                    <a:pt x="0" y="729641"/>
                  </a:cubicBezTo>
                  <a:lnTo>
                    <a:pt x="0" y="30412"/>
                  </a:lnTo>
                  <a:cubicBezTo>
                    <a:pt x="0" y="13616"/>
                    <a:pt x="13616" y="0"/>
                    <a:pt x="3041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93721" r="0" b="-42817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8351901"/>
            <a:ext cx="16230600" cy="90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Penelitian ini bertujuan untuk mengeksplorasi pengaruh penggunaan paylater terhadap kebiasaan belanja mahasiswa. Dengan meningkatnya tren belanja online, penggunaan layanan paylater menjadi semakin populer.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9200" y="677476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333296"/>
            <a:ext cx="6961448" cy="18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7999" spc="-3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Permasalahan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60362" y="1028700"/>
            <a:ext cx="2513217" cy="8229600"/>
            <a:chOff x="0" y="0"/>
            <a:chExt cx="402098" cy="1316683"/>
          </a:xfrm>
        </p:grpSpPr>
        <p:sp>
          <p:nvSpPr>
            <p:cNvPr name="Freeform 7" id="7"/>
            <p:cNvSpPr/>
            <p:nvPr/>
          </p:nvSpPr>
          <p:spPr>
            <a:xfrm flipH="false" flipV="false" rot="-198844">
              <a:off x="-26442" y="764"/>
              <a:ext cx="454982" cy="1315154"/>
            </a:xfrm>
            <a:custGeom>
              <a:avLst/>
              <a:gdLst/>
              <a:ahLst/>
              <a:cxnLst/>
              <a:rect r="r" b="b" t="t" l="l"/>
              <a:pathLst>
                <a:path h="1315154" w="454982">
                  <a:moveTo>
                    <a:pt x="265549" y="337"/>
                  </a:moveTo>
                  <a:lnTo>
                    <a:pt x="265549" y="337"/>
                  </a:lnTo>
                  <a:cubicBezTo>
                    <a:pt x="376400" y="6756"/>
                    <a:pt x="461059" y="101822"/>
                    <a:pt x="454640" y="212672"/>
                  </a:cubicBezTo>
                  <a:lnTo>
                    <a:pt x="401769" y="1125727"/>
                  </a:lnTo>
                  <a:cubicBezTo>
                    <a:pt x="398686" y="1178960"/>
                    <a:pt x="374583" y="1228787"/>
                    <a:pt x="334763" y="1264249"/>
                  </a:cubicBezTo>
                  <a:cubicBezTo>
                    <a:pt x="294942" y="1299710"/>
                    <a:pt x="242665" y="1317900"/>
                    <a:pt x="189433" y="1314818"/>
                  </a:cubicBezTo>
                  <a:lnTo>
                    <a:pt x="189433" y="1314818"/>
                  </a:lnTo>
                  <a:cubicBezTo>
                    <a:pt x="78582" y="1308399"/>
                    <a:pt x="-6076" y="1213333"/>
                    <a:pt x="343" y="1102482"/>
                  </a:cubicBezTo>
                  <a:lnTo>
                    <a:pt x="53214" y="189427"/>
                  </a:lnTo>
                  <a:cubicBezTo>
                    <a:pt x="56296" y="136195"/>
                    <a:pt x="80399" y="86367"/>
                    <a:pt x="120220" y="50906"/>
                  </a:cubicBezTo>
                  <a:cubicBezTo>
                    <a:pt x="160040" y="15445"/>
                    <a:pt x="212317" y="-2745"/>
                    <a:pt x="265549" y="337"/>
                  </a:cubicBezTo>
                  <a:close/>
                </a:path>
              </a:pathLst>
            </a:custGeom>
            <a:blipFill>
              <a:blip r:embed="rId2"/>
              <a:stretch>
                <a:fillRect l="-77322" t="-1230" r="-58751" b="-85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48411" y="6703493"/>
            <a:ext cx="6610889" cy="2554807"/>
            <a:chOff x="0" y="0"/>
            <a:chExt cx="1741140" cy="672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48411" y="3866097"/>
            <a:ext cx="6610889" cy="2554807"/>
            <a:chOff x="0" y="0"/>
            <a:chExt cx="1741140" cy="6728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48411" y="1028700"/>
            <a:ext cx="6610889" cy="2554807"/>
            <a:chOff x="0" y="0"/>
            <a:chExt cx="1741140" cy="6728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117109" y="0"/>
                  </a:moveTo>
                  <a:lnTo>
                    <a:pt x="1624031" y="0"/>
                  </a:lnTo>
                  <a:cubicBezTo>
                    <a:pt x="1688708" y="0"/>
                    <a:pt x="1741139" y="52431"/>
                    <a:pt x="1741139" y="117109"/>
                  </a:cubicBezTo>
                  <a:lnTo>
                    <a:pt x="1741139" y="555762"/>
                  </a:lnTo>
                  <a:cubicBezTo>
                    <a:pt x="1741139" y="586821"/>
                    <a:pt x="1728801" y="616608"/>
                    <a:pt x="1706839" y="638571"/>
                  </a:cubicBezTo>
                  <a:cubicBezTo>
                    <a:pt x="1684877" y="660533"/>
                    <a:pt x="1655090" y="672871"/>
                    <a:pt x="1624031" y="672871"/>
                  </a:cubicBezTo>
                  <a:lnTo>
                    <a:pt x="117109" y="672871"/>
                  </a:lnTo>
                  <a:cubicBezTo>
                    <a:pt x="86049" y="672871"/>
                    <a:pt x="56262" y="660533"/>
                    <a:pt x="34300" y="638571"/>
                  </a:cubicBezTo>
                  <a:cubicBezTo>
                    <a:pt x="12338" y="616608"/>
                    <a:pt x="0" y="586821"/>
                    <a:pt x="0" y="555762"/>
                  </a:cubicBezTo>
                  <a:lnTo>
                    <a:pt x="0" y="117109"/>
                  </a:lnTo>
                  <a:cubicBezTo>
                    <a:pt x="0" y="86049"/>
                    <a:pt x="12338" y="56262"/>
                    <a:pt x="34300" y="34300"/>
                  </a:cubicBezTo>
                  <a:cubicBezTo>
                    <a:pt x="56262" y="12338"/>
                    <a:pt x="86049" y="0"/>
                    <a:pt x="11710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247337" y="205875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Survei dilakukan pada 350 mahasiswa dari 5 kampus di Medan.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47337" y="4872394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Penggunaan paylater meningkat dari 12% (2024) menjadi 29% (2026).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47337" y="143343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Cakupan Penelitian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47337" y="4247070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600" spc="-57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Relevansi Penelitian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47337" y="7686029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Bagaimana penggunaan paylater memengaruhi kebiasaan belanja mahasiswa?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47337" y="7060705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Pertanyaan Penelitian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6514650"/>
            <a:ext cx="5835752" cy="27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Bagaimana penggunaan paylater memengaruhi kebiasaan belanja mahasiswa?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395251" y="1028700"/>
            <a:ext cx="6864049" cy="8229600"/>
            <a:chOff x="0" y="0"/>
            <a:chExt cx="1098203" cy="13166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8203" cy="1316683"/>
            </a:xfrm>
            <a:custGeom>
              <a:avLst/>
              <a:gdLst/>
              <a:ahLst/>
              <a:cxnLst/>
              <a:rect r="r" b="b" t="t" l="l"/>
              <a:pathLst>
                <a:path h="1316683" w="1098203">
                  <a:moveTo>
                    <a:pt x="89104" y="0"/>
                  </a:moveTo>
                  <a:lnTo>
                    <a:pt x="1009100" y="0"/>
                  </a:lnTo>
                  <a:cubicBezTo>
                    <a:pt x="1032732" y="0"/>
                    <a:pt x="1055395" y="9388"/>
                    <a:pt x="1072106" y="26098"/>
                  </a:cubicBezTo>
                  <a:cubicBezTo>
                    <a:pt x="1088816" y="42808"/>
                    <a:pt x="1098203" y="65472"/>
                    <a:pt x="1098203" y="89104"/>
                  </a:cubicBezTo>
                  <a:lnTo>
                    <a:pt x="1098203" y="1227579"/>
                  </a:lnTo>
                  <a:cubicBezTo>
                    <a:pt x="1098203" y="1276790"/>
                    <a:pt x="1058310" y="1316683"/>
                    <a:pt x="1009100" y="1316683"/>
                  </a:cubicBezTo>
                  <a:lnTo>
                    <a:pt x="89104" y="1316683"/>
                  </a:lnTo>
                  <a:cubicBezTo>
                    <a:pt x="39893" y="1316683"/>
                    <a:pt x="0" y="1276790"/>
                    <a:pt x="0" y="1227579"/>
                  </a:cubicBezTo>
                  <a:lnTo>
                    <a:pt x="0" y="89104"/>
                  </a:lnTo>
                  <a:cubicBezTo>
                    <a:pt x="0" y="39893"/>
                    <a:pt x="39893" y="0"/>
                    <a:pt x="8910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555" r="0" b="-125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26875" y="6120793"/>
            <a:ext cx="6610889" cy="2554807"/>
            <a:chOff x="0" y="0"/>
            <a:chExt cx="1741140" cy="672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425801" y="7103328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Survei online dengan 24 pertanyaan dilakukan pada 350 responden.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25801" y="6478004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Kuantitatif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6120793"/>
            <a:ext cx="6610889" cy="2554807"/>
            <a:chOff x="0" y="0"/>
            <a:chExt cx="1741140" cy="6728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1139" cy="672871"/>
            </a:xfrm>
            <a:custGeom>
              <a:avLst/>
              <a:gdLst/>
              <a:ahLst/>
              <a:cxnLst/>
              <a:rect r="r" b="b" t="t" l="l"/>
              <a:pathLst>
                <a:path h="672871" w="1741139">
                  <a:moveTo>
                    <a:pt x="94858" y="0"/>
                  </a:moveTo>
                  <a:lnTo>
                    <a:pt x="1646281" y="0"/>
                  </a:lnTo>
                  <a:cubicBezTo>
                    <a:pt x="1698670" y="0"/>
                    <a:pt x="1741139" y="42469"/>
                    <a:pt x="1741139" y="94858"/>
                  </a:cubicBezTo>
                  <a:lnTo>
                    <a:pt x="1741139" y="578013"/>
                  </a:lnTo>
                  <a:cubicBezTo>
                    <a:pt x="1741139" y="630402"/>
                    <a:pt x="1698670" y="672871"/>
                    <a:pt x="1646281" y="672871"/>
                  </a:cubicBezTo>
                  <a:lnTo>
                    <a:pt x="94858" y="672871"/>
                  </a:lnTo>
                  <a:cubicBezTo>
                    <a:pt x="42469" y="672871"/>
                    <a:pt x="0" y="630402"/>
                    <a:pt x="0" y="578013"/>
                  </a:cubicBezTo>
                  <a:lnTo>
                    <a:pt x="0" y="94858"/>
                  </a:lnTo>
                  <a:cubicBezTo>
                    <a:pt x="0" y="42469"/>
                    <a:pt x="42469" y="0"/>
                    <a:pt x="9485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741140" cy="6728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27626" y="7127090"/>
            <a:ext cx="5701977" cy="110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8"/>
              </a:lnSpc>
            </a:pPr>
            <a:r>
              <a:rPr lang="en-US" sz="2080" spc="-52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12 wawancara mendalam dilakukan untuk memahami motivasi belanja.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27626" y="6501766"/>
            <a:ext cx="4204449" cy="408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600" spc="-57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Metode Kualitatif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3328675"/>
            <a:ext cx="8115300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Penelitian menggunakan pendekatan kuantitatif dan kualitatif untuk mengumpulkan data yang akurat.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1314450"/>
            <a:ext cx="8238451" cy="182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99"/>
              </a:lnSpc>
            </a:pPr>
            <a:r>
              <a:rPr lang="en-US" b="true" sz="7999" spc="-31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Metodologi Penelitian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8177" y="659663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157677" y="1315483"/>
            <a:ext cx="7101623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Data Kuantitatif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57677" y="4082957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Hasil survei menunjukkan tren belanja online dan penggunaan paylater.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7553862" cy="8229600"/>
            <a:chOff x="0" y="0"/>
            <a:chExt cx="1989495" cy="21674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89495" cy="2167467"/>
            </a:xfrm>
            <a:custGeom>
              <a:avLst/>
              <a:gdLst/>
              <a:ahLst/>
              <a:cxnLst/>
              <a:rect r="r" b="b" t="t" l="l"/>
              <a:pathLst>
                <a:path h="2167467" w="1989495">
                  <a:moveTo>
                    <a:pt x="102490" y="0"/>
                  </a:moveTo>
                  <a:lnTo>
                    <a:pt x="1887005" y="0"/>
                  </a:lnTo>
                  <a:cubicBezTo>
                    <a:pt x="1914187" y="0"/>
                    <a:pt x="1940256" y="10798"/>
                    <a:pt x="1959476" y="30018"/>
                  </a:cubicBezTo>
                  <a:cubicBezTo>
                    <a:pt x="1978697" y="49239"/>
                    <a:pt x="1989495" y="75308"/>
                    <a:pt x="1989495" y="102490"/>
                  </a:cubicBezTo>
                  <a:lnTo>
                    <a:pt x="1989495" y="2064977"/>
                  </a:lnTo>
                  <a:cubicBezTo>
                    <a:pt x="1989495" y="2121581"/>
                    <a:pt x="1943608" y="2167467"/>
                    <a:pt x="1887005" y="2167467"/>
                  </a:cubicBezTo>
                  <a:lnTo>
                    <a:pt x="102490" y="2167467"/>
                  </a:lnTo>
                  <a:cubicBezTo>
                    <a:pt x="75308" y="2167467"/>
                    <a:pt x="49239" y="2156669"/>
                    <a:pt x="30018" y="2137448"/>
                  </a:cubicBezTo>
                  <a:cubicBezTo>
                    <a:pt x="10798" y="2118228"/>
                    <a:pt x="0" y="2092159"/>
                    <a:pt x="0" y="2064977"/>
                  </a:cubicBezTo>
                  <a:lnTo>
                    <a:pt x="0" y="102490"/>
                  </a:lnTo>
                  <a:cubicBezTo>
                    <a:pt x="0" y="75308"/>
                    <a:pt x="10798" y="49239"/>
                    <a:pt x="30018" y="30018"/>
                  </a:cubicBezTo>
                  <a:cubicBezTo>
                    <a:pt x="49239" y="10798"/>
                    <a:pt x="75308" y="0"/>
                    <a:pt x="10249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89495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1463040" y="1554480"/>
          <a:ext cx="6675120" cy="7223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92211" y="387555"/>
            <a:ext cx="2155619" cy="215561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41711" y="1314450"/>
            <a:ext cx="11754079" cy="114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Rencana Penelitian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3930099"/>
            <a:ext cx="16230600" cy="3413234"/>
            <a:chOff x="0" y="0"/>
            <a:chExt cx="4274726" cy="89895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98959"/>
            </a:xfrm>
            <a:custGeom>
              <a:avLst/>
              <a:gdLst/>
              <a:ahLst/>
              <a:cxnLst/>
              <a:rect r="r" b="b" t="t" l="l"/>
              <a:pathLst>
                <a:path h="898959" w="4274726">
                  <a:moveTo>
                    <a:pt x="20511" y="0"/>
                  </a:moveTo>
                  <a:lnTo>
                    <a:pt x="4254215" y="0"/>
                  </a:lnTo>
                  <a:cubicBezTo>
                    <a:pt x="4259655" y="0"/>
                    <a:pt x="4264872" y="2161"/>
                    <a:pt x="4268719" y="6007"/>
                  </a:cubicBezTo>
                  <a:cubicBezTo>
                    <a:pt x="4272565" y="9854"/>
                    <a:pt x="4274726" y="15071"/>
                    <a:pt x="4274726" y="20511"/>
                  </a:cubicBezTo>
                  <a:lnTo>
                    <a:pt x="4274726" y="878448"/>
                  </a:lnTo>
                  <a:cubicBezTo>
                    <a:pt x="4274726" y="883888"/>
                    <a:pt x="4272565" y="889105"/>
                    <a:pt x="4268719" y="892951"/>
                  </a:cubicBezTo>
                  <a:cubicBezTo>
                    <a:pt x="4264872" y="896798"/>
                    <a:pt x="4259655" y="898959"/>
                    <a:pt x="4254215" y="898959"/>
                  </a:cubicBezTo>
                  <a:lnTo>
                    <a:pt x="20511" y="898959"/>
                  </a:lnTo>
                  <a:cubicBezTo>
                    <a:pt x="15071" y="898959"/>
                    <a:pt x="9854" y="896798"/>
                    <a:pt x="6007" y="892951"/>
                  </a:cubicBezTo>
                  <a:cubicBezTo>
                    <a:pt x="2161" y="889105"/>
                    <a:pt x="0" y="883888"/>
                    <a:pt x="0" y="878448"/>
                  </a:cubicBezTo>
                  <a:lnTo>
                    <a:pt x="0" y="20511"/>
                  </a:lnTo>
                  <a:cubicBezTo>
                    <a:pt x="0" y="15071"/>
                    <a:pt x="2161" y="9854"/>
                    <a:pt x="6007" y="6007"/>
                  </a:cubicBezTo>
                  <a:cubicBezTo>
                    <a:pt x="9854" y="2161"/>
                    <a:pt x="15071" y="0"/>
                    <a:pt x="2051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74726" cy="898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9132" y="3580317"/>
            <a:ext cx="3519226" cy="737665"/>
            <a:chOff x="0" y="0"/>
            <a:chExt cx="926874" cy="1942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342550" y="3580317"/>
            <a:ext cx="3519226" cy="737665"/>
            <a:chOff x="0" y="0"/>
            <a:chExt cx="926874" cy="1942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6874" cy="194282"/>
            </a:xfrm>
            <a:custGeom>
              <a:avLst/>
              <a:gdLst/>
              <a:ahLst/>
              <a:cxnLst/>
              <a:rect r="r" b="b" t="t" l="l"/>
              <a:pathLst>
                <a:path h="194282" w="926874">
                  <a:moveTo>
                    <a:pt x="39598" y="0"/>
                  </a:moveTo>
                  <a:lnTo>
                    <a:pt x="887276" y="0"/>
                  </a:lnTo>
                  <a:cubicBezTo>
                    <a:pt x="897778" y="0"/>
                    <a:pt x="907850" y="4172"/>
                    <a:pt x="915276" y="11598"/>
                  </a:cubicBezTo>
                  <a:cubicBezTo>
                    <a:pt x="922702" y="19024"/>
                    <a:pt x="926874" y="29096"/>
                    <a:pt x="926874" y="39598"/>
                  </a:cubicBezTo>
                  <a:lnTo>
                    <a:pt x="926874" y="154684"/>
                  </a:lnTo>
                  <a:cubicBezTo>
                    <a:pt x="926874" y="165186"/>
                    <a:pt x="922702" y="175258"/>
                    <a:pt x="915276" y="182684"/>
                  </a:cubicBezTo>
                  <a:cubicBezTo>
                    <a:pt x="907850" y="190110"/>
                    <a:pt x="897778" y="194282"/>
                    <a:pt x="887276" y="194282"/>
                  </a:cubicBezTo>
                  <a:lnTo>
                    <a:pt x="39598" y="194282"/>
                  </a:lnTo>
                  <a:cubicBezTo>
                    <a:pt x="29096" y="194282"/>
                    <a:pt x="19024" y="190110"/>
                    <a:pt x="11598" y="182684"/>
                  </a:cubicBezTo>
                  <a:cubicBezTo>
                    <a:pt x="4172" y="175258"/>
                    <a:pt x="0" y="165186"/>
                    <a:pt x="0" y="154684"/>
                  </a:cubicBezTo>
                  <a:lnTo>
                    <a:pt x="0" y="39598"/>
                  </a:lnTo>
                  <a:cubicBezTo>
                    <a:pt x="0" y="29096"/>
                    <a:pt x="4172" y="19024"/>
                    <a:pt x="11598" y="11598"/>
                  </a:cubicBezTo>
                  <a:cubicBezTo>
                    <a:pt x="19024" y="4172"/>
                    <a:pt x="29096" y="0"/>
                    <a:pt x="3959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26874" cy="232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19712" y="492669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Pengumpulan data survei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19712" y="6258334"/>
            <a:ext cx="3198067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Analisis riwayat transaksi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6986" y="4788581"/>
            <a:ext cx="3149840" cy="822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Wawancara mendalam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6986" y="6258334"/>
            <a:ext cx="3149840" cy="546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080" spc="-66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Penyusunan laporan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59132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Jan - Mar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42293" y="3774905"/>
            <a:ext cx="3519226" cy="367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16"/>
              </a:lnSpc>
              <a:spcBef>
                <a:spcPct val="0"/>
              </a:spcBef>
            </a:pPr>
            <a:r>
              <a:rPr lang="en-US" b="true" sz="2800" spc="-5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Apr - Jun</a:t>
            </a:r>
          </a:p>
        </p:txBody>
      </p:sp>
      <p:sp>
        <p:nvSpPr>
          <p:cNvPr name="AutoShape 33" id="33"/>
          <p:cNvSpPr/>
          <p:nvPr/>
        </p:nvSpPr>
        <p:spPr>
          <a:xfrm>
            <a:off x="1358772" y="5925222"/>
            <a:ext cx="15670095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 flipV="true">
            <a:off x="5008612" y="5060569"/>
            <a:ext cx="0" cy="1757018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838206"/>
            <a:ext cx="7101623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spc="-5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Hasil penelitian akan menunjukkan dampak penggunaan paylater terhadap kebiasaan belanja mahasiswa.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1854" y="7132701"/>
            <a:ext cx="3878469" cy="2125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2"/>
              </a:lnSpc>
            </a:pPr>
            <a:r>
              <a:rPr lang="en-US" sz="2340" i="true" spc="-57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41% mahasiswa pernah menyesal membeli karena diskon.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9200" y="387555"/>
            <a:ext cx="2155619" cy="215561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1314450"/>
            <a:ext cx="7597481" cy="22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9"/>
              </a:lnSpc>
            </a:pPr>
            <a:r>
              <a:rPr lang="en-US" b="true" sz="9999" spc="-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Hasil yang Diharapkan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00057"/>
            <a:ext cx="3292424" cy="1324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20"/>
              </a:lnSpc>
            </a:pPr>
            <a:r>
              <a:rPr lang="en-US" b="true" sz="10689" spc="-427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41%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08199" y="1028700"/>
            <a:ext cx="7951101" cy="8229600"/>
            <a:chOff x="0" y="0"/>
            <a:chExt cx="2094117" cy="21674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4117" cy="2167467"/>
            </a:xfrm>
            <a:custGeom>
              <a:avLst/>
              <a:gdLst/>
              <a:ahLst/>
              <a:cxnLst/>
              <a:rect r="r" b="b" t="t" l="l"/>
              <a:pathLst>
                <a:path h="2167467" w="2094117">
                  <a:moveTo>
                    <a:pt x="97369" y="0"/>
                  </a:moveTo>
                  <a:lnTo>
                    <a:pt x="1996748" y="0"/>
                  </a:lnTo>
                  <a:cubicBezTo>
                    <a:pt x="2050523" y="0"/>
                    <a:pt x="2094117" y="43594"/>
                    <a:pt x="2094117" y="97369"/>
                  </a:cubicBezTo>
                  <a:lnTo>
                    <a:pt x="2094117" y="2070097"/>
                  </a:lnTo>
                  <a:cubicBezTo>
                    <a:pt x="2094117" y="2123873"/>
                    <a:pt x="2050523" y="2167467"/>
                    <a:pt x="1996748" y="2167467"/>
                  </a:cubicBezTo>
                  <a:lnTo>
                    <a:pt x="97369" y="2167467"/>
                  </a:lnTo>
                  <a:cubicBezTo>
                    <a:pt x="71545" y="2167467"/>
                    <a:pt x="46779" y="2157208"/>
                    <a:pt x="28519" y="2138948"/>
                  </a:cubicBezTo>
                  <a:cubicBezTo>
                    <a:pt x="10259" y="2120688"/>
                    <a:pt x="0" y="2095921"/>
                    <a:pt x="0" y="2070097"/>
                  </a:cubicBezTo>
                  <a:lnTo>
                    <a:pt x="0" y="97369"/>
                  </a:lnTo>
                  <a:cubicBezTo>
                    <a:pt x="0" y="43594"/>
                    <a:pt x="43594" y="0"/>
                    <a:pt x="97369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094117" cy="2167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  <a:p>
              <a:pPr algn="ctr">
                <a:lnSpc>
                  <a:spcPts val="3119"/>
                </a:lnSpc>
              </a:pPr>
            </a:p>
          </p:txBody>
        </p:sp>
      </p:grp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9692640" y="1463040"/>
          <a:ext cx="7223760" cy="7315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23232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4196" y="829468"/>
            <a:ext cx="18856392" cy="988179"/>
            <a:chOff x="0" y="0"/>
            <a:chExt cx="4966293" cy="260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66293" cy="260261"/>
            </a:xfrm>
            <a:custGeom>
              <a:avLst/>
              <a:gdLst/>
              <a:ahLst/>
              <a:cxnLst/>
              <a:rect r="r" b="b" t="t" l="l"/>
              <a:pathLst>
                <a:path h="260261" w="4966293">
                  <a:moveTo>
                    <a:pt x="0" y="0"/>
                  </a:moveTo>
                  <a:lnTo>
                    <a:pt x="4966293" y="0"/>
                  </a:lnTo>
                  <a:lnTo>
                    <a:pt x="4966293" y="260261"/>
                  </a:lnTo>
                  <a:lnTo>
                    <a:pt x="0" y="2602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66293" cy="298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9249" y="4895159"/>
            <a:ext cx="17762815" cy="2555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121"/>
              </a:lnSpc>
            </a:pPr>
            <a:r>
              <a:rPr lang="en-US" b="true" sz="22356" spc="-894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FFFFFF">
                        <a:alpha val="100000"/>
                      </a:srgbClr>
                    </a:gs>
                    <a:gs pos="100000">
                      <a:srgbClr val="FFFFFF">
                        <a:alpha val="44500"/>
                      </a:srgbClr>
                    </a:gs>
                  </a:gsLst>
                  <a:lin ang="54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Terima Kasih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20219" y="8377948"/>
            <a:ext cx="9539081" cy="880352"/>
            <a:chOff x="0" y="0"/>
            <a:chExt cx="2512351" cy="2318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12351" cy="231862"/>
            </a:xfrm>
            <a:custGeom>
              <a:avLst/>
              <a:gdLst/>
              <a:ahLst/>
              <a:cxnLst/>
              <a:rect r="r" b="b" t="t" l="l"/>
              <a:pathLst>
                <a:path h="231862" w="2512351">
                  <a:moveTo>
                    <a:pt x="81160" y="0"/>
                  </a:moveTo>
                  <a:lnTo>
                    <a:pt x="2431191" y="0"/>
                  </a:lnTo>
                  <a:cubicBezTo>
                    <a:pt x="2452716" y="0"/>
                    <a:pt x="2473359" y="8551"/>
                    <a:pt x="2488579" y="23771"/>
                  </a:cubicBezTo>
                  <a:cubicBezTo>
                    <a:pt x="2503800" y="38992"/>
                    <a:pt x="2512351" y="59635"/>
                    <a:pt x="2512351" y="81160"/>
                  </a:cubicBezTo>
                  <a:lnTo>
                    <a:pt x="2512351" y="150702"/>
                  </a:lnTo>
                  <a:cubicBezTo>
                    <a:pt x="2512351" y="195526"/>
                    <a:pt x="2476014" y="231862"/>
                    <a:pt x="2431191" y="231862"/>
                  </a:cubicBezTo>
                  <a:lnTo>
                    <a:pt x="81160" y="231862"/>
                  </a:lnTo>
                  <a:cubicBezTo>
                    <a:pt x="59635" y="231862"/>
                    <a:pt x="38992" y="223311"/>
                    <a:pt x="23771" y="208091"/>
                  </a:cubicBezTo>
                  <a:cubicBezTo>
                    <a:pt x="8551" y="192870"/>
                    <a:pt x="0" y="172227"/>
                    <a:pt x="0" y="150702"/>
                  </a:cubicBezTo>
                  <a:lnTo>
                    <a:pt x="0" y="81160"/>
                  </a:lnTo>
                  <a:cubicBezTo>
                    <a:pt x="0" y="36337"/>
                    <a:pt x="36337" y="0"/>
                    <a:pt x="811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80000"/>
                  </a:srgbClr>
                </a:gs>
                <a:gs pos="100000">
                  <a:srgbClr val="323232">
                    <a:alpha val="8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6E8E5">
                      <a:alpha val="100000"/>
                    </a:srgbClr>
                  </a:gs>
                  <a:gs pos="50000">
                    <a:srgbClr val="F6E8E5">
                      <a:alpha val="0"/>
                    </a:srgbClr>
                  </a:gs>
                  <a:gs pos="100000">
                    <a:srgbClr val="F6E8E5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512351" cy="2318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1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876892" y="8622077"/>
            <a:ext cx="922573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Research Proposal - Fakultas Ekonomi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426815"/>
            <a:ext cx="6240758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19"/>
              </a:lnSpc>
            </a:pPr>
            <a:r>
              <a:rPr lang="en-US" sz="2599" spc="-6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Terima kasih atas perhatian dan partisipasi Anda.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5688" y="1176238"/>
            <a:ext cx="3525349" cy="313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  <a:spcBef>
                <a:spcPct val="0"/>
              </a:spcBef>
            </a:pPr>
            <a:r>
              <a:rPr lang="en-US" b="true" sz="2164" spc="-34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Universitas Negeri Medan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DAHV1FbOXBc</dc:identifier>
  <dcterms:modified xsi:type="dcterms:W3CDTF">2011-08-01T06:04:30Z</dcterms:modified>
  <cp:revision>1</cp:revision>
  <dc:title>Black and White Modern Research Proposal Presentation</dc:title>
</cp:coreProperties>
</file>