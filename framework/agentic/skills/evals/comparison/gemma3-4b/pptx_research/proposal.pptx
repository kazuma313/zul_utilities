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71" r:id="rId28"/>
    <p:sldId id="272" r:id="rId29"/>
    <p:sldId id="273" r:id="rId31"/>
    <p:sldId id="274" r:id="rId32"/>
    <p:sldId id="275" r:id="rId33"/>
    <p:sldId id="276" r:id="rId34"/>
    <p:sldId id="277" r:id="rId35"/>
    <p:sldId id="278" r:id="rId36"/>
    <p:sldId id="279" r:id="rId37"/>
  </p:sldIdLst>
  <p:sldSz cx="18288000" cy="10287000"/>
  <p:notesSz cx="6858000" cy="9144000"/>
  <p:embeddedFontLst>
    <p:embeddedFont>
      <p:font typeface="Open Sauce Bold" charset="1" panose="00000800000000000000"/>
      <p:regular r:id="rId21"/>
    </p:embeddedFont>
    <p:embeddedFont>
      <p:font typeface="Open Sauce" charset="1" panose="00000500000000000000"/>
      <p:regular r:id="rId22"/>
    </p:embeddedFont>
    <p:embeddedFont>
      <p:font typeface="HK Grotesk" charset="1" panose="00000500000000000000"/>
      <p:regular r:id="rId23"/>
    </p:embeddedFont>
    <p:embeddedFont>
      <p:font typeface="HK Grotesk Italics" charset="1" panose="00000500000000000000"/>
      <p:regular r:id="rId24"/>
    </p:embeddedFont>
    <p:embeddedFont>
      <p:font typeface="HK Grotesk Bold" charset="1" panose="00000800000000000000"/>
      <p:regular r:id="rId25"/>
    </p:embeddedFont>
    <p:embeddedFont>
      <p:font typeface="Open Sans" charset="1" panose="020B0606030504020204"/>
      <p:regular r:id="rId26"/>
    </p:embeddedFont>
    <p:embeddedFont>
      <p:font typeface="Open Sans Italics" charset="1" panose="020B0606030504020204"/>
      <p:regular r:id="rId2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esProps" Target="presProps.xml"/><Relationship Id="rId3" Type="http://schemas.openxmlformats.org/officeDocument/2006/relationships/viewProps" Target="viewProps.xml"/><Relationship Id="rId4" Type="http://schemas.openxmlformats.org/officeDocument/2006/relationships/theme" Target="theme/theme1.xml"/><Relationship Id="rId5" Type="http://schemas.openxmlformats.org/officeDocument/2006/relationships/tableStyles" Target="tableStyles.xml"/><Relationship Id="rId21" Type="http://schemas.openxmlformats.org/officeDocument/2006/relationships/font" Target="fonts/font21.fntdata"/><Relationship Id="rId22" Type="http://schemas.openxmlformats.org/officeDocument/2006/relationships/font" Target="fonts/font22.fntdata"/><Relationship Id="rId23" Type="http://schemas.openxmlformats.org/officeDocument/2006/relationships/font" Target="fonts/font23.fntdata"/><Relationship Id="rId24" Type="http://schemas.openxmlformats.org/officeDocument/2006/relationships/font" Target="fonts/font24.fntdata"/><Relationship Id="rId25" Type="http://schemas.openxmlformats.org/officeDocument/2006/relationships/font" Target="fonts/font25.fntdata"/><Relationship Id="rId26" Type="http://schemas.openxmlformats.org/officeDocument/2006/relationships/font" Target="fonts/font26.fntdata"/><Relationship Id="rId27" Type="http://schemas.openxmlformats.org/officeDocument/2006/relationships/font" Target="fonts/font27.fntdata"/><Relationship Id="rId28" Type="http://schemas.openxmlformats.org/officeDocument/2006/relationships/slide" Target="slides/slide16.xml"/><Relationship Id="rId29" Type="http://schemas.openxmlformats.org/officeDocument/2006/relationships/slide" Target="slides/slide17.xml"/><Relationship Id="rId30" Type="http://schemas.openxmlformats.org/officeDocument/2006/relationships/notesMaster" Target="notesMasters/notesMaster1.xml"/><Relationship Id="rId31" Type="http://schemas.openxmlformats.org/officeDocument/2006/relationships/slide" Target="slides/slide18.xml"/><Relationship Id="rId32" Type="http://schemas.openxmlformats.org/officeDocument/2006/relationships/slide" Target="slides/slide19.xml"/><Relationship Id="rId33" Type="http://schemas.openxmlformats.org/officeDocument/2006/relationships/slide" Target="slides/slide20.xml"/><Relationship Id="rId34" Type="http://schemas.openxmlformats.org/officeDocument/2006/relationships/slide" Target="slides/slide21.xml"/><Relationship Id="rId35" Type="http://schemas.openxmlformats.org/officeDocument/2006/relationships/slide" Target="slides/slide22.xml"/><Relationship Id="rId36" Type="http://schemas.openxmlformats.org/officeDocument/2006/relationships/slide" Target="slides/slide23.xml"/><Relationship Id="rId37" Type="http://schemas.openxmlformats.org/officeDocument/2006/relationships/slide" Target="slides/slide24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Mahasiswa Belanja</c:v>
                </c:pt>
              </c:strCache>
            </c:strRef>
          </c:tx>
          <c:spPr>
            <a:solidFill>
              <a:srgbClr val="5B5B5B"/>
            </a:solidFill>
          </c:spPr>
          <c:cat>
            <c:strRef>
              <c:f>Sheet1!$A$2:$A$3</c:f>
              <c:strCache>
                <c:ptCount val="2"/>
                <c:pt idx="0">
                  <c:v>Belanja Online</c:v>
                </c:pt>
                <c:pt idx="1">
                  <c:v>Tidak Berbelanja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72.0</c:v>
                </c:pt>
                <c:pt idx="1">
                  <c:v>28.0</c:v>
                </c:pt>
              </c:numCache>
            </c:numRef>
          </c:val>
        </c:ser>
        <c:gapWidth val="60"/>
        <c:overlap val="-1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3A3A3A"/>
            </a:solidFill>
          </a:ln>
        </c:spPr>
        <c:txPr>
          <a:bodyPr/>
          <a:lstStyle/>
          <a:p>
            <a:pPr>
              <a:defRPr sz="1600">
                <a:solidFill>
                  <a:srgbClr val="FFFFFF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3A3A3A"/>
              </a:solidFill>
            </a:ln>
          </c:spPr>
        </c:majorGridlines>
        <c:majorTickMark val="out"/>
        <c:minorTickMark val="none"/>
        <c:tickLblPos val="nextTo"/>
        <c:spPr>
          <a:ln>
            <a:solidFill>
              <a:srgbClr val="3A3A3A"/>
            </a:solidFill>
          </a:ln>
        </c:spPr>
        <c:txPr>
          <a:bodyPr/>
          <a:lstStyle/>
          <a:p>
            <a:pPr>
              <a:defRPr sz="1600">
                <a:solidFill>
                  <a:srgbClr val="FFFFFF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>
          <a:solidFill>
            <a:srgbClr val="FFFFFF"/>
          </a:solidFill>
          <a:latin typeface="HK Grotesk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Survei menggunakan metode kuantitatif dan kualitatif.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Kami berharap penelitian ini dapat memberikan wawasan berharga.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jpg"/><Relationship Id="rId3" Type="http://schemas.openxmlformats.org/officeDocument/2006/relationships/notesSlide" Target="../notesSlides/notesSlide1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true">
          <a:gsLst>
            <a:gs pos="0">
              <a:srgbClr val="000000">
                <a:alpha val="100000"/>
              </a:srgbClr>
            </a:gs>
            <a:gs pos="100000">
              <a:srgbClr val="323232">
                <a:alpha val="100000"/>
              </a:srgbClr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84196" y="829468"/>
            <a:ext cx="18856392" cy="988179"/>
            <a:chOff x="0" y="0"/>
            <a:chExt cx="4966293" cy="26026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966293" cy="260261"/>
            </a:xfrm>
            <a:custGeom>
              <a:avLst/>
              <a:gdLst/>
              <a:ahLst/>
              <a:cxnLst/>
              <a:rect r="r" b="b" t="t" l="l"/>
              <a:pathLst>
                <a:path h="260261" w="4966293">
                  <a:moveTo>
                    <a:pt x="0" y="0"/>
                  </a:moveTo>
                  <a:lnTo>
                    <a:pt x="4966293" y="0"/>
                  </a:lnTo>
                  <a:lnTo>
                    <a:pt x="4966293" y="260261"/>
                  </a:lnTo>
                  <a:lnTo>
                    <a:pt x="0" y="260261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966293" cy="29836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636338" y="6642844"/>
            <a:ext cx="16959343" cy="16663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3121"/>
              </a:lnSpc>
            </a:pPr>
            <a:r>
              <a:rPr lang="en-US" b="true" sz="14579" spc="-583">
                <a:gradFill>
                  <a:gsLst>
                    <a:gs pos="0">
                      <a:srgbClr val="FFFFFF">
                        <a:alpha val="100000"/>
                      </a:srgbClr>
                    </a:gs>
                    <a:gs pos="50000">
                      <a:srgbClr val="FFFFFF">
                        <a:alpha val="100000"/>
                      </a:srgbClr>
                    </a:gs>
                    <a:gs pos="100000">
                      <a:srgbClr val="FFFFFF">
                        <a:alpha val="44500"/>
                      </a:srgbClr>
                    </a:gs>
                  </a:gsLst>
                  <a:lin ang="5400000"/>
                </a:gradFill>
                <a:latin typeface="Open Sauce Bold"/>
                <a:ea typeface="Open Sauce Bold"/>
                <a:cs typeface="Open Sauce Bold"/>
                <a:sym typeface="Open Sauce Bold"/>
              </a:rPr>
              <a:t>Pengaruh PayLater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73833" y="8398138"/>
            <a:ext cx="6492240" cy="10955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670"/>
              </a:lnSpc>
            </a:pPr>
            <a:r>
              <a:rPr lang="en-US" sz="5189" spc="-207">
                <a:gradFill>
                  <a:gsLst>
                    <a:gs pos="0">
                      <a:srgbClr val="FFFFFF">
                        <a:alpha val="100000"/>
                      </a:srgbClr>
                    </a:gs>
                    <a:gs pos="50000">
                      <a:srgbClr val="FFFFFF">
                        <a:alpha val="100000"/>
                      </a:srgbClr>
                    </a:gs>
                    <a:gs pos="100000">
                      <a:srgbClr val="FFFFFF">
                        <a:alpha val="44500"/>
                      </a:srgbClr>
                    </a:gs>
                  </a:gsLst>
                  <a:lin ang="5400000"/>
                </a:gradFill>
                <a:latin typeface="Open Sauce"/>
                <a:ea typeface="Open Sauce"/>
                <a:cs typeface="Open Sauce"/>
                <a:sym typeface="Open Sauce"/>
              </a:rPr>
              <a:t>Penelitian Mahasiswa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7720219" y="8377948"/>
            <a:ext cx="9539081" cy="880352"/>
            <a:chOff x="0" y="0"/>
            <a:chExt cx="2512351" cy="23186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512351" cy="231862"/>
            </a:xfrm>
            <a:custGeom>
              <a:avLst/>
              <a:gdLst/>
              <a:ahLst/>
              <a:cxnLst/>
              <a:rect r="r" b="b" t="t" l="l"/>
              <a:pathLst>
                <a:path h="231862" w="2512351">
                  <a:moveTo>
                    <a:pt x="81160" y="0"/>
                  </a:moveTo>
                  <a:lnTo>
                    <a:pt x="2431191" y="0"/>
                  </a:lnTo>
                  <a:cubicBezTo>
                    <a:pt x="2452716" y="0"/>
                    <a:pt x="2473359" y="8551"/>
                    <a:pt x="2488579" y="23771"/>
                  </a:cubicBezTo>
                  <a:cubicBezTo>
                    <a:pt x="2503800" y="38992"/>
                    <a:pt x="2512351" y="59635"/>
                    <a:pt x="2512351" y="81160"/>
                  </a:cubicBezTo>
                  <a:lnTo>
                    <a:pt x="2512351" y="150702"/>
                  </a:lnTo>
                  <a:cubicBezTo>
                    <a:pt x="2512351" y="195526"/>
                    <a:pt x="2476014" y="231862"/>
                    <a:pt x="2431191" y="231862"/>
                  </a:cubicBezTo>
                  <a:lnTo>
                    <a:pt x="81160" y="231862"/>
                  </a:lnTo>
                  <a:cubicBezTo>
                    <a:pt x="59635" y="231862"/>
                    <a:pt x="38992" y="223311"/>
                    <a:pt x="23771" y="208091"/>
                  </a:cubicBezTo>
                  <a:cubicBezTo>
                    <a:pt x="8551" y="192870"/>
                    <a:pt x="0" y="172227"/>
                    <a:pt x="0" y="150702"/>
                  </a:cubicBezTo>
                  <a:lnTo>
                    <a:pt x="0" y="81160"/>
                  </a:lnTo>
                  <a:cubicBezTo>
                    <a:pt x="0" y="36337"/>
                    <a:pt x="36337" y="0"/>
                    <a:pt x="8116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80000"/>
                  </a:srgbClr>
                </a:gs>
                <a:gs pos="100000">
                  <a:srgbClr val="323232">
                    <a:alpha val="80000"/>
                  </a:srgbClr>
                </a:gs>
              </a:gsLst>
              <a:lin ang="5400000"/>
            </a:gradFill>
            <a:ln w="19050" cap="rnd">
              <a:gradFill>
                <a:gsLst>
                  <a:gs pos="0">
                    <a:srgbClr val="F6E8E5">
                      <a:alpha val="100000"/>
                    </a:srgbClr>
                  </a:gs>
                  <a:gs pos="50000">
                    <a:srgbClr val="F6E8E5">
                      <a:alpha val="0"/>
                    </a:srgbClr>
                  </a:gs>
                  <a:gs pos="100000">
                    <a:srgbClr val="F6E8E5">
                      <a:alpha val="100000"/>
                    </a:srgbClr>
                  </a:gs>
                </a:gsLst>
                <a:lin ang="0"/>
              </a:gradFill>
              <a:prstDash val="solid"/>
              <a:round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0"/>
              <a:ext cx="2512351" cy="23186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19"/>
                </a:lnSpc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7876892" y="8622077"/>
            <a:ext cx="9225735" cy="390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119"/>
              </a:lnSpc>
            </a:pPr>
            <a:r>
              <a:rPr lang="en-US" sz="2599" spc="-67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Research Proposal - Faculty of Economics 2026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28700" y="1176238"/>
            <a:ext cx="3525349" cy="3136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19"/>
              </a:lnSpc>
              <a:spcBef>
                <a:spcPct val="0"/>
              </a:spcBef>
            </a:pPr>
            <a:r>
              <a:rPr lang="en-US" b="true" sz="2199" spc="-35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...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true">
          <a:gsLst>
            <a:gs pos="0">
              <a:srgbClr val="000000">
                <a:alpha val="100000"/>
              </a:srgbClr>
            </a:gs>
            <a:gs pos="100000">
              <a:srgbClr val="323232">
                <a:alpha val="100000"/>
              </a:srgbClr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79200" y="387555"/>
            <a:ext cx="2155619" cy="2155619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B5B5B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76200"/>
              <a:ext cx="660400" cy="6604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1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028700" y="1314450"/>
            <a:ext cx="4572000" cy="11428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999"/>
              </a:lnSpc>
            </a:pPr>
            <a:r>
              <a:rPr lang="en-US" b="true" sz="9999" spc="-399">
                <a:gradFill>
                  <a:gsLst>
                    <a:gs pos="0">
                      <a:srgbClr val="FFFFFF">
                        <a:alpha val="100000"/>
                      </a:srgbClr>
                    </a:gs>
                    <a:gs pos="50000">
                      <a:srgbClr val="FFFFFF">
                        <a:alpha val="100000"/>
                      </a:srgbClr>
                    </a:gs>
                    <a:gs pos="100000">
                      <a:srgbClr val="FFFFFF">
                        <a:alpha val="44500"/>
                      </a:srgbClr>
                    </a:gs>
                  </a:gsLst>
                  <a:lin ang="5400000"/>
                </a:gradFill>
                <a:latin typeface="Open Sauce Bold"/>
                <a:ea typeface="Open Sauce Bold"/>
                <a:cs typeface="Open Sauce Bold"/>
                <a:sym typeface="Open Sauce Bold"/>
              </a:rPr>
              <a:t>Hello !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028700" y="3401448"/>
            <a:ext cx="16230600" cy="5856852"/>
            <a:chOff x="0" y="0"/>
            <a:chExt cx="4274726" cy="154254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274726" cy="1542545"/>
            </a:xfrm>
            <a:custGeom>
              <a:avLst/>
              <a:gdLst/>
              <a:ahLst/>
              <a:cxnLst/>
              <a:rect r="r" b="b" t="t" l="l"/>
              <a:pathLst>
                <a:path h="1542545" w="4274726">
                  <a:moveTo>
                    <a:pt x="47700" y="0"/>
                  </a:moveTo>
                  <a:lnTo>
                    <a:pt x="4227026" y="0"/>
                  </a:lnTo>
                  <a:cubicBezTo>
                    <a:pt x="4239677" y="0"/>
                    <a:pt x="4251809" y="5025"/>
                    <a:pt x="4260755" y="13971"/>
                  </a:cubicBezTo>
                  <a:cubicBezTo>
                    <a:pt x="4269700" y="22916"/>
                    <a:pt x="4274726" y="35049"/>
                    <a:pt x="4274726" y="47700"/>
                  </a:cubicBezTo>
                  <a:lnTo>
                    <a:pt x="4274726" y="1494846"/>
                  </a:lnTo>
                  <a:cubicBezTo>
                    <a:pt x="4274726" y="1507496"/>
                    <a:pt x="4269700" y="1519629"/>
                    <a:pt x="4260755" y="1528574"/>
                  </a:cubicBezTo>
                  <a:cubicBezTo>
                    <a:pt x="4251809" y="1537520"/>
                    <a:pt x="4239677" y="1542545"/>
                    <a:pt x="4227026" y="1542545"/>
                  </a:cubicBezTo>
                  <a:lnTo>
                    <a:pt x="47700" y="1542545"/>
                  </a:lnTo>
                  <a:cubicBezTo>
                    <a:pt x="35049" y="1542545"/>
                    <a:pt x="22916" y="1537520"/>
                    <a:pt x="13971" y="1528574"/>
                  </a:cubicBezTo>
                  <a:cubicBezTo>
                    <a:pt x="5025" y="1519629"/>
                    <a:pt x="0" y="1507496"/>
                    <a:pt x="0" y="1494846"/>
                  </a:cubicBezTo>
                  <a:lnTo>
                    <a:pt x="0" y="47700"/>
                  </a:lnTo>
                  <a:cubicBezTo>
                    <a:pt x="0" y="35049"/>
                    <a:pt x="5025" y="22916"/>
                    <a:pt x="13971" y="13971"/>
                  </a:cubicBezTo>
                  <a:cubicBezTo>
                    <a:pt x="22916" y="5025"/>
                    <a:pt x="35049" y="0"/>
                    <a:pt x="477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80000"/>
                  </a:srgbClr>
                </a:gs>
                <a:gs pos="100000">
                  <a:srgbClr val="323232">
                    <a:alpha val="80000"/>
                  </a:srgbClr>
                </a:gs>
              </a:gsLst>
              <a:lin ang="5400000"/>
            </a:gradFill>
            <a:ln w="19050" cap="rnd">
              <a:gradFill>
                <a:gsLst>
                  <a:gs pos="0">
                    <a:srgbClr val="F6E8E5">
                      <a:alpha val="100000"/>
                    </a:srgbClr>
                  </a:gs>
                  <a:gs pos="50000">
                    <a:srgbClr val="F6E8E5">
                      <a:alpha val="0"/>
                    </a:srgbClr>
                  </a:gs>
                  <a:gs pos="100000">
                    <a:srgbClr val="F6E8E5">
                      <a:alpha val="100000"/>
                    </a:srgbClr>
                  </a:gs>
                </a:gsLst>
                <a:lin ang="0"/>
              </a:gradFill>
              <a:prstDash val="solid"/>
              <a:round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0"/>
              <a:ext cx="4274726" cy="15425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19"/>
                </a:lnSpc>
              </a:pPr>
            </a:p>
            <a:p>
              <a:pPr algn="ctr">
                <a:lnSpc>
                  <a:spcPts val="3119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1774048" y="4295725"/>
            <a:ext cx="8843436" cy="18207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82"/>
              </a:lnSpc>
            </a:pPr>
            <a:r>
              <a:rPr lang="en-US" sz="2340" spc="-57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Survei dilakukan pada 350 mahasiswa dari 500 yang diundang.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5804756" y="1318450"/>
            <a:ext cx="11454544" cy="9063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82"/>
              </a:lnSpc>
            </a:pPr>
            <a:r>
              <a:rPr lang="en-US" sz="2340" i="true" spc="-57">
                <a:solidFill>
                  <a:srgbClr val="FFFFFF"/>
                </a:solidFill>
                <a:latin typeface="HK Grotesk Italics"/>
                <a:ea typeface="HK Grotesk Italics"/>
                <a:cs typeface="HK Grotesk Italics"/>
                <a:sym typeface="HK Grotesk Italics"/>
              </a:rPr>
              <a:t>Selamat datang. Penelitian ini akan meneliti dampak penggunaan paylater terhadap kebiasaan belanja mahasiswa.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774048" y="6514650"/>
            <a:ext cx="8843436" cy="18207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82"/>
              </a:lnSpc>
            </a:pPr>
            <a:r>
              <a:rPr lang="en-US" sz="2340" spc="-57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Data dikumpulkan dari 5 kampus di Medan pada Maret-April 2026.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11492840" y="3971141"/>
            <a:ext cx="4992890" cy="4717467"/>
            <a:chOff x="0" y="0"/>
            <a:chExt cx="798830" cy="754764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798830" cy="754764"/>
            </a:xfrm>
            <a:custGeom>
              <a:avLst/>
              <a:gdLst/>
              <a:ahLst/>
              <a:cxnLst/>
              <a:rect r="r" b="b" t="t" l="l"/>
              <a:pathLst>
                <a:path h="754764" w="798830">
                  <a:moveTo>
                    <a:pt x="122497" y="0"/>
                  </a:moveTo>
                  <a:lnTo>
                    <a:pt x="676334" y="0"/>
                  </a:lnTo>
                  <a:cubicBezTo>
                    <a:pt x="708822" y="0"/>
                    <a:pt x="739979" y="12906"/>
                    <a:pt x="762952" y="35878"/>
                  </a:cubicBezTo>
                  <a:cubicBezTo>
                    <a:pt x="785924" y="58851"/>
                    <a:pt x="798830" y="90008"/>
                    <a:pt x="798830" y="122497"/>
                  </a:cubicBezTo>
                  <a:lnTo>
                    <a:pt x="798830" y="632268"/>
                  </a:lnTo>
                  <a:cubicBezTo>
                    <a:pt x="798830" y="699921"/>
                    <a:pt x="743987" y="754764"/>
                    <a:pt x="676334" y="754764"/>
                  </a:cubicBezTo>
                  <a:lnTo>
                    <a:pt x="122497" y="754764"/>
                  </a:lnTo>
                  <a:cubicBezTo>
                    <a:pt x="54844" y="754764"/>
                    <a:pt x="0" y="699921"/>
                    <a:pt x="0" y="632268"/>
                  </a:cubicBezTo>
                  <a:lnTo>
                    <a:pt x="0" y="122497"/>
                  </a:lnTo>
                  <a:cubicBezTo>
                    <a:pt x="0" y="54844"/>
                    <a:pt x="54844" y="0"/>
                    <a:pt x="122497" y="0"/>
                  </a:cubicBezTo>
                  <a:close/>
                </a:path>
              </a:pathLst>
            </a:custGeom>
            <a:blipFill>
              <a:blip r:embed="rId2"/>
              <a:stretch>
                <a:fillRect l="-20862" t="0" r="-20862" b="0"/>
              </a:stretch>
            </a:blipFill>
          </p:spPr>
        </p:sp>
      </p:grp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true">
          <a:gsLst>
            <a:gs pos="0">
              <a:srgbClr val="000000">
                <a:alpha val="100000"/>
              </a:srgbClr>
            </a:gs>
            <a:gs pos="100000">
              <a:srgbClr val="323232">
                <a:alpha val="100000"/>
              </a:srgbClr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8681" y="873766"/>
            <a:ext cx="838118" cy="838118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B5B5B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76200"/>
              <a:ext cx="660400" cy="6604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1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417046" y="4405324"/>
            <a:ext cx="838118" cy="838118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B5B5B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76200" y="76200"/>
              <a:ext cx="660400" cy="6604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1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828681" y="2123387"/>
            <a:ext cx="838118" cy="838118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B5B5B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76200" y="76200"/>
              <a:ext cx="660400" cy="6604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1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028700" y="1028700"/>
            <a:ext cx="7597481" cy="983513"/>
            <a:chOff x="0" y="0"/>
            <a:chExt cx="2000983" cy="259032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000983" cy="259032"/>
            </a:xfrm>
            <a:custGeom>
              <a:avLst/>
              <a:gdLst/>
              <a:ahLst/>
              <a:cxnLst/>
              <a:rect r="r" b="b" t="t" l="l"/>
              <a:pathLst>
                <a:path h="259032" w="2000983">
                  <a:moveTo>
                    <a:pt x="101901" y="0"/>
                  </a:moveTo>
                  <a:lnTo>
                    <a:pt x="1899081" y="0"/>
                  </a:lnTo>
                  <a:cubicBezTo>
                    <a:pt x="1955360" y="0"/>
                    <a:pt x="2000983" y="45623"/>
                    <a:pt x="2000983" y="101901"/>
                  </a:cubicBezTo>
                  <a:lnTo>
                    <a:pt x="2000983" y="157131"/>
                  </a:lnTo>
                  <a:cubicBezTo>
                    <a:pt x="2000983" y="213410"/>
                    <a:pt x="1955360" y="259032"/>
                    <a:pt x="1899081" y="259032"/>
                  </a:cubicBezTo>
                  <a:lnTo>
                    <a:pt x="101901" y="259032"/>
                  </a:lnTo>
                  <a:cubicBezTo>
                    <a:pt x="45623" y="259032"/>
                    <a:pt x="0" y="213410"/>
                    <a:pt x="0" y="157131"/>
                  </a:cubicBezTo>
                  <a:lnTo>
                    <a:pt x="0" y="101901"/>
                  </a:lnTo>
                  <a:cubicBezTo>
                    <a:pt x="0" y="45623"/>
                    <a:pt x="45623" y="0"/>
                    <a:pt x="101901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80000"/>
                  </a:srgbClr>
                </a:gs>
                <a:gs pos="100000">
                  <a:srgbClr val="323232">
                    <a:alpha val="80000"/>
                  </a:srgbClr>
                </a:gs>
              </a:gsLst>
              <a:lin ang="5400000"/>
            </a:gradFill>
            <a:ln w="19050" cap="rnd">
              <a:gradFill>
                <a:gsLst>
                  <a:gs pos="0">
                    <a:srgbClr val="F6E8E5">
                      <a:alpha val="100000"/>
                    </a:srgbClr>
                  </a:gs>
                  <a:gs pos="50000">
                    <a:srgbClr val="F6E8E5">
                      <a:alpha val="0"/>
                    </a:srgbClr>
                  </a:gs>
                  <a:gs pos="100000">
                    <a:srgbClr val="F6E8E5">
                      <a:alpha val="100000"/>
                    </a:srgbClr>
                  </a:gs>
                </a:gsLst>
                <a:lin ang="0"/>
              </a:gradFill>
              <a:prstDash val="solid"/>
              <a:round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0"/>
              <a:ext cx="2000983" cy="25903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19"/>
                </a:lnSpc>
              </a:pPr>
            </a:p>
            <a:p>
              <a:pPr algn="ctr">
                <a:lnSpc>
                  <a:spcPts val="3119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9661819" y="4525926"/>
            <a:ext cx="7597481" cy="983513"/>
            <a:chOff x="0" y="0"/>
            <a:chExt cx="2000983" cy="259032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000983" cy="259032"/>
            </a:xfrm>
            <a:custGeom>
              <a:avLst/>
              <a:gdLst/>
              <a:ahLst/>
              <a:cxnLst/>
              <a:rect r="r" b="b" t="t" l="l"/>
              <a:pathLst>
                <a:path h="259032" w="2000983">
                  <a:moveTo>
                    <a:pt x="101901" y="0"/>
                  </a:moveTo>
                  <a:lnTo>
                    <a:pt x="1899081" y="0"/>
                  </a:lnTo>
                  <a:cubicBezTo>
                    <a:pt x="1955360" y="0"/>
                    <a:pt x="2000983" y="45623"/>
                    <a:pt x="2000983" y="101901"/>
                  </a:cubicBezTo>
                  <a:lnTo>
                    <a:pt x="2000983" y="157131"/>
                  </a:lnTo>
                  <a:cubicBezTo>
                    <a:pt x="2000983" y="213410"/>
                    <a:pt x="1955360" y="259032"/>
                    <a:pt x="1899081" y="259032"/>
                  </a:cubicBezTo>
                  <a:lnTo>
                    <a:pt x="101901" y="259032"/>
                  </a:lnTo>
                  <a:cubicBezTo>
                    <a:pt x="45623" y="259032"/>
                    <a:pt x="0" y="213410"/>
                    <a:pt x="0" y="157131"/>
                  </a:cubicBezTo>
                  <a:lnTo>
                    <a:pt x="0" y="101901"/>
                  </a:lnTo>
                  <a:cubicBezTo>
                    <a:pt x="0" y="45623"/>
                    <a:pt x="45623" y="0"/>
                    <a:pt x="101901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80000"/>
                  </a:srgbClr>
                </a:gs>
                <a:gs pos="100000">
                  <a:srgbClr val="323232">
                    <a:alpha val="80000"/>
                  </a:srgbClr>
                </a:gs>
              </a:gsLst>
              <a:lin ang="5400000"/>
            </a:gradFill>
            <a:ln w="19050" cap="rnd">
              <a:gradFill>
                <a:gsLst>
                  <a:gs pos="0">
                    <a:srgbClr val="F6E8E5">
                      <a:alpha val="100000"/>
                    </a:srgbClr>
                  </a:gs>
                  <a:gs pos="50000">
                    <a:srgbClr val="F6E8E5">
                      <a:alpha val="0"/>
                    </a:srgbClr>
                  </a:gs>
                  <a:gs pos="100000">
                    <a:srgbClr val="F6E8E5">
                      <a:alpha val="100000"/>
                    </a:srgbClr>
                  </a:gs>
                </a:gsLst>
                <a:lin ang="0"/>
              </a:gradFill>
              <a:prstDash val="solid"/>
              <a:round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0"/>
              <a:ext cx="2000983" cy="25903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19"/>
                </a:lnSpc>
              </a:pPr>
            </a:p>
            <a:p>
              <a:pPr algn="ctr">
                <a:lnSpc>
                  <a:spcPts val="3119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028700" y="2278320"/>
            <a:ext cx="7597481" cy="983513"/>
            <a:chOff x="0" y="0"/>
            <a:chExt cx="2000983" cy="259032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000983" cy="259032"/>
            </a:xfrm>
            <a:custGeom>
              <a:avLst/>
              <a:gdLst/>
              <a:ahLst/>
              <a:cxnLst/>
              <a:rect r="r" b="b" t="t" l="l"/>
              <a:pathLst>
                <a:path h="259032" w="2000983">
                  <a:moveTo>
                    <a:pt x="101901" y="0"/>
                  </a:moveTo>
                  <a:lnTo>
                    <a:pt x="1899081" y="0"/>
                  </a:lnTo>
                  <a:cubicBezTo>
                    <a:pt x="1955360" y="0"/>
                    <a:pt x="2000983" y="45623"/>
                    <a:pt x="2000983" y="101901"/>
                  </a:cubicBezTo>
                  <a:lnTo>
                    <a:pt x="2000983" y="157131"/>
                  </a:lnTo>
                  <a:cubicBezTo>
                    <a:pt x="2000983" y="213410"/>
                    <a:pt x="1955360" y="259032"/>
                    <a:pt x="1899081" y="259032"/>
                  </a:cubicBezTo>
                  <a:lnTo>
                    <a:pt x="101901" y="259032"/>
                  </a:lnTo>
                  <a:cubicBezTo>
                    <a:pt x="45623" y="259032"/>
                    <a:pt x="0" y="213410"/>
                    <a:pt x="0" y="157131"/>
                  </a:cubicBezTo>
                  <a:lnTo>
                    <a:pt x="0" y="101901"/>
                  </a:lnTo>
                  <a:cubicBezTo>
                    <a:pt x="0" y="45623"/>
                    <a:pt x="45623" y="0"/>
                    <a:pt x="101901" y="0"/>
                  </a:cubicBezTo>
                  <a:close/>
                </a:path>
              </a:pathLst>
            </a:custGeom>
            <a:solidFill>
              <a:srgbClr val="FFFFFF"/>
            </a:solidFill>
            <a:ln w="19050" cap="rnd">
              <a:gradFill>
                <a:gsLst>
                  <a:gs pos="0">
                    <a:srgbClr val="F6E8E5">
                      <a:alpha val="100000"/>
                    </a:srgbClr>
                  </a:gs>
                  <a:gs pos="50000">
                    <a:srgbClr val="F6E8E5">
                      <a:alpha val="0"/>
                    </a:srgbClr>
                  </a:gs>
                  <a:gs pos="100000">
                    <a:srgbClr val="F6E8E5">
                      <a:alpha val="100000"/>
                    </a:srgbClr>
                  </a:gs>
                </a:gsLst>
                <a:lin ang="0"/>
              </a:gradFill>
              <a:prstDash val="solid"/>
              <a:round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0" y="0"/>
              <a:ext cx="2000983" cy="25903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19"/>
                </a:lnSpc>
              </a:pPr>
            </a:p>
            <a:p>
              <a:pPr algn="ctr">
                <a:lnSpc>
                  <a:spcPts val="3119"/>
                </a:lnSpc>
              </a:pP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828681" y="3373007"/>
            <a:ext cx="838118" cy="838118"/>
            <a:chOff x="0" y="0"/>
            <a:chExt cx="812800" cy="8128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B5B5B"/>
            </a:solidFill>
          </p:spPr>
        </p:sp>
        <p:sp>
          <p:nvSpPr>
            <p:cNvPr name="TextBox 28" id="28"/>
            <p:cNvSpPr txBox="true"/>
            <p:nvPr/>
          </p:nvSpPr>
          <p:spPr>
            <a:xfrm>
              <a:off x="76200" y="76200"/>
              <a:ext cx="660400" cy="6604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19"/>
                </a:lnSpc>
              </a:pP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1028700" y="3527941"/>
            <a:ext cx="7597481" cy="983513"/>
            <a:chOff x="0" y="0"/>
            <a:chExt cx="2000983" cy="259032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2000983" cy="259032"/>
            </a:xfrm>
            <a:custGeom>
              <a:avLst/>
              <a:gdLst/>
              <a:ahLst/>
              <a:cxnLst/>
              <a:rect r="r" b="b" t="t" l="l"/>
              <a:pathLst>
                <a:path h="259032" w="2000983">
                  <a:moveTo>
                    <a:pt x="101901" y="0"/>
                  </a:moveTo>
                  <a:lnTo>
                    <a:pt x="1899081" y="0"/>
                  </a:lnTo>
                  <a:cubicBezTo>
                    <a:pt x="1955360" y="0"/>
                    <a:pt x="2000983" y="45623"/>
                    <a:pt x="2000983" y="101901"/>
                  </a:cubicBezTo>
                  <a:lnTo>
                    <a:pt x="2000983" y="157131"/>
                  </a:lnTo>
                  <a:cubicBezTo>
                    <a:pt x="2000983" y="213410"/>
                    <a:pt x="1955360" y="259032"/>
                    <a:pt x="1899081" y="259032"/>
                  </a:cubicBezTo>
                  <a:lnTo>
                    <a:pt x="101901" y="259032"/>
                  </a:lnTo>
                  <a:cubicBezTo>
                    <a:pt x="45623" y="259032"/>
                    <a:pt x="0" y="213410"/>
                    <a:pt x="0" y="157131"/>
                  </a:cubicBezTo>
                  <a:lnTo>
                    <a:pt x="0" y="101901"/>
                  </a:lnTo>
                  <a:cubicBezTo>
                    <a:pt x="0" y="45623"/>
                    <a:pt x="45623" y="0"/>
                    <a:pt x="101901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80000"/>
                  </a:srgbClr>
                </a:gs>
                <a:gs pos="100000">
                  <a:srgbClr val="323232">
                    <a:alpha val="80000"/>
                  </a:srgbClr>
                </a:gs>
              </a:gsLst>
              <a:lin ang="5400000"/>
            </a:gradFill>
            <a:ln w="19050" cap="rnd">
              <a:gradFill>
                <a:gsLst>
                  <a:gs pos="0">
                    <a:srgbClr val="F6E8E5">
                      <a:alpha val="100000"/>
                    </a:srgbClr>
                  </a:gs>
                  <a:gs pos="50000">
                    <a:srgbClr val="F6E8E5">
                      <a:alpha val="0"/>
                    </a:srgbClr>
                  </a:gs>
                  <a:gs pos="100000">
                    <a:srgbClr val="F6E8E5">
                      <a:alpha val="100000"/>
                    </a:srgbClr>
                  </a:gs>
                </a:gsLst>
                <a:lin ang="0"/>
              </a:gradFill>
              <a:prstDash val="solid"/>
              <a:round/>
            </a:ln>
          </p:spPr>
        </p:sp>
        <p:sp>
          <p:nvSpPr>
            <p:cNvPr name="TextBox 34" id="34"/>
            <p:cNvSpPr txBox="true"/>
            <p:nvPr/>
          </p:nvSpPr>
          <p:spPr>
            <a:xfrm>
              <a:off x="0" y="0"/>
              <a:ext cx="2000983" cy="25903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19"/>
                </a:lnSpc>
              </a:pPr>
            </a:p>
            <a:p>
              <a:pPr algn="ctr">
                <a:lnSpc>
                  <a:spcPts val="3119"/>
                </a:lnSpc>
              </a:pP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828681" y="4622627"/>
            <a:ext cx="838118" cy="838118"/>
            <a:chOff x="0" y="0"/>
            <a:chExt cx="812800" cy="81280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B5B5B"/>
            </a:solidFill>
          </p:spPr>
        </p:sp>
        <p:sp>
          <p:nvSpPr>
            <p:cNvPr name="TextBox 40" id="40"/>
            <p:cNvSpPr txBox="true"/>
            <p:nvPr/>
          </p:nvSpPr>
          <p:spPr>
            <a:xfrm>
              <a:off x="76200" y="76200"/>
              <a:ext cx="660400" cy="6604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19"/>
                </a:lnSpc>
              </a:pP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1028700" y="4777561"/>
            <a:ext cx="7597481" cy="983513"/>
            <a:chOff x="0" y="0"/>
            <a:chExt cx="2000983" cy="259032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2000983" cy="259032"/>
            </a:xfrm>
            <a:custGeom>
              <a:avLst/>
              <a:gdLst/>
              <a:ahLst/>
              <a:cxnLst/>
              <a:rect r="r" b="b" t="t" l="l"/>
              <a:pathLst>
                <a:path h="259032" w="2000983">
                  <a:moveTo>
                    <a:pt x="101901" y="0"/>
                  </a:moveTo>
                  <a:lnTo>
                    <a:pt x="1899081" y="0"/>
                  </a:lnTo>
                  <a:cubicBezTo>
                    <a:pt x="1955360" y="0"/>
                    <a:pt x="2000983" y="45623"/>
                    <a:pt x="2000983" y="101901"/>
                  </a:cubicBezTo>
                  <a:lnTo>
                    <a:pt x="2000983" y="157131"/>
                  </a:lnTo>
                  <a:cubicBezTo>
                    <a:pt x="2000983" y="213410"/>
                    <a:pt x="1955360" y="259032"/>
                    <a:pt x="1899081" y="259032"/>
                  </a:cubicBezTo>
                  <a:lnTo>
                    <a:pt x="101901" y="259032"/>
                  </a:lnTo>
                  <a:cubicBezTo>
                    <a:pt x="45623" y="259032"/>
                    <a:pt x="0" y="213410"/>
                    <a:pt x="0" y="157131"/>
                  </a:cubicBezTo>
                  <a:lnTo>
                    <a:pt x="0" y="101901"/>
                  </a:lnTo>
                  <a:cubicBezTo>
                    <a:pt x="0" y="45623"/>
                    <a:pt x="45623" y="0"/>
                    <a:pt x="101901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80000"/>
                  </a:srgbClr>
                </a:gs>
                <a:gs pos="100000">
                  <a:srgbClr val="323232">
                    <a:alpha val="80000"/>
                  </a:srgbClr>
                </a:gs>
              </a:gsLst>
              <a:lin ang="5400000"/>
            </a:gradFill>
            <a:ln w="19050" cap="rnd">
              <a:gradFill>
                <a:gsLst>
                  <a:gs pos="0">
                    <a:srgbClr val="F6E8E5">
                      <a:alpha val="100000"/>
                    </a:srgbClr>
                  </a:gs>
                  <a:gs pos="50000">
                    <a:srgbClr val="F6E8E5">
                      <a:alpha val="0"/>
                    </a:srgbClr>
                  </a:gs>
                  <a:gs pos="100000">
                    <a:srgbClr val="F6E8E5">
                      <a:alpha val="100000"/>
                    </a:srgbClr>
                  </a:gs>
                </a:gsLst>
                <a:lin ang="0"/>
              </a:gradFill>
              <a:prstDash val="solid"/>
              <a:round/>
            </a:ln>
          </p:spPr>
        </p:sp>
        <p:sp>
          <p:nvSpPr>
            <p:cNvPr name="TextBox 46" id="46"/>
            <p:cNvSpPr txBox="true"/>
            <p:nvPr/>
          </p:nvSpPr>
          <p:spPr>
            <a:xfrm>
              <a:off x="0" y="0"/>
              <a:ext cx="2000983" cy="25903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19"/>
                </a:lnSpc>
              </a:pPr>
            </a:p>
            <a:p>
              <a:pPr algn="ctr">
                <a:lnSpc>
                  <a:spcPts val="3119"/>
                </a:lnSpc>
              </a:pP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279200" y="6561282"/>
            <a:ext cx="2155619" cy="2155619"/>
            <a:chOff x="0" y="0"/>
            <a:chExt cx="812800" cy="81280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B5B5B"/>
            </a:solidFill>
          </p:spPr>
        </p:sp>
        <p:sp>
          <p:nvSpPr>
            <p:cNvPr name="TextBox 52" id="52"/>
            <p:cNvSpPr txBox="true"/>
            <p:nvPr/>
          </p:nvSpPr>
          <p:spPr>
            <a:xfrm>
              <a:off x="76200" y="76200"/>
              <a:ext cx="660400" cy="6604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19"/>
                </a:lnSpc>
              </a:pPr>
            </a:p>
          </p:txBody>
        </p:sp>
      </p:grpSp>
      <p:sp>
        <p:nvSpPr>
          <p:cNvPr name="TextBox 53" id="53"/>
          <p:cNvSpPr txBox="true"/>
          <p:nvPr/>
        </p:nvSpPr>
        <p:spPr>
          <a:xfrm rot="0">
            <a:off x="1028700" y="7095869"/>
            <a:ext cx="7597481" cy="11428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999"/>
              </a:lnSpc>
            </a:pPr>
            <a:r>
              <a:rPr lang="en-US" b="true" sz="9999" spc="-399">
                <a:gradFill>
                  <a:gsLst>
                    <a:gs pos="0">
                      <a:srgbClr val="FFFFFF">
                        <a:alpha val="100000"/>
                      </a:srgbClr>
                    </a:gs>
                    <a:gs pos="50000">
                      <a:srgbClr val="FFFFFF">
                        <a:alpha val="100000"/>
                      </a:srgbClr>
                    </a:gs>
                    <a:gs pos="100000">
                      <a:srgbClr val="FFFFFF">
                        <a:alpha val="44500"/>
                      </a:srgbClr>
                    </a:gs>
                  </a:gsLst>
                  <a:lin ang="5400000"/>
                </a:gradFill>
                <a:latin typeface="Open Sauce Bold"/>
                <a:ea typeface="Open Sauce Bold"/>
                <a:cs typeface="Open Sauce Bold"/>
                <a:sym typeface="Open Sauce Bold"/>
              </a:rPr>
              <a:t>Agenda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1622044" y="1274103"/>
            <a:ext cx="1110568" cy="5403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57"/>
              </a:lnSpc>
            </a:pPr>
            <a:r>
              <a:rPr lang="en-US" b="true" sz="3863" spc="-204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01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10255164" y="4771329"/>
            <a:ext cx="1110568" cy="5403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57"/>
              </a:lnSpc>
            </a:pPr>
            <a:r>
              <a:rPr lang="en-US" b="true" sz="3863" spc="-204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05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1622044" y="2523723"/>
            <a:ext cx="1110568" cy="5403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57"/>
              </a:lnSpc>
            </a:pPr>
            <a:r>
              <a:rPr lang="en-US" b="true" sz="3863" spc="-204">
                <a:solidFill>
                  <a:srgbClr val="00000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02</a:t>
            </a:r>
          </a:p>
        </p:txBody>
      </p:sp>
      <p:sp>
        <p:nvSpPr>
          <p:cNvPr name="TextBox 58" id="58"/>
          <p:cNvSpPr txBox="true"/>
          <p:nvPr/>
        </p:nvSpPr>
        <p:spPr>
          <a:xfrm rot="0">
            <a:off x="2926561" y="1273775"/>
            <a:ext cx="4742252" cy="4724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3000" spc="-3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Latar Belakang Studi</a:t>
            </a:r>
          </a:p>
        </p:txBody>
      </p:sp>
      <p:sp>
        <p:nvSpPr>
          <p:cNvPr name="TextBox 59" id="59"/>
          <p:cNvSpPr txBox="true"/>
          <p:nvPr/>
        </p:nvSpPr>
        <p:spPr>
          <a:xfrm rot="0">
            <a:off x="11559681" y="4771001"/>
            <a:ext cx="4742252" cy="4724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3000" spc="-3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Jadwal Penelitian</a:t>
            </a:r>
          </a:p>
        </p:txBody>
      </p:sp>
      <p:sp>
        <p:nvSpPr>
          <p:cNvPr name="TextBox 60" id="60"/>
          <p:cNvSpPr txBox="true"/>
          <p:nvPr/>
        </p:nvSpPr>
        <p:spPr>
          <a:xfrm rot="0">
            <a:off x="2926561" y="2523396"/>
            <a:ext cx="4742252" cy="4724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3000" spc="-3">
                <a:solidFill>
                  <a:srgbClr val="000000"/>
                </a:solidFill>
                <a:latin typeface="HK Grotesk"/>
                <a:ea typeface="HK Grotesk"/>
                <a:cs typeface="HK Grotesk"/>
                <a:sym typeface="HK Grotesk"/>
              </a:rPr>
              <a:t>Pernyataan Masalah</a:t>
            </a:r>
          </a:p>
        </p:txBody>
      </p:sp>
      <p:sp>
        <p:nvSpPr>
          <p:cNvPr name="TextBox 62" id="62"/>
          <p:cNvSpPr txBox="true"/>
          <p:nvPr/>
        </p:nvSpPr>
        <p:spPr>
          <a:xfrm rot="0">
            <a:off x="1622044" y="3773343"/>
            <a:ext cx="1110568" cy="5403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57"/>
              </a:lnSpc>
            </a:pPr>
            <a:r>
              <a:rPr lang="en-US" b="true" sz="3863" spc="-204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03</a:t>
            </a:r>
          </a:p>
        </p:txBody>
      </p:sp>
      <p:sp>
        <p:nvSpPr>
          <p:cNvPr name="TextBox 64" id="64"/>
          <p:cNvSpPr txBox="true"/>
          <p:nvPr/>
        </p:nvSpPr>
        <p:spPr>
          <a:xfrm rot="0">
            <a:off x="2926561" y="3773016"/>
            <a:ext cx="4742252" cy="4724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3000" spc="-3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Metodologi</a:t>
            </a:r>
          </a:p>
        </p:txBody>
      </p:sp>
      <p:sp>
        <p:nvSpPr>
          <p:cNvPr name="TextBox 66" id="66"/>
          <p:cNvSpPr txBox="true"/>
          <p:nvPr/>
        </p:nvSpPr>
        <p:spPr>
          <a:xfrm rot="0">
            <a:off x="1622044" y="5022964"/>
            <a:ext cx="1110568" cy="5403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57"/>
              </a:lnSpc>
            </a:pPr>
            <a:r>
              <a:rPr lang="en-US" b="true" sz="3863" spc="-204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04</a:t>
            </a:r>
          </a:p>
        </p:txBody>
      </p:sp>
      <p:sp>
        <p:nvSpPr>
          <p:cNvPr name="TextBox 68" id="68"/>
          <p:cNvSpPr txBox="true"/>
          <p:nvPr/>
        </p:nvSpPr>
        <p:spPr>
          <a:xfrm rot="0">
            <a:off x="2926561" y="5022636"/>
            <a:ext cx="4742252" cy="4724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3000" spc="-3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Data Kuantitatif</a:t>
            </a:r>
          </a:p>
        </p:txBody>
      </p:sp>
      <p:grpSp>
        <p:nvGrpSpPr>
          <p:cNvPr name="Group 70" id="70"/>
          <p:cNvGrpSpPr/>
          <p:nvPr/>
        </p:nvGrpSpPr>
        <p:grpSpPr>
          <a:xfrm rot="0">
            <a:off x="9661819" y="1028700"/>
            <a:ext cx="7597481" cy="2697018"/>
            <a:chOff x="0" y="0"/>
            <a:chExt cx="1215548" cy="431506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1215548" cy="431505"/>
            </a:xfrm>
            <a:custGeom>
              <a:avLst/>
              <a:gdLst/>
              <a:ahLst/>
              <a:cxnLst/>
              <a:rect r="r" b="b" t="t" l="l"/>
              <a:pathLst>
                <a:path h="431505" w="1215548">
                  <a:moveTo>
                    <a:pt x="80502" y="0"/>
                  </a:moveTo>
                  <a:lnTo>
                    <a:pt x="1135046" y="0"/>
                  </a:lnTo>
                  <a:cubicBezTo>
                    <a:pt x="1156396" y="0"/>
                    <a:pt x="1176872" y="8481"/>
                    <a:pt x="1191969" y="23578"/>
                  </a:cubicBezTo>
                  <a:cubicBezTo>
                    <a:pt x="1207066" y="38676"/>
                    <a:pt x="1215548" y="59151"/>
                    <a:pt x="1215548" y="80502"/>
                  </a:cubicBezTo>
                  <a:lnTo>
                    <a:pt x="1215548" y="351004"/>
                  </a:lnTo>
                  <a:cubicBezTo>
                    <a:pt x="1215548" y="372354"/>
                    <a:pt x="1207066" y="392830"/>
                    <a:pt x="1191969" y="407927"/>
                  </a:cubicBezTo>
                  <a:cubicBezTo>
                    <a:pt x="1176872" y="423024"/>
                    <a:pt x="1156396" y="431505"/>
                    <a:pt x="1135046" y="431505"/>
                  </a:cubicBezTo>
                  <a:lnTo>
                    <a:pt x="80502" y="431505"/>
                  </a:lnTo>
                  <a:cubicBezTo>
                    <a:pt x="59151" y="431505"/>
                    <a:pt x="38676" y="423024"/>
                    <a:pt x="23578" y="407927"/>
                  </a:cubicBezTo>
                  <a:cubicBezTo>
                    <a:pt x="8481" y="392830"/>
                    <a:pt x="0" y="372354"/>
                    <a:pt x="0" y="351004"/>
                  </a:cubicBezTo>
                  <a:lnTo>
                    <a:pt x="0" y="80502"/>
                  </a:lnTo>
                  <a:cubicBezTo>
                    <a:pt x="0" y="59151"/>
                    <a:pt x="8481" y="38676"/>
                    <a:pt x="23578" y="23578"/>
                  </a:cubicBezTo>
                  <a:cubicBezTo>
                    <a:pt x="38676" y="8481"/>
                    <a:pt x="59151" y="0"/>
                    <a:pt x="80502" y="0"/>
                  </a:cubicBezTo>
                  <a:close/>
                </a:path>
              </a:pathLst>
            </a:custGeom>
            <a:blipFill>
              <a:blip r:embed="rId2"/>
              <a:stretch>
                <a:fillRect l="0" t="-43985" r="0" b="-43985"/>
              </a:stretch>
            </a:blipFill>
          </p:spPr>
        </p:sp>
      </p:grp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true">
          <a:gsLst>
            <a:gs pos="0">
              <a:srgbClr val="000000">
                <a:alpha val="100000"/>
              </a:srgbClr>
            </a:gs>
            <a:gs pos="100000">
              <a:srgbClr val="323232">
                <a:alpha val="100000"/>
              </a:srgbClr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79200" y="4738568"/>
            <a:ext cx="2155619" cy="2155619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B5B5B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76200"/>
              <a:ext cx="660400" cy="6604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1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028700" y="5394388"/>
            <a:ext cx="10464140" cy="22857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999"/>
              </a:lnSpc>
            </a:pPr>
            <a:r>
              <a:rPr lang="en-US" b="true" sz="9999" spc="-399">
                <a:gradFill>
                  <a:gsLst>
                    <a:gs pos="0">
                      <a:srgbClr val="FFFFFF">
                        <a:alpha val="100000"/>
                      </a:srgbClr>
                    </a:gs>
                    <a:gs pos="50000">
                      <a:srgbClr val="FFFFFF">
                        <a:alpha val="100000"/>
                      </a:srgbClr>
                    </a:gs>
                    <a:gs pos="100000">
                      <a:srgbClr val="FFFFFF">
                        <a:alpha val="44500"/>
                      </a:srgbClr>
                    </a:gs>
                  </a:gsLst>
                  <a:lin ang="5400000"/>
                </a:gradFill>
                <a:latin typeface="Open Sauce Bold"/>
                <a:ea typeface="Open Sauce Bold"/>
                <a:cs typeface="Open Sauce Bold"/>
                <a:sym typeface="Open Sauce Bold"/>
              </a:rPr>
              <a:t>Latar Belakang Studi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-715817" y="-265773"/>
            <a:ext cx="20110719" cy="4750522"/>
            <a:chOff x="0" y="0"/>
            <a:chExt cx="3217585" cy="76005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217585" cy="760053"/>
            </a:xfrm>
            <a:custGeom>
              <a:avLst/>
              <a:gdLst/>
              <a:ahLst/>
              <a:cxnLst/>
              <a:rect r="r" b="b" t="t" l="l"/>
              <a:pathLst>
                <a:path h="760053" w="3217585">
                  <a:moveTo>
                    <a:pt x="30412" y="0"/>
                  </a:moveTo>
                  <a:lnTo>
                    <a:pt x="3187173" y="0"/>
                  </a:lnTo>
                  <a:cubicBezTo>
                    <a:pt x="3203969" y="0"/>
                    <a:pt x="3217585" y="13616"/>
                    <a:pt x="3217585" y="30412"/>
                  </a:cubicBezTo>
                  <a:lnTo>
                    <a:pt x="3217585" y="729641"/>
                  </a:lnTo>
                  <a:cubicBezTo>
                    <a:pt x="3217585" y="746437"/>
                    <a:pt x="3203969" y="760053"/>
                    <a:pt x="3187173" y="760053"/>
                  </a:cubicBezTo>
                  <a:lnTo>
                    <a:pt x="30412" y="760053"/>
                  </a:lnTo>
                  <a:cubicBezTo>
                    <a:pt x="22346" y="760053"/>
                    <a:pt x="14611" y="756849"/>
                    <a:pt x="8908" y="751145"/>
                  </a:cubicBezTo>
                  <a:cubicBezTo>
                    <a:pt x="3204" y="745442"/>
                    <a:pt x="0" y="737706"/>
                    <a:pt x="0" y="729641"/>
                  </a:cubicBezTo>
                  <a:lnTo>
                    <a:pt x="0" y="30412"/>
                  </a:lnTo>
                  <a:cubicBezTo>
                    <a:pt x="0" y="13616"/>
                    <a:pt x="13616" y="0"/>
                    <a:pt x="30412" y="0"/>
                  </a:cubicBezTo>
                  <a:close/>
                </a:path>
              </a:pathLst>
            </a:custGeom>
            <a:blipFill>
              <a:blip r:embed="rId2"/>
              <a:stretch>
                <a:fillRect l="0" t="-93721" r="0" b="-42817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1028700" y="8351901"/>
            <a:ext cx="16230600" cy="9063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82"/>
              </a:lnSpc>
            </a:pPr>
            <a:r>
              <a:rPr lang="en-US" sz="2340" spc="-57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Mahasiswa adalah kelompok konsumen utama dengan kebiasaan belanja online yang meningkat. Penggunaan paylater semakin populer, namun dampaknya terhadap perilaku belanja belum dipahami secara komprehensif.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true">
          <a:gsLst>
            <a:gs pos="0">
              <a:srgbClr val="000000">
                <a:alpha val="100000"/>
              </a:srgbClr>
            </a:gs>
            <a:gs pos="100000">
              <a:srgbClr val="323232">
                <a:alpha val="100000"/>
              </a:srgbClr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79200" y="677476"/>
            <a:ext cx="2155619" cy="2155619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B5B5B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76200"/>
              <a:ext cx="660400" cy="6604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1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028700" y="1333296"/>
            <a:ext cx="6961448" cy="22857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999"/>
              </a:lnSpc>
            </a:pPr>
            <a:r>
              <a:rPr lang="en-US" b="true" sz="9999" spc="-399">
                <a:gradFill>
                  <a:gsLst>
                    <a:gs pos="0">
                      <a:srgbClr val="FFFFFF">
                        <a:alpha val="100000"/>
                      </a:srgbClr>
                    </a:gs>
                    <a:gs pos="50000">
                      <a:srgbClr val="FFFFFF">
                        <a:alpha val="100000"/>
                      </a:srgbClr>
                    </a:gs>
                    <a:gs pos="100000">
                      <a:srgbClr val="FFFFFF">
                        <a:alpha val="44500"/>
                      </a:srgbClr>
                    </a:gs>
                  </a:gsLst>
                  <a:lin ang="5400000"/>
                </a:gradFill>
                <a:latin typeface="Open Sauce Bold"/>
                <a:ea typeface="Open Sauce Bold"/>
                <a:cs typeface="Open Sauce Bold"/>
                <a:sym typeface="Open Sauce Bold"/>
              </a:rPr>
              <a:t>Pernyataan Masalah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7760362" y="1028700"/>
            <a:ext cx="2513217" cy="8229600"/>
            <a:chOff x="0" y="0"/>
            <a:chExt cx="402098" cy="1316683"/>
          </a:xfrm>
        </p:grpSpPr>
        <p:sp>
          <p:nvSpPr>
            <p:cNvPr name="Freeform 7" id="7"/>
            <p:cNvSpPr/>
            <p:nvPr/>
          </p:nvSpPr>
          <p:spPr>
            <a:xfrm flipH="false" flipV="false" rot="-198844">
              <a:off x="-26442" y="764"/>
              <a:ext cx="454982" cy="1315154"/>
            </a:xfrm>
            <a:custGeom>
              <a:avLst/>
              <a:gdLst/>
              <a:ahLst/>
              <a:cxnLst/>
              <a:rect r="r" b="b" t="t" l="l"/>
              <a:pathLst>
                <a:path h="1315154" w="454982">
                  <a:moveTo>
                    <a:pt x="265549" y="337"/>
                  </a:moveTo>
                  <a:lnTo>
                    <a:pt x="265549" y="337"/>
                  </a:lnTo>
                  <a:cubicBezTo>
                    <a:pt x="376400" y="6756"/>
                    <a:pt x="461059" y="101822"/>
                    <a:pt x="454640" y="212672"/>
                  </a:cubicBezTo>
                  <a:lnTo>
                    <a:pt x="401769" y="1125727"/>
                  </a:lnTo>
                  <a:cubicBezTo>
                    <a:pt x="398686" y="1178960"/>
                    <a:pt x="374583" y="1228787"/>
                    <a:pt x="334763" y="1264249"/>
                  </a:cubicBezTo>
                  <a:cubicBezTo>
                    <a:pt x="294942" y="1299710"/>
                    <a:pt x="242665" y="1317900"/>
                    <a:pt x="189433" y="1314818"/>
                  </a:cubicBezTo>
                  <a:lnTo>
                    <a:pt x="189433" y="1314818"/>
                  </a:lnTo>
                  <a:cubicBezTo>
                    <a:pt x="78582" y="1308399"/>
                    <a:pt x="-6076" y="1213333"/>
                    <a:pt x="343" y="1102482"/>
                  </a:cubicBezTo>
                  <a:lnTo>
                    <a:pt x="53214" y="189427"/>
                  </a:lnTo>
                  <a:cubicBezTo>
                    <a:pt x="56296" y="136195"/>
                    <a:pt x="80399" y="86367"/>
                    <a:pt x="120220" y="50906"/>
                  </a:cubicBezTo>
                  <a:cubicBezTo>
                    <a:pt x="160040" y="15445"/>
                    <a:pt x="212317" y="-2745"/>
                    <a:pt x="265549" y="337"/>
                  </a:cubicBezTo>
                  <a:close/>
                </a:path>
              </a:pathLst>
            </a:custGeom>
            <a:blipFill>
              <a:blip r:embed="rId2"/>
              <a:stretch>
                <a:fillRect l="-77322" t="-1230" r="-58751" b="-858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10648411" y="3866097"/>
            <a:ext cx="6610889" cy="2554807"/>
            <a:chOff x="0" y="0"/>
            <a:chExt cx="1741140" cy="67287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741139" cy="672871"/>
            </a:xfrm>
            <a:custGeom>
              <a:avLst/>
              <a:gdLst/>
              <a:ahLst/>
              <a:cxnLst/>
              <a:rect r="r" b="b" t="t" l="l"/>
              <a:pathLst>
                <a:path h="672871" w="1741139">
                  <a:moveTo>
                    <a:pt x="117109" y="0"/>
                  </a:moveTo>
                  <a:lnTo>
                    <a:pt x="1624031" y="0"/>
                  </a:lnTo>
                  <a:cubicBezTo>
                    <a:pt x="1688708" y="0"/>
                    <a:pt x="1741139" y="52431"/>
                    <a:pt x="1741139" y="117109"/>
                  </a:cubicBezTo>
                  <a:lnTo>
                    <a:pt x="1741139" y="555762"/>
                  </a:lnTo>
                  <a:cubicBezTo>
                    <a:pt x="1741139" y="586821"/>
                    <a:pt x="1728801" y="616608"/>
                    <a:pt x="1706839" y="638571"/>
                  </a:cubicBezTo>
                  <a:cubicBezTo>
                    <a:pt x="1684877" y="660533"/>
                    <a:pt x="1655090" y="672871"/>
                    <a:pt x="1624031" y="672871"/>
                  </a:cubicBezTo>
                  <a:lnTo>
                    <a:pt x="117109" y="672871"/>
                  </a:lnTo>
                  <a:cubicBezTo>
                    <a:pt x="86049" y="672871"/>
                    <a:pt x="56262" y="660533"/>
                    <a:pt x="34300" y="638571"/>
                  </a:cubicBezTo>
                  <a:cubicBezTo>
                    <a:pt x="12338" y="616608"/>
                    <a:pt x="0" y="586821"/>
                    <a:pt x="0" y="555762"/>
                  </a:cubicBezTo>
                  <a:lnTo>
                    <a:pt x="0" y="117109"/>
                  </a:lnTo>
                  <a:cubicBezTo>
                    <a:pt x="0" y="86049"/>
                    <a:pt x="12338" y="56262"/>
                    <a:pt x="34300" y="34300"/>
                  </a:cubicBezTo>
                  <a:cubicBezTo>
                    <a:pt x="56262" y="12338"/>
                    <a:pt x="86049" y="0"/>
                    <a:pt x="117109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80000"/>
                  </a:srgbClr>
                </a:gs>
                <a:gs pos="100000">
                  <a:srgbClr val="323232">
                    <a:alpha val="80000"/>
                  </a:srgbClr>
                </a:gs>
              </a:gsLst>
              <a:lin ang="5400000"/>
            </a:gradFill>
            <a:ln w="19050" cap="rnd">
              <a:gradFill>
                <a:gsLst>
                  <a:gs pos="0">
                    <a:srgbClr val="F6E8E5">
                      <a:alpha val="100000"/>
                    </a:srgbClr>
                  </a:gs>
                  <a:gs pos="50000">
                    <a:srgbClr val="F6E8E5">
                      <a:alpha val="0"/>
                    </a:srgbClr>
                  </a:gs>
                  <a:gs pos="100000">
                    <a:srgbClr val="F6E8E5">
                      <a:alpha val="100000"/>
                    </a:srgbClr>
                  </a:gs>
                </a:gsLst>
                <a:lin ang="0"/>
              </a:gradFill>
              <a:prstDash val="solid"/>
              <a:round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0"/>
              <a:ext cx="1741140" cy="67287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19"/>
                </a:lnSpc>
              </a:pPr>
            </a:p>
            <a:p>
              <a:pPr algn="ctr">
                <a:lnSpc>
                  <a:spcPts val="311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0648411" y="1028700"/>
            <a:ext cx="6610889" cy="2554807"/>
            <a:chOff x="0" y="0"/>
            <a:chExt cx="1741140" cy="672871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741139" cy="672871"/>
            </a:xfrm>
            <a:custGeom>
              <a:avLst/>
              <a:gdLst/>
              <a:ahLst/>
              <a:cxnLst/>
              <a:rect r="r" b="b" t="t" l="l"/>
              <a:pathLst>
                <a:path h="672871" w="1741139">
                  <a:moveTo>
                    <a:pt x="117109" y="0"/>
                  </a:moveTo>
                  <a:lnTo>
                    <a:pt x="1624031" y="0"/>
                  </a:lnTo>
                  <a:cubicBezTo>
                    <a:pt x="1688708" y="0"/>
                    <a:pt x="1741139" y="52431"/>
                    <a:pt x="1741139" y="117109"/>
                  </a:cubicBezTo>
                  <a:lnTo>
                    <a:pt x="1741139" y="555762"/>
                  </a:lnTo>
                  <a:cubicBezTo>
                    <a:pt x="1741139" y="586821"/>
                    <a:pt x="1728801" y="616608"/>
                    <a:pt x="1706839" y="638571"/>
                  </a:cubicBezTo>
                  <a:cubicBezTo>
                    <a:pt x="1684877" y="660533"/>
                    <a:pt x="1655090" y="672871"/>
                    <a:pt x="1624031" y="672871"/>
                  </a:cubicBezTo>
                  <a:lnTo>
                    <a:pt x="117109" y="672871"/>
                  </a:lnTo>
                  <a:cubicBezTo>
                    <a:pt x="86049" y="672871"/>
                    <a:pt x="56262" y="660533"/>
                    <a:pt x="34300" y="638571"/>
                  </a:cubicBezTo>
                  <a:cubicBezTo>
                    <a:pt x="12338" y="616608"/>
                    <a:pt x="0" y="586821"/>
                    <a:pt x="0" y="555762"/>
                  </a:cubicBezTo>
                  <a:lnTo>
                    <a:pt x="0" y="117109"/>
                  </a:lnTo>
                  <a:cubicBezTo>
                    <a:pt x="0" y="86049"/>
                    <a:pt x="12338" y="56262"/>
                    <a:pt x="34300" y="34300"/>
                  </a:cubicBezTo>
                  <a:cubicBezTo>
                    <a:pt x="56262" y="12338"/>
                    <a:pt x="86049" y="0"/>
                    <a:pt x="117109" y="0"/>
                  </a:cubicBezTo>
                  <a:close/>
                </a:path>
              </a:pathLst>
            </a:custGeom>
            <a:solidFill>
              <a:srgbClr val="FFFFFF"/>
            </a:solidFill>
            <a:ln w="19050" cap="rnd">
              <a:gradFill>
                <a:gsLst>
                  <a:gs pos="0">
                    <a:srgbClr val="F6E8E5">
                      <a:alpha val="100000"/>
                    </a:srgbClr>
                  </a:gs>
                  <a:gs pos="50000">
                    <a:srgbClr val="F6E8E5">
                      <a:alpha val="0"/>
                    </a:srgbClr>
                  </a:gs>
                  <a:gs pos="100000">
                    <a:srgbClr val="F6E8E5">
                      <a:alpha val="100000"/>
                    </a:srgbClr>
                  </a:gs>
                </a:gsLst>
                <a:lin ang="0"/>
              </a:gradFill>
              <a:prstDash val="solid"/>
              <a:round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0"/>
              <a:ext cx="1741140" cy="67287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19"/>
                </a:lnSpc>
              </a:pPr>
            </a:p>
            <a:p>
              <a:pPr algn="ctr">
                <a:lnSpc>
                  <a:spcPts val="3119"/>
                </a:lnSpc>
              </a:pP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11247337" y="2058759"/>
            <a:ext cx="5701977" cy="11009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28"/>
              </a:lnSpc>
            </a:pPr>
            <a:r>
              <a:rPr lang="en-US" sz="2080" spc="-52">
                <a:solidFill>
                  <a:srgbClr val="000000"/>
                </a:solidFill>
                <a:latin typeface="HK Grotesk"/>
                <a:ea typeface="HK Grotesk"/>
                <a:cs typeface="HK Grotesk"/>
                <a:sym typeface="HK Grotesk"/>
              </a:rPr>
              <a:t>Fokus pada mahasiswa berusia 18-24 tahun di 5 kampus di Medan.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1247337" y="4872394"/>
            <a:ext cx="5701977" cy="11009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28"/>
              </a:lnSpc>
            </a:pPr>
            <a:r>
              <a:rPr lang="en-US" sz="2080" spc="-52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Menghasilkan rekomendasi bagi mahasiswa, kampus, dan platform e-commerce.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1247337" y="1433435"/>
            <a:ext cx="4204449" cy="4088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76"/>
              </a:lnSpc>
            </a:pPr>
            <a:r>
              <a:rPr lang="en-US" b="true" sz="2600" spc="-57">
                <a:solidFill>
                  <a:srgbClr val="00000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Ruang Lingkup Studi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1247337" y="4247070"/>
            <a:ext cx="4204449" cy="4088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76"/>
              </a:lnSpc>
            </a:pPr>
            <a:r>
              <a:rPr lang="en-US" sz="2600" spc="-57" b="true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Relevansi Studi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028700" y="6514650"/>
            <a:ext cx="5835752" cy="27351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82"/>
              </a:lnSpc>
            </a:pPr>
            <a:r>
              <a:rPr lang="en-US" sz="2340" spc="-57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Memahami dampak paylater pada kebiasaan belanja mahasiswa merupakan isu penting untuk diteliti.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true">
          <a:gsLst>
            <a:gs pos="0">
              <a:srgbClr val="000000">
                <a:alpha val="100000"/>
              </a:srgbClr>
            </a:gs>
            <a:gs pos="100000">
              <a:srgbClr val="323232">
                <a:alpha val="100000"/>
              </a:srgbClr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395251" y="1028700"/>
            <a:ext cx="6864049" cy="8229600"/>
            <a:chOff x="0" y="0"/>
            <a:chExt cx="1098203" cy="131668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98203" cy="1316683"/>
            </a:xfrm>
            <a:custGeom>
              <a:avLst/>
              <a:gdLst/>
              <a:ahLst/>
              <a:cxnLst/>
              <a:rect r="r" b="b" t="t" l="l"/>
              <a:pathLst>
                <a:path h="1316683" w="1098203">
                  <a:moveTo>
                    <a:pt x="89104" y="0"/>
                  </a:moveTo>
                  <a:lnTo>
                    <a:pt x="1009100" y="0"/>
                  </a:lnTo>
                  <a:cubicBezTo>
                    <a:pt x="1032732" y="0"/>
                    <a:pt x="1055395" y="9388"/>
                    <a:pt x="1072106" y="26098"/>
                  </a:cubicBezTo>
                  <a:cubicBezTo>
                    <a:pt x="1088816" y="42808"/>
                    <a:pt x="1098203" y="65472"/>
                    <a:pt x="1098203" y="89104"/>
                  </a:cubicBezTo>
                  <a:lnTo>
                    <a:pt x="1098203" y="1227579"/>
                  </a:lnTo>
                  <a:cubicBezTo>
                    <a:pt x="1098203" y="1276790"/>
                    <a:pt x="1058310" y="1316683"/>
                    <a:pt x="1009100" y="1316683"/>
                  </a:cubicBezTo>
                  <a:lnTo>
                    <a:pt x="89104" y="1316683"/>
                  </a:lnTo>
                  <a:cubicBezTo>
                    <a:pt x="39893" y="1316683"/>
                    <a:pt x="0" y="1276790"/>
                    <a:pt x="0" y="1227579"/>
                  </a:cubicBezTo>
                  <a:lnTo>
                    <a:pt x="0" y="89104"/>
                  </a:lnTo>
                  <a:cubicBezTo>
                    <a:pt x="0" y="39893"/>
                    <a:pt x="39893" y="0"/>
                    <a:pt x="89104" y="0"/>
                  </a:cubicBezTo>
                  <a:close/>
                </a:path>
              </a:pathLst>
            </a:custGeom>
            <a:blipFill>
              <a:blip r:embed="rId2"/>
              <a:stretch>
                <a:fillRect l="0" t="-12555" r="0" b="-12555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7826875" y="6120793"/>
            <a:ext cx="6610889" cy="2554807"/>
            <a:chOff x="0" y="0"/>
            <a:chExt cx="1741140" cy="67287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741139" cy="672871"/>
            </a:xfrm>
            <a:custGeom>
              <a:avLst/>
              <a:gdLst/>
              <a:ahLst/>
              <a:cxnLst/>
              <a:rect r="r" b="b" t="t" l="l"/>
              <a:pathLst>
                <a:path h="672871" w="1741139">
                  <a:moveTo>
                    <a:pt x="94858" y="0"/>
                  </a:moveTo>
                  <a:lnTo>
                    <a:pt x="1646281" y="0"/>
                  </a:lnTo>
                  <a:cubicBezTo>
                    <a:pt x="1698670" y="0"/>
                    <a:pt x="1741139" y="42469"/>
                    <a:pt x="1741139" y="94858"/>
                  </a:cubicBezTo>
                  <a:lnTo>
                    <a:pt x="1741139" y="578013"/>
                  </a:lnTo>
                  <a:cubicBezTo>
                    <a:pt x="1741139" y="630402"/>
                    <a:pt x="1698670" y="672871"/>
                    <a:pt x="1646281" y="672871"/>
                  </a:cubicBezTo>
                  <a:lnTo>
                    <a:pt x="94858" y="672871"/>
                  </a:lnTo>
                  <a:cubicBezTo>
                    <a:pt x="42469" y="672871"/>
                    <a:pt x="0" y="630402"/>
                    <a:pt x="0" y="578013"/>
                  </a:cubicBezTo>
                  <a:lnTo>
                    <a:pt x="0" y="94858"/>
                  </a:lnTo>
                  <a:cubicBezTo>
                    <a:pt x="0" y="42469"/>
                    <a:pt x="42469" y="0"/>
                    <a:pt x="94858" y="0"/>
                  </a:cubicBezTo>
                  <a:close/>
                </a:path>
              </a:pathLst>
            </a:custGeom>
            <a:solidFill>
              <a:srgbClr val="FFFFFF"/>
            </a:solidFill>
            <a:ln w="19050" cap="rnd">
              <a:gradFill>
                <a:gsLst>
                  <a:gs pos="0">
                    <a:srgbClr val="F6E8E5">
                      <a:alpha val="100000"/>
                    </a:srgbClr>
                  </a:gs>
                  <a:gs pos="50000">
                    <a:srgbClr val="F6E8E5">
                      <a:alpha val="0"/>
                    </a:srgbClr>
                  </a:gs>
                  <a:gs pos="100000">
                    <a:srgbClr val="F6E8E5">
                      <a:alpha val="100000"/>
                    </a:srgbClr>
                  </a:gs>
                </a:gsLst>
                <a:lin ang="0"/>
              </a:gradFill>
              <a:prstDash val="solid"/>
              <a:round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0"/>
              <a:ext cx="1741140" cy="67287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19"/>
                </a:lnSpc>
              </a:pPr>
            </a:p>
            <a:p>
              <a:pPr algn="ctr">
                <a:lnSpc>
                  <a:spcPts val="3119"/>
                </a:lnSpc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8425801" y="7103328"/>
            <a:ext cx="5701977" cy="11009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28"/>
              </a:lnSpc>
            </a:pPr>
            <a:r>
              <a:rPr lang="en-US" sz="2080" spc="-52">
                <a:solidFill>
                  <a:srgbClr val="000000"/>
                </a:solidFill>
                <a:latin typeface="HK Grotesk"/>
                <a:ea typeface="HK Grotesk"/>
                <a:cs typeface="HK Grotesk"/>
                <a:sym typeface="HK Grotesk"/>
              </a:rPr>
              <a:t>Wawancara mendalam dengan 12 responden.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8425801" y="6478004"/>
            <a:ext cx="4204449" cy="4088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76"/>
              </a:lnSpc>
            </a:pPr>
            <a:r>
              <a:rPr lang="en-US" b="true" sz="2600" spc="-57">
                <a:solidFill>
                  <a:srgbClr val="00000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Metode Kualitatif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028700" y="6120793"/>
            <a:ext cx="6610889" cy="2554807"/>
            <a:chOff x="0" y="0"/>
            <a:chExt cx="1741140" cy="672871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741139" cy="672871"/>
            </a:xfrm>
            <a:custGeom>
              <a:avLst/>
              <a:gdLst/>
              <a:ahLst/>
              <a:cxnLst/>
              <a:rect r="r" b="b" t="t" l="l"/>
              <a:pathLst>
                <a:path h="672871" w="1741139">
                  <a:moveTo>
                    <a:pt x="94858" y="0"/>
                  </a:moveTo>
                  <a:lnTo>
                    <a:pt x="1646281" y="0"/>
                  </a:lnTo>
                  <a:cubicBezTo>
                    <a:pt x="1698670" y="0"/>
                    <a:pt x="1741139" y="42469"/>
                    <a:pt x="1741139" y="94858"/>
                  </a:cubicBezTo>
                  <a:lnTo>
                    <a:pt x="1741139" y="578013"/>
                  </a:lnTo>
                  <a:cubicBezTo>
                    <a:pt x="1741139" y="630402"/>
                    <a:pt x="1698670" y="672871"/>
                    <a:pt x="1646281" y="672871"/>
                  </a:cubicBezTo>
                  <a:lnTo>
                    <a:pt x="94858" y="672871"/>
                  </a:lnTo>
                  <a:cubicBezTo>
                    <a:pt x="42469" y="672871"/>
                    <a:pt x="0" y="630402"/>
                    <a:pt x="0" y="578013"/>
                  </a:cubicBezTo>
                  <a:lnTo>
                    <a:pt x="0" y="94858"/>
                  </a:lnTo>
                  <a:cubicBezTo>
                    <a:pt x="0" y="42469"/>
                    <a:pt x="42469" y="0"/>
                    <a:pt x="94858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80000"/>
                  </a:srgbClr>
                </a:gs>
                <a:gs pos="100000">
                  <a:srgbClr val="323232">
                    <a:alpha val="80000"/>
                  </a:srgbClr>
                </a:gs>
              </a:gsLst>
              <a:lin ang="5400000"/>
            </a:gradFill>
            <a:ln w="19050" cap="rnd">
              <a:gradFill>
                <a:gsLst>
                  <a:gs pos="0">
                    <a:srgbClr val="F6E8E5">
                      <a:alpha val="100000"/>
                    </a:srgbClr>
                  </a:gs>
                  <a:gs pos="50000">
                    <a:srgbClr val="F6E8E5">
                      <a:alpha val="0"/>
                    </a:srgbClr>
                  </a:gs>
                  <a:gs pos="100000">
                    <a:srgbClr val="F6E8E5">
                      <a:alpha val="100000"/>
                    </a:srgbClr>
                  </a:gs>
                </a:gsLst>
                <a:lin ang="0"/>
              </a:gradFill>
              <a:prstDash val="solid"/>
              <a:round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0"/>
              <a:ext cx="1741140" cy="67287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19"/>
                </a:lnSpc>
              </a:pPr>
            </a:p>
            <a:p>
              <a:pPr algn="ctr">
                <a:lnSpc>
                  <a:spcPts val="3119"/>
                </a:lnSpc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1627626" y="7127090"/>
            <a:ext cx="5701977" cy="11009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28"/>
              </a:lnSpc>
            </a:pPr>
            <a:r>
              <a:rPr lang="en-US" sz="2080" spc="-52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Survei online 24 pertanyaan dan analisis riwayat transaksi.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627626" y="6501766"/>
            <a:ext cx="4204449" cy="4088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76"/>
              </a:lnSpc>
            </a:pPr>
            <a:r>
              <a:rPr lang="en-US" b="true" sz="2600" spc="-57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Metode Kuantitatif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28700" y="3328675"/>
            <a:ext cx="8115300" cy="21255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82"/>
              </a:lnSpc>
            </a:pPr>
            <a:r>
              <a:rPr lang="en-US" sz="2340" spc="-57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Penelitian ini menggunakan pendekatan campuran untuk mendapatkan pemahaman yang lebih mendalam.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279200" y="387555"/>
            <a:ext cx="2155619" cy="2155619"/>
            <a:chOff x="0" y="0"/>
            <a:chExt cx="812800" cy="8128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B5B5B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76200" y="76200"/>
              <a:ext cx="660400" cy="6604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19"/>
                </a:lnSpc>
              </a:pP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1028700" y="1314450"/>
            <a:ext cx="8238451" cy="11428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999"/>
              </a:lnSpc>
            </a:pPr>
            <a:r>
              <a:rPr lang="en-US" b="true" sz="9999" spc="-399">
                <a:gradFill>
                  <a:gsLst>
                    <a:gs pos="0">
                      <a:srgbClr val="FFFFFF">
                        <a:alpha val="100000"/>
                      </a:srgbClr>
                    </a:gs>
                    <a:gs pos="50000">
                      <a:srgbClr val="FFFFFF">
                        <a:alpha val="100000"/>
                      </a:srgbClr>
                    </a:gs>
                    <a:gs pos="100000">
                      <a:srgbClr val="FFFFFF">
                        <a:alpha val="44500"/>
                      </a:srgbClr>
                    </a:gs>
                  </a:gsLst>
                  <a:lin ang="5400000"/>
                </a:gradFill>
                <a:latin typeface="Open Sauce Bold"/>
                <a:ea typeface="Open Sauce Bold"/>
                <a:cs typeface="Open Sauce Bold"/>
                <a:sym typeface="Open Sauce Bold"/>
              </a:rPr>
              <a:t>Metodologi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true">
          <a:gsLst>
            <a:gs pos="0">
              <a:srgbClr val="000000">
                <a:alpha val="100000"/>
              </a:srgbClr>
            </a:gs>
            <a:gs pos="100000">
              <a:srgbClr val="323232">
                <a:alpha val="100000"/>
              </a:srgbClr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408177" y="659663"/>
            <a:ext cx="2155619" cy="2155619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B5B5B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76200"/>
              <a:ext cx="660400" cy="6604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1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0157677" y="1315483"/>
            <a:ext cx="7101623" cy="22857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999"/>
              </a:lnSpc>
            </a:pPr>
            <a:r>
              <a:rPr lang="en-US" b="true" sz="9999" spc="-399">
                <a:gradFill>
                  <a:gsLst>
                    <a:gs pos="0">
                      <a:srgbClr val="FFFFFF">
                        <a:alpha val="100000"/>
                      </a:srgbClr>
                    </a:gs>
                    <a:gs pos="50000">
                      <a:srgbClr val="FFFFFF">
                        <a:alpha val="100000"/>
                      </a:srgbClr>
                    </a:gs>
                    <a:gs pos="100000">
                      <a:srgbClr val="FFFFFF">
                        <a:alpha val="44500"/>
                      </a:srgbClr>
                    </a:gs>
                  </a:gsLst>
                  <a:lin ang="5400000"/>
                </a:gradFill>
                <a:latin typeface="Open Sauce Bold"/>
                <a:ea typeface="Open Sauce Bold"/>
                <a:cs typeface="Open Sauce Bold"/>
                <a:sym typeface="Open Sauce Bold"/>
              </a:rPr>
              <a:t>Data Kuantitatif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157677" y="4082957"/>
            <a:ext cx="7101623" cy="21255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82"/>
              </a:lnSpc>
            </a:pPr>
            <a:r>
              <a:rPr lang="en-US" sz="2340" spc="-57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72% mahasiswa belanja online minimal sebulan sekali.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028700" y="1028700"/>
            <a:ext cx="7553862" cy="8229600"/>
            <a:chOff x="0" y="0"/>
            <a:chExt cx="1989495" cy="2167467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989495" cy="2167467"/>
            </a:xfrm>
            <a:custGeom>
              <a:avLst/>
              <a:gdLst/>
              <a:ahLst/>
              <a:cxnLst/>
              <a:rect r="r" b="b" t="t" l="l"/>
              <a:pathLst>
                <a:path h="2167467" w="1989495">
                  <a:moveTo>
                    <a:pt x="102490" y="0"/>
                  </a:moveTo>
                  <a:lnTo>
                    <a:pt x="1887005" y="0"/>
                  </a:lnTo>
                  <a:cubicBezTo>
                    <a:pt x="1914187" y="0"/>
                    <a:pt x="1940256" y="10798"/>
                    <a:pt x="1959476" y="30018"/>
                  </a:cubicBezTo>
                  <a:cubicBezTo>
                    <a:pt x="1978697" y="49239"/>
                    <a:pt x="1989495" y="75308"/>
                    <a:pt x="1989495" y="102490"/>
                  </a:cubicBezTo>
                  <a:lnTo>
                    <a:pt x="1989495" y="2064977"/>
                  </a:lnTo>
                  <a:cubicBezTo>
                    <a:pt x="1989495" y="2121581"/>
                    <a:pt x="1943608" y="2167467"/>
                    <a:pt x="1887005" y="2167467"/>
                  </a:cubicBezTo>
                  <a:lnTo>
                    <a:pt x="102490" y="2167467"/>
                  </a:lnTo>
                  <a:cubicBezTo>
                    <a:pt x="75308" y="2167467"/>
                    <a:pt x="49239" y="2156669"/>
                    <a:pt x="30018" y="2137448"/>
                  </a:cubicBezTo>
                  <a:cubicBezTo>
                    <a:pt x="10798" y="2118228"/>
                    <a:pt x="0" y="2092159"/>
                    <a:pt x="0" y="2064977"/>
                  </a:cubicBezTo>
                  <a:lnTo>
                    <a:pt x="0" y="102490"/>
                  </a:lnTo>
                  <a:cubicBezTo>
                    <a:pt x="0" y="75308"/>
                    <a:pt x="10798" y="49239"/>
                    <a:pt x="30018" y="30018"/>
                  </a:cubicBezTo>
                  <a:cubicBezTo>
                    <a:pt x="49239" y="10798"/>
                    <a:pt x="75308" y="0"/>
                    <a:pt x="10249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80000"/>
                  </a:srgbClr>
                </a:gs>
                <a:gs pos="100000">
                  <a:srgbClr val="323232">
                    <a:alpha val="80000"/>
                  </a:srgbClr>
                </a:gs>
              </a:gsLst>
              <a:lin ang="5400000"/>
            </a:gradFill>
            <a:ln w="19050" cap="rnd">
              <a:gradFill>
                <a:gsLst>
                  <a:gs pos="0">
                    <a:srgbClr val="F6E8E5">
                      <a:alpha val="100000"/>
                    </a:srgbClr>
                  </a:gs>
                  <a:gs pos="50000">
                    <a:srgbClr val="F6E8E5">
                      <a:alpha val="0"/>
                    </a:srgbClr>
                  </a:gs>
                  <a:gs pos="100000">
                    <a:srgbClr val="F6E8E5">
                      <a:alpha val="100000"/>
                    </a:srgbClr>
                  </a:gs>
                </a:gsLst>
                <a:lin ang="0"/>
              </a:gradFill>
              <a:prstDash val="solid"/>
              <a:round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0"/>
              <a:ext cx="1989495" cy="21674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19"/>
                </a:lnSpc>
              </a:pPr>
            </a:p>
            <a:p>
              <a:pPr algn="ctr">
                <a:lnSpc>
                  <a:spcPts val="3119"/>
                </a:lnSpc>
              </a:pPr>
            </a:p>
          </p:txBody>
        </p:sp>
      </p:grp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1463040" y="1554480"/>
          <a:ext cx="6675120" cy="72237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true">
          <a:gsLst>
            <a:gs pos="0">
              <a:srgbClr val="000000">
                <a:alpha val="100000"/>
              </a:srgbClr>
            </a:gs>
            <a:gs pos="100000">
              <a:srgbClr val="323232">
                <a:alpha val="100000"/>
              </a:srgbClr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892211" y="387555"/>
            <a:ext cx="2155619" cy="2155619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B5B5B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76200"/>
              <a:ext cx="660400" cy="6604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1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3641711" y="1314450"/>
            <a:ext cx="11754079" cy="11428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999"/>
              </a:lnSpc>
            </a:pPr>
            <a:r>
              <a:rPr lang="en-US" b="true" sz="9999" spc="-399">
                <a:gradFill>
                  <a:gsLst>
                    <a:gs pos="0">
                      <a:srgbClr val="FFFFFF">
                        <a:alpha val="100000"/>
                      </a:srgbClr>
                    </a:gs>
                    <a:gs pos="50000">
                      <a:srgbClr val="FFFFFF">
                        <a:alpha val="100000"/>
                      </a:srgbClr>
                    </a:gs>
                    <a:gs pos="100000">
                      <a:srgbClr val="FFFFFF">
                        <a:alpha val="44500"/>
                      </a:srgbClr>
                    </a:gs>
                  </a:gsLst>
                  <a:lin ang="5400000"/>
                </a:gradFill>
                <a:latin typeface="Open Sauce Bold"/>
                <a:ea typeface="Open Sauce Bold"/>
                <a:cs typeface="Open Sauce Bold"/>
                <a:sym typeface="Open Sauce Bold"/>
              </a:rPr>
              <a:t>Jadwal Penelitian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028700" y="3930099"/>
            <a:ext cx="16230600" cy="3413234"/>
            <a:chOff x="0" y="0"/>
            <a:chExt cx="4274726" cy="89895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274726" cy="898959"/>
            </a:xfrm>
            <a:custGeom>
              <a:avLst/>
              <a:gdLst/>
              <a:ahLst/>
              <a:cxnLst/>
              <a:rect r="r" b="b" t="t" l="l"/>
              <a:pathLst>
                <a:path h="898959" w="4274726">
                  <a:moveTo>
                    <a:pt x="20511" y="0"/>
                  </a:moveTo>
                  <a:lnTo>
                    <a:pt x="4254215" y="0"/>
                  </a:lnTo>
                  <a:cubicBezTo>
                    <a:pt x="4259655" y="0"/>
                    <a:pt x="4264872" y="2161"/>
                    <a:pt x="4268719" y="6007"/>
                  </a:cubicBezTo>
                  <a:cubicBezTo>
                    <a:pt x="4272565" y="9854"/>
                    <a:pt x="4274726" y="15071"/>
                    <a:pt x="4274726" y="20511"/>
                  </a:cubicBezTo>
                  <a:lnTo>
                    <a:pt x="4274726" y="878448"/>
                  </a:lnTo>
                  <a:cubicBezTo>
                    <a:pt x="4274726" y="883888"/>
                    <a:pt x="4272565" y="889105"/>
                    <a:pt x="4268719" y="892951"/>
                  </a:cubicBezTo>
                  <a:cubicBezTo>
                    <a:pt x="4264872" y="896798"/>
                    <a:pt x="4259655" y="898959"/>
                    <a:pt x="4254215" y="898959"/>
                  </a:cubicBezTo>
                  <a:lnTo>
                    <a:pt x="20511" y="898959"/>
                  </a:lnTo>
                  <a:cubicBezTo>
                    <a:pt x="15071" y="898959"/>
                    <a:pt x="9854" y="896798"/>
                    <a:pt x="6007" y="892951"/>
                  </a:cubicBezTo>
                  <a:cubicBezTo>
                    <a:pt x="2161" y="889105"/>
                    <a:pt x="0" y="883888"/>
                    <a:pt x="0" y="878448"/>
                  </a:cubicBezTo>
                  <a:lnTo>
                    <a:pt x="0" y="20511"/>
                  </a:lnTo>
                  <a:cubicBezTo>
                    <a:pt x="0" y="15071"/>
                    <a:pt x="2161" y="9854"/>
                    <a:pt x="6007" y="6007"/>
                  </a:cubicBezTo>
                  <a:cubicBezTo>
                    <a:pt x="9854" y="2161"/>
                    <a:pt x="15071" y="0"/>
                    <a:pt x="20511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80000"/>
                  </a:srgbClr>
                </a:gs>
                <a:gs pos="100000">
                  <a:srgbClr val="323232">
                    <a:alpha val="80000"/>
                  </a:srgbClr>
                </a:gs>
              </a:gsLst>
              <a:lin ang="5400000"/>
            </a:gradFill>
            <a:ln w="19050" cap="rnd">
              <a:gradFill>
                <a:gsLst>
                  <a:gs pos="0">
                    <a:srgbClr val="F6E8E5">
                      <a:alpha val="100000"/>
                    </a:srgbClr>
                  </a:gs>
                  <a:gs pos="50000">
                    <a:srgbClr val="F6E8E5">
                      <a:alpha val="0"/>
                    </a:srgbClr>
                  </a:gs>
                  <a:gs pos="100000">
                    <a:srgbClr val="F6E8E5">
                      <a:alpha val="100000"/>
                    </a:srgbClr>
                  </a:gs>
                </a:gsLst>
                <a:lin ang="0"/>
              </a:gradFill>
              <a:prstDash val="solid"/>
              <a:round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0"/>
              <a:ext cx="4274726" cy="8989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19"/>
                </a:lnSpc>
              </a:pPr>
            </a:p>
            <a:p>
              <a:pPr algn="ctr">
                <a:lnSpc>
                  <a:spcPts val="311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259132" y="3580317"/>
            <a:ext cx="3519226" cy="737665"/>
            <a:chOff x="0" y="0"/>
            <a:chExt cx="926874" cy="194282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926874" cy="194282"/>
            </a:xfrm>
            <a:custGeom>
              <a:avLst/>
              <a:gdLst/>
              <a:ahLst/>
              <a:cxnLst/>
              <a:rect r="r" b="b" t="t" l="l"/>
              <a:pathLst>
                <a:path h="194282" w="926874">
                  <a:moveTo>
                    <a:pt x="39598" y="0"/>
                  </a:moveTo>
                  <a:lnTo>
                    <a:pt x="887276" y="0"/>
                  </a:lnTo>
                  <a:cubicBezTo>
                    <a:pt x="897778" y="0"/>
                    <a:pt x="907850" y="4172"/>
                    <a:pt x="915276" y="11598"/>
                  </a:cubicBezTo>
                  <a:cubicBezTo>
                    <a:pt x="922702" y="19024"/>
                    <a:pt x="926874" y="29096"/>
                    <a:pt x="926874" y="39598"/>
                  </a:cubicBezTo>
                  <a:lnTo>
                    <a:pt x="926874" y="154684"/>
                  </a:lnTo>
                  <a:cubicBezTo>
                    <a:pt x="926874" y="165186"/>
                    <a:pt x="922702" y="175258"/>
                    <a:pt x="915276" y="182684"/>
                  </a:cubicBezTo>
                  <a:cubicBezTo>
                    <a:pt x="907850" y="190110"/>
                    <a:pt x="897778" y="194282"/>
                    <a:pt x="887276" y="194282"/>
                  </a:cubicBezTo>
                  <a:lnTo>
                    <a:pt x="39598" y="194282"/>
                  </a:lnTo>
                  <a:cubicBezTo>
                    <a:pt x="29096" y="194282"/>
                    <a:pt x="19024" y="190110"/>
                    <a:pt x="11598" y="182684"/>
                  </a:cubicBezTo>
                  <a:cubicBezTo>
                    <a:pt x="4172" y="175258"/>
                    <a:pt x="0" y="165186"/>
                    <a:pt x="0" y="154684"/>
                  </a:cubicBezTo>
                  <a:lnTo>
                    <a:pt x="0" y="39598"/>
                  </a:lnTo>
                  <a:cubicBezTo>
                    <a:pt x="0" y="29096"/>
                    <a:pt x="4172" y="19024"/>
                    <a:pt x="11598" y="11598"/>
                  </a:cubicBezTo>
                  <a:cubicBezTo>
                    <a:pt x="19024" y="4172"/>
                    <a:pt x="29096" y="0"/>
                    <a:pt x="39598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926874" cy="2323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5342550" y="3580317"/>
            <a:ext cx="3519226" cy="737665"/>
            <a:chOff x="0" y="0"/>
            <a:chExt cx="926874" cy="194282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926874" cy="194282"/>
            </a:xfrm>
            <a:custGeom>
              <a:avLst/>
              <a:gdLst/>
              <a:ahLst/>
              <a:cxnLst/>
              <a:rect r="r" b="b" t="t" l="l"/>
              <a:pathLst>
                <a:path h="194282" w="926874">
                  <a:moveTo>
                    <a:pt x="39598" y="0"/>
                  </a:moveTo>
                  <a:lnTo>
                    <a:pt x="887276" y="0"/>
                  </a:lnTo>
                  <a:cubicBezTo>
                    <a:pt x="897778" y="0"/>
                    <a:pt x="907850" y="4172"/>
                    <a:pt x="915276" y="11598"/>
                  </a:cubicBezTo>
                  <a:cubicBezTo>
                    <a:pt x="922702" y="19024"/>
                    <a:pt x="926874" y="29096"/>
                    <a:pt x="926874" y="39598"/>
                  </a:cubicBezTo>
                  <a:lnTo>
                    <a:pt x="926874" y="154684"/>
                  </a:lnTo>
                  <a:cubicBezTo>
                    <a:pt x="926874" y="165186"/>
                    <a:pt x="922702" y="175258"/>
                    <a:pt x="915276" y="182684"/>
                  </a:cubicBezTo>
                  <a:cubicBezTo>
                    <a:pt x="907850" y="190110"/>
                    <a:pt x="897778" y="194282"/>
                    <a:pt x="887276" y="194282"/>
                  </a:cubicBezTo>
                  <a:lnTo>
                    <a:pt x="39598" y="194282"/>
                  </a:lnTo>
                  <a:cubicBezTo>
                    <a:pt x="29096" y="194282"/>
                    <a:pt x="19024" y="190110"/>
                    <a:pt x="11598" y="182684"/>
                  </a:cubicBezTo>
                  <a:cubicBezTo>
                    <a:pt x="4172" y="175258"/>
                    <a:pt x="0" y="165186"/>
                    <a:pt x="0" y="154684"/>
                  </a:cubicBezTo>
                  <a:lnTo>
                    <a:pt x="0" y="39598"/>
                  </a:lnTo>
                  <a:cubicBezTo>
                    <a:pt x="0" y="29096"/>
                    <a:pt x="4172" y="19024"/>
                    <a:pt x="11598" y="11598"/>
                  </a:cubicBezTo>
                  <a:cubicBezTo>
                    <a:pt x="19024" y="4172"/>
                    <a:pt x="29096" y="0"/>
                    <a:pt x="39598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926874" cy="2323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1419712" y="4926694"/>
            <a:ext cx="3198067" cy="5464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49"/>
              </a:lnSpc>
            </a:pPr>
            <a:r>
              <a:rPr lang="en-US" sz="2080" spc="-66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Desain Survei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419712" y="6258334"/>
            <a:ext cx="3198067" cy="5464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49"/>
              </a:lnSpc>
            </a:pPr>
            <a:r>
              <a:rPr lang="en-US" sz="2080" spc="-66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Rekrutmen Peserta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5526986" y="4788581"/>
            <a:ext cx="3149840" cy="8227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49"/>
              </a:lnSpc>
            </a:pPr>
            <a:r>
              <a:rPr lang="en-US" sz="2080" spc="-66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Pengumpulan Data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5526986" y="6258334"/>
            <a:ext cx="3149840" cy="5464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49"/>
              </a:lnSpc>
            </a:pPr>
            <a:r>
              <a:rPr lang="en-US" sz="2080" spc="-66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Analisis Hasil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259132" y="3774905"/>
            <a:ext cx="3519226" cy="3675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716"/>
              </a:lnSpc>
              <a:spcBef>
                <a:spcPct val="0"/>
              </a:spcBef>
            </a:pPr>
            <a:r>
              <a:rPr lang="en-US" b="true" sz="2800" spc="-56">
                <a:solidFill>
                  <a:srgbClr val="00000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Jan - Mar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5342293" y="3774905"/>
            <a:ext cx="3519226" cy="3675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716"/>
              </a:lnSpc>
              <a:spcBef>
                <a:spcPct val="0"/>
              </a:spcBef>
            </a:pPr>
            <a:r>
              <a:rPr lang="en-US" b="true" sz="2800" spc="-56">
                <a:solidFill>
                  <a:srgbClr val="00000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Apr - Jun</a:t>
            </a:r>
          </a:p>
        </p:txBody>
      </p:sp>
      <p:sp>
        <p:nvSpPr>
          <p:cNvPr name="AutoShape 33" id="33"/>
          <p:cNvSpPr/>
          <p:nvPr/>
        </p:nvSpPr>
        <p:spPr>
          <a:xfrm>
            <a:off x="1358772" y="5925222"/>
            <a:ext cx="15670095" cy="0"/>
          </a:xfrm>
          <a:prstGeom prst="line">
            <a:avLst/>
          </a:prstGeom>
          <a:ln cap="flat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4" id="34"/>
          <p:cNvSpPr/>
          <p:nvPr/>
        </p:nvSpPr>
        <p:spPr>
          <a:xfrm flipV="true">
            <a:off x="5008612" y="5060569"/>
            <a:ext cx="0" cy="1757018"/>
          </a:xfrm>
          <a:prstGeom prst="line">
            <a:avLst/>
          </a:prstGeom>
          <a:ln cap="flat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true">
          <a:gsLst>
            <a:gs pos="0">
              <a:srgbClr val="000000">
                <a:alpha val="100000"/>
              </a:srgbClr>
            </a:gs>
            <a:gs pos="100000">
              <a:srgbClr val="323232">
                <a:alpha val="100000"/>
              </a:srgbClr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84196" y="829468"/>
            <a:ext cx="18856392" cy="988179"/>
            <a:chOff x="0" y="0"/>
            <a:chExt cx="4966293" cy="26026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966293" cy="260261"/>
            </a:xfrm>
            <a:custGeom>
              <a:avLst/>
              <a:gdLst/>
              <a:ahLst/>
              <a:cxnLst/>
              <a:rect r="r" b="b" t="t" l="l"/>
              <a:pathLst>
                <a:path h="260261" w="4966293">
                  <a:moveTo>
                    <a:pt x="0" y="0"/>
                  </a:moveTo>
                  <a:lnTo>
                    <a:pt x="4966293" y="0"/>
                  </a:lnTo>
                  <a:lnTo>
                    <a:pt x="4966293" y="260261"/>
                  </a:lnTo>
                  <a:lnTo>
                    <a:pt x="0" y="260261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966293" cy="29836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339249" y="4895159"/>
            <a:ext cx="17762815" cy="25553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0121"/>
              </a:lnSpc>
            </a:pPr>
            <a:r>
              <a:rPr lang="en-US" b="true" sz="22356" spc="-894">
                <a:gradFill>
                  <a:gsLst>
                    <a:gs pos="0">
                      <a:srgbClr val="FFFFFF">
                        <a:alpha val="100000"/>
                      </a:srgbClr>
                    </a:gs>
                    <a:gs pos="50000">
                      <a:srgbClr val="FFFFFF">
                        <a:alpha val="100000"/>
                      </a:srgbClr>
                    </a:gs>
                    <a:gs pos="100000">
                      <a:srgbClr val="FFFFFF">
                        <a:alpha val="44500"/>
                      </a:srgbClr>
                    </a:gs>
                  </a:gsLst>
                  <a:lin ang="5400000"/>
                </a:gradFill>
                <a:latin typeface="Open Sauce Bold"/>
                <a:ea typeface="Open Sauce Bold"/>
                <a:cs typeface="Open Sauce Bold"/>
                <a:sym typeface="Open Sauce Bold"/>
              </a:rPr>
              <a:t>Terima Kasih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7720219" y="8377948"/>
            <a:ext cx="9539081" cy="880352"/>
            <a:chOff x="0" y="0"/>
            <a:chExt cx="2512351" cy="23186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512351" cy="231862"/>
            </a:xfrm>
            <a:custGeom>
              <a:avLst/>
              <a:gdLst/>
              <a:ahLst/>
              <a:cxnLst/>
              <a:rect r="r" b="b" t="t" l="l"/>
              <a:pathLst>
                <a:path h="231862" w="2512351">
                  <a:moveTo>
                    <a:pt x="81160" y="0"/>
                  </a:moveTo>
                  <a:lnTo>
                    <a:pt x="2431191" y="0"/>
                  </a:lnTo>
                  <a:cubicBezTo>
                    <a:pt x="2452716" y="0"/>
                    <a:pt x="2473359" y="8551"/>
                    <a:pt x="2488579" y="23771"/>
                  </a:cubicBezTo>
                  <a:cubicBezTo>
                    <a:pt x="2503800" y="38992"/>
                    <a:pt x="2512351" y="59635"/>
                    <a:pt x="2512351" y="81160"/>
                  </a:cubicBezTo>
                  <a:lnTo>
                    <a:pt x="2512351" y="150702"/>
                  </a:lnTo>
                  <a:cubicBezTo>
                    <a:pt x="2512351" y="195526"/>
                    <a:pt x="2476014" y="231862"/>
                    <a:pt x="2431191" y="231862"/>
                  </a:cubicBezTo>
                  <a:lnTo>
                    <a:pt x="81160" y="231862"/>
                  </a:lnTo>
                  <a:cubicBezTo>
                    <a:pt x="59635" y="231862"/>
                    <a:pt x="38992" y="223311"/>
                    <a:pt x="23771" y="208091"/>
                  </a:cubicBezTo>
                  <a:cubicBezTo>
                    <a:pt x="8551" y="192870"/>
                    <a:pt x="0" y="172227"/>
                    <a:pt x="0" y="150702"/>
                  </a:cubicBezTo>
                  <a:lnTo>
                    <a:pt x="0" y="81160"/>
                  </a:lnTo>
                  <a:cubicBezTo>
                    <a:pt x="0" y="36337"/>
                    <a:pt x="36337" y="0"/>
                    <a:pt x="8116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80000"/>
                  </a:srgbClr>
                </a:gs>
                <a:gs pos="100000">
                  <a:srgbClr val="323232">
                    <a:alpha val="80000"/>
                  </a:srgbClr>
                </a:gs>
              </a:gsLst>
              <a:lin ang="5400000"/>
            </a:gradFill>
            <a:ln w="19050" cap="rnd">
              <a:gradFill>
                <a:gsLst>
                  <a:gs pos="0">
                    <a:srgbClr val="F6E8E5">
                      <a:alpha val="100000"/>
                    </a:srgbClr>
                  </a:gs>
                  <a:gs pos="50000">
                    <a:srgbClr val="F6E8E5">
                      <a:alpha val="0"/>
                    </a:srgbClr>
                  </a:gs>
                  <a:gs pos="100000">
                    <a:srgbClr val="F6E8E5">
                      <a:alpha val="100000"/>
                    </a:srgbClr>
                  </a:gs>
                </a:gsLst>
                <a:lin ang="0"/>
              </a:gradFill>
              <a:prstDash val="solid"/>
              <a:round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0"/>
              <a:ext cx="2512351" cy="23186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19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7876892" y="8622077"/>
            <a:ext cx="9225735" cy="390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119"/>
              </a:lnSpc>
            </a:pPr>
            <a:r>
              <a:rPr lang="en-US" sz="2599" spc="-67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Research Proposal - Faculty of Economics 2026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28700" y="8426815"/>
            <a:ext cx="6240758" cy="781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119"/>
              </a:lnSpc>
            </a:pPr>
            <a:r>
              <a:rPr lang="en-US" sz="2599" spc="-67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Rekomendasi untuk Kebijakan yang Lebih Baik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365688" y="1176238"/>
            <a:ext cx="3525349" cy="3136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19"/>
              </a:lnSpc>
              <a:spcBef>
                <a:spcPct val="0"/>
              </a:spcBef>
            </a:pPr>
            <a:r>
              <a:rPr lang="en-US" b="true" sz="2199" spc="-35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...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DAHV1FbOXBc</dc:identifier>
  <dcterms:modified xsi:type="dcterms:W3CDTF">2011-08-01T06:04:30Z</dcterms:modified>
  <cp:revision>1</cp:revision>
  <dc:title>Black and White Modern Research Proposal Presentation</dc:title>
</cp:coreProperties>
</file>